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have thirty minutes, and I want to spend them on what AI is actually doing inside companies here in Jordan and the region, using projects my team has built. Then I will turn to what this means for the students in the room, because most of you will be the people building these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I spent years on the bank side, buying technology and setting up a digital bank and a venture studio. Today I run a small studio that builds AI systems for banks, regulators and public bodies. That mix matters for this talk: I have sat on both sides of the table when an AI project gets approved or killed.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number behind everything else today. Epoch AI published it three weeks ago: the cost of a given level of AI performance has fallen about 13 times every year since 2023. Epoch says that is faster than any other major technology it measured: six times faster than computing power fell, and 54 times faster than electricity. The example on the right: a PhD-level science question that cost 30 cents to answer in January 2025 cost four hundredths of a cent 18 months later. When a price falls that far, businesses start using it for tasks nobody would have paid a person to do. The power comes from making thorough work affordable. One caution from McKinsey's August 2026 survey: about one in five organizations now say AI operating costs limit their use, because cheaper reasoning invites far more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from McKinsey's survey published in August this year. Almost nine in ten organizations use AI, and 44 percent are scaling it. Yet only 37 percent can point to any profit impact, the same as last year. Eight in ten people say AI makes them personally more productive, but that gain stays on the individual's desk and does not reach the company's results. The 6 percent of high performers are the ones who change how the work is done. Keep that in mind through the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cases from our own work. I will keep the clients anonymous.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bank has a rulebook nobody can find anything in. We built a system where staff ask a question and get an answer with the exact clause it came from. Note the example: the question is about March 2024, so the system answers from the version that was in force then. Auditors care about that. Most of the effort went into the documents, not the AI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Auditors have always tested samples because reading every file costs too much. Once reading is cheap, you can screen the whole population. The auditor's job moves from reading routine files to judging the exceptions. The AI does not sign anything. A qualified person still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closest to most of you. We are eight people. We replaced two-week sprints with Waves: one to four hours of agent work, each producing something shippable and tested. People write the specification and own quality. Agents do the implementation. The skill that matters most here is writing a clear specification, and I will come back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lot of AI news is about the biggest model. In banking, the first question is where the model runs. This bank wanted everything on its own servers. Open-weight models are now good enough to make that practical. The design work was mostly about data, Arabic language support and regulatory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 cases started with choosing a model. Each started with a process that only existed because reading and checking were expensive. Each used data the client already had. And in each, a named human is still accountable for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 most companies get so little from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companies do the top row. They add a chatbot or a summary to the existing process and get a few minutes back. The bottom row asks a different question: which steps exist only because a person had to read everything? Remove those, and people spend their time on the cases that need judgement. McKinsey's high performers are the ones redesigning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Jordan, a bank cannot launch an AI system on enthusiasm. Jordan starts well, ranking 49th in the world and second in the Middle East on the 2026 Global Index on Responsible AI. The Central Bank issued its AI framework in 2025, Jordan has a personal data protection law, and ISO 42001 gives auditors a standard to check against. Governance done well is what gets a project approved. The next panel goes deeper on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the students and graduates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global picture from the World Economic Forum: more jobs created than lost, but the skills inside those jobs are changing fast. Employers expect about 39 percent of core skills to change by 2030, and AI and data skills top their list. Stanford's 2026 AI Index found four in five university students already use generative AI, so the differentiator is building with it. One more signal from McKinsey's August survey: nearly a third of companies cancelled a software purchase because they plan to build it themselves with AI. That is demand for people who can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work that is getting cheap. On the right, work that is getting more valuable: knowing what to build, judging whether it is right, understanding a domain, and taking responsibility. There is a problem I have not solved, and Stanford's 2026 AI Index puts a number on it: in the US, employment of the youngest software developers is nearly 20 percent below its 2022 peak. The first-draft work on the left is how juniors used to learn. Companies, including mine, have to design new ways for graduates to build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advice. Build one complete thing with real users. Pick a domain and learn its rules, because AI skill alone is becoming common. Learn to write a clear specification. Build a small test set so you can prove your system works. And use the ITAIF Solutions Competition in February: it is a real challenge with mentors, which is exactly the experience employers look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assets/arc_bright.png">    </p:cNvPr>
          <p:cNvPicPr>
            <a:picLocks noChangeAspect="1"/>
          </p:cNvPicPr>
          <p:nvPr/>
        </p:nvPicPr>
        <p:blipFill>
          <a:blip r:embed="rId2"/>
          <a:stretch>
            <a:fillRect/>
          </a:stretch>
        </p:blipFill>
        <p:spPr>
          <a:xfrm>
            <a:off x="4663440" y="3291840"/>
            <a:ext cx="4297680" cy="1618488"/>
          </a:xfrm>
          <a:prstGeom prst="rect">
            <a:avLst/>
          </a:prstGeom>
        </p:spPr>
      </p:pic>
      <p:sp>
        <p:nvSpPr>
          <p:cNvPr id="3" name="Text 0"/>
          <p:cNvSpPr/>
          <p:nvPr/>
        </p:nvSpPr>
        <p:spPr>
          <a:xfrm>
            <a:off x="640080" y="384048"/>
            <a:ext cx="2743200" cy="365760"/>
          </a:xfrm>
          <a:prstGeom prst="rect">
            <a:avLst/>
          </a:prstGeom>
          <a:noFill/>
          <a:ln/>
        </p:spPr>
        <p:txBody>
          <a:bodyPr wrap="square" lIns="0" tIns="0" rIns="0" bIns="0" rtlCol="0" anchor="ctr"/>
          <a:lstStyle/>
          <a:p>
            <a:pPr indent="0" marL="0">
              <a:buNone/>
            </a:pPr>
            <a:r>
              <a:rPr lang="en-US" sz="2400" b="1" dirty="0">
                <a:solidFill>
                  <a:srgbClr val="FFFFFF"/>
                </a:solidFill>
                <a:latin typeface="Inter" pitchFamily="34" charset="0"/>
                <a:ea typeface="Inter" pitchFamily="34" charset="-122"/>
                <a:cs typeface="Inter" pitchFamily="34" charset="-120"/>
              </a:rPr>
              <a:t>BRDG</a:t>
            </a:r>
            <a:endParaRPr lang="en-US" sz="2400" dirty="0"/>
          </a:p>
        </p:txBody>
      </p:sp>
      <p:sp>
        <p:nvSpPr>
          <p:cNvPr id="4" name="Text 1"/>
          <p:cNvSpPr/>
          <p:nvPr/>
        </p:nvSpPr>
        <p:spPr>
          <a:xfrm>
            <a:off x="640080" y="722376"/>
            <a:ext cx="2743200" cy="256032"/>
          </a:xfrm>
          <a:prstGeom prst="rect">
            <a:avLst/>
          </a:prstGeom>
          <a:noFill/>
          <a:ln/>
        </p:spPr>
        <p:txBody>
          <a:bodyPr wrap="square" lIns="0" tIns="0" rIns="0" bIns="0" rtlCol="0" anchor="ctr"/>
          <a:lstStyle/>
          <a:p>
            <a:pPr indent="0" marL="0">
              <a:buNone/>
            </a:pPr>
            <a:r>
              <a:rPr lang="en-US" sz="1200" spc="100" kern="0" dirty="0">
                <a:solidFill>
                  <a:srgbClr val="94A3B8"/>
                </a:solidFill>
                <a:latin typeface="Inter" pitchFamily="34" charset="0"/>
                <a:ea typeface="Inter" pitchFamily="34" charset="-122"/>
                <a:cs typeface="Inter" pitchFamily="34" charset="-120"/>
              </a:rPr>
              <a:t>Studio</a:t>
            </a:r>
            <a:endParaRPr lang="en-US" sz="1200" dirty="0"/>
          </a:p>
        </p:txBody>
      </p:sp>
      <p:sp>
        <p:nvSpPr>
          <p:cNvPr id="5" name="Text 2"/>
          <p:cNvSpPr/>
          <p:nvPr/>
        </p:nvSpPr>
        <p:spPr>
          <a:xfrm>
            <a:off x="658368" y="1481328"/>
            <a:ext cx="7315200" cy="274320"/>
          </a:xfrm>
          <a:prstGeom prst="rect">
            <a:avLst/>
          </a:prstGeom>
          <a:noFill/>
          <a:ln/>
        </p:spPr>
        <p:txBody>
          <a:bodyPr wrap="square" lIns="0" tIns="0" rIns="0" bIns="0" rtlCol="0" anchor="ctr"/>
          <a:lstStyle/>
          <a:p>
            <a:pPr indent="0" marL="0">
              <a:buNone/>
            </a:pPr>
            <a:r>
              <a:rPr lang="en-US" sz="1200" spc="260" kern="0" dirty="0">
                <a:solidFill>
                  <a:srgbClr val="00D4AA"/>
                </a:solidFill>
                <a:latin typeface="Inter SemiBold" pitchFamily="34" charset="0"/>
                <a:ea typeface="Inter SemiBold" pitchFamily="34" charset="-122"/>
                <a:cs typeface="Inter SemiBold" pitchFamily="34" charset="-120"/>
              </a:rPr>
              <a:t>ITAIF 2026  ·  17 OCTOBER  ·  ROYAL CULTURAL CENTER, AMMAN</a:t>
            </a:r>
            <a:endParaRPr lang="en-US" sz="1200" dirty="0"/>
          </a:p>
        </p:txBody>
      </p:sp>
      <p:sp>
        <p:nvSpPr>
          <p:cNvPr id="6" name="Text 3"/>
          <p:cNvSpPr txBox="1"/>
          <p:nvPr/>
        </p:nvSpPr>
        <p:spPr>
          <a:xfrm>
            <a:off x="603504" y="1810512"/>
            <a:ext cx="7863840" cy="1417320"/>
          </a:xfrm>
          <a:prstGeom prst="rect">
            <a:avLst/>
          </a:prstGeom>
          <a:noFill/>
          <a:ln/>
        </p:spPr>
        <p:txBody>
          <a:bodyPr wrap="square" lIns="0" tIns="0" rIns="0" bIns="0" rtlCol="0" anchor="t"/>
          <a:lstStyle/>
          <a:p>
            <a:pPr indent="0" marL="0">
              <a:lnSpc>
                <a:spcPct val="92000"/>
              </a:lnSpc>
              <a:buNone/>
            </a:pPr>
            <a:r>
              <a:rPr lang="en-US" sz="5000" dirty="0">
                <a:solidFill>
                  <a:srgbClr val="FFFFFF"/>
                </a:solidFill>
                <a:latin typeface="Inter Tight Black" pitchFamily="34" charset="0"/>
                <a:ea typeface="Inter Tight Black" pitchFamily="34" charset="-122"/>
                <a:cs typeface="Inter Tight Black" pitchFamily="34" charset="-120"/>
              </a:rPr>
              <a:t>The power of AI</a:t>
            </a:r>
            <a:endParaRPr lang="en-US" sz="5000" dirty="0"/>
          </a:p>
          <a:p>
            <a:pPr indent="0" marL="0">
              <a:lnSpc>
                <a:spcPct val="92000"/>
              </a:lnSpc>
              <a:buNone/>
            </a:pPr>
            <a:r>
              <a:rPr lang="en-US" sz="5000" dirty="0">
                <a:solidFill>
                  <a:srgbClr val="FFFFFF"/>
                </a:solidFill>
                <a:latin typeface="Inter Tight Black" pitchFamily="34" charset="0"/>
                <a:ea typeface="Inter Tight Black" pitchFamily="34" charset="-122"/>
                <a:cs typeface="Inter Tight Black" pitchFamily="34" charset="-120"/>
              </a:rPr>
              <a:t>in business</a:t>
            </a:r>
            <a:endParaRPr lang="en-US" sz="5000" dirty="0"/>
          </a:p>
        </p:txBody>
      </p:sp>
      <p:sp>
        <p:nvSpPr>
          <p:cNvPr id="7" name="Text 4"/>
          <p:cNvSpPr txBox="1"/>
          <p:nvPr/>
        </p:nvSpPr>
        <p:spPr>
          <a:xfrm>
            <a:off x="658368" y="3310128"/>
            <a:ext cx="5120640" cy="548640"/>
          </a:xfrm>
          <a:prstGeom prst="rect">
            <a:avLst/>
          </a:prstGeom>
          <a:noFill/>
          <a:ln/>
        </p:spPr>
        <p:txBody>
          <a:bodyPr wrap="square" lIns="0" tIns="0" rIns="0" bIns="0" rtlCol="0" anchor="ctr"/>
          <a:lstStyle/>
          <a:p>
            <a:pPr indent="0" marL="0">
              <a:buNone/>
            </a:pPr>
            <a:r>
              <a:rPr lang="en-US" sz="1500" dirty="0">
                <a:solidFill>
                  <a:srgbClr val="CBD5E1"/>
                </a:solidFill>
                <a:latin typeface="Inter" pitchFamily="34" charset="0"/>
                <a:ea typeface="Inter" pitchFamily="34" charset="-122"/>
                <a:cs typeface="Inter" pitchFamily="34" charset="-120"/>
              </a:rPr>
              <a:t>What AI changes inside real companies, and what it asks of the people who build it</a:t>
            </a:r>
            <a:endParaRPr lang="en-US" sz="1500" dirty="0"/>
          </a:p>
        </p:txBody>
      </p:sp>
      <p:sp>
        <p:nvSpPr>
          <p:cNvPr id="8" name="Text 5"/>
          <p:cNvSpPr txBox="1"/>
          <p:nvPr/>
        </p:nvSpPr>
        <p:spPr>
          <a:xfrm>
            <a:off x="658368" y="4407408"/>
            <a:ext cx="4023360" cy="274320"/>
          </a:xfrm>
          <a:prstGeom prst="rect">
            <a:avLst/>
          </a:prstGeom>
          <a:noFill/>
          <a:ln/>
        </p:spPr>
        <p:txBody>
          <a:bodyPr wrap="square" lIns="0" tIns="0" rIns="0" bIns="0" rtlCol="0" anchor="ctr"/>
          <a:lstStyle/>
          <a:p>
            <a:pPr indent="0" marL="0">
              <a:buNone/>
            </a:pPr>
            <a:r>
              <a:rPr lang="en-US" sz="1100" dirty="0">
                <a:solidFill>
                  <a:srgbClr val="94A3B8"/>
                </a:solidFill>
                <a:latin typeface="Inter Medium" pitchFamily="34" charset="0"/>
                <a:ea typeface="Inter Medium" pitchFamily="34" charset="-122"/>
                <a:cs typeface="Inter Medium" pitchFamily="34" charset="-120"/>
              </a:rPr>
              <a:t>Nidal Khalifeh  ·  Founder, BRDG Studio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3504" y="603504"/>
            <a:ext cx="146304" cy="146304"/>
          </a:xfrm>
          <a:prstGeom prst="rect">
            <a:avLst/>
          </a:prstGeom>
          <a:solidFill>
            <a:srgbClr val="00D4AA"/>
          </a:solidFill>
          <a:ln/>
        </p:spPr>
      </p:sp>
      <p:sp>
        <p:nvSpPr>
          <p:cNvPr id="3" name="Text 1"/>
          <p:cNvSpPr/>
          <p:nvPr/>
        </p:nvSpPr>
        <p:spPr>
          <a:xfrm>
            <a:off x="877824" y="548640"/>
            <a:ext cx="7315200" cy="274320"/>
          </a:xfrm>
          <a:prstGeom prst="rect">
            <a:avLst/>
          </a:prstGeom>
          <a:noFill/>
          <a:ln/>
        </p:spPr>
        <p:txBody>
          <a:bodyPr wrap="square" lIns="0" tIns="0" rIns="0" bIns="0" rtlCol="0" anchor="ctr"/>
          <a:lstStyle/>
          <a:p>
            <a:pPr indent="0" marL="0">
              <a:buNone/>
            </a:pPr>
            <a:r>
              <a:rPr lang="en-US" sz="1200" spc="260" kern="0" dirty="0">
                <a:solidFill>
                  <a:srgbClr val="64748B"/>
                </a:solidFill>
                <a:latin typeface="Inter SemiBold" pitchFamily="34" charset="0"/>
                <a:ea typeface="Inter SemiBold" pitchFamily="34" charset="-122"/>
                <a:cs typeface="Inter SemiBold" pitchFamily="34" charset="-120"/>
              </a:rPr>
              <a:t>ABOUT THE SPEAKER</a:t>
            </a:r>
            <a:endParaRPr lang="en-US" sz="1200" dirty="0"/>
          </a:p>
        </p:txBody>
      </p:sp>
      <p:sp>
        <p:nvSpPr>
          <p:cNvPr id="4" name="Text 2"/>
          <p:cNvSpPr/>
          <p:nvPr/>
        </p:nvSpPr>
        <p:spPr>
          <a:xfrm>
            <a:off x="603504" y="896112"/>
            <a:ext cx="5029200" cy="603504"/>
          </a:xfrm>
          <a:prstGeom prst="rect">
            <a:avLst/>
          </a:prstGeom>
          <a:noFill/>
          <a:ln/>
        </p:spPr>
        <p:txBody>
          <a:bodyPr wrap="square" lIns="0" tIns="0" rIns="0" bIns="0" rtlCol="0" anchor="ctr"/>
          <a:lstStyle/>
          <a:p>
            <a:pPr indent="0" marL="0">
              <a:buNone/>
            </a:pPr>
            <a:r>
              <a:rPr lang="en-US" sz="2800" dirty="0">
                <a:solidFill>
                  <a:srgbClr val="0A1628"/>
                </a:solidFill>
                <a:latin typeface="Inter Tight ExtraBold" pitchFamily="34" charset="0"/>
                <a:ea typeface="Inter Tight ExtraBold" pitchFamily="34" charset="-122"/>
                <a:cs typeface="Inter Tight ExtraBold" pitchFamily="34" charset="-120"/>
              </a:rPr>
              <a:t>Banker, then builder</a:t>
            </a:r>
            <a:endParaRPr lang="en-US" sz="2800" dirty="0"/>
          </a:p>
        </p:txBody>
      </p:sp>
      <p:sp>
        <p:nvSpPr>
          <p:cNvPr id="5" name="Text 3"/>
          <p:cNvSpPr txBox="1"/>
          <p:nvPr/>
        </p:nvSpPr>
        <p:spPr>
          <a:xfrm>
            <a:off x="603504" y="1645920"/>
            <a:ext cx="4983480" cy="256032"/>
          </a:xfrm>
          <a:prstGeom prst="rect">
            <a:avLst/>
          </a:prstGeom>
          <a:noFill/>
          <a:ln/>
        </p:spPr>
        <p:txBody>
          <a:bodyPr wrap="square" lIns="0" tIns="0" rIns="0" bIns="0" rtlCol="0" anchor="ctr"/>
          <a:lstStyle/>
          <a:p>
            <a:pPr indent="0" marL="0">
              <a:buNone/>
            </a:pPr>
            <a:r>
              <a:rPr lang="en-US" sz="1100" dirty="0">
                <a:solidFill>
                  <a:srgbClr val="0066FF"/>
                </a:solidFill>
                <a:latin typeface="Inter SemiBold" pitchFamily="34" charset="0"/>
                <a:ea typeface="Inter SemiBold" pitchFamily="34" charset="-122"/>
                <a:cs typeface="Inter SemiBold" pitchFamily="34" charset="-120"/>
              </a:rPr>
              <a:t>BANKING</a:t>
            </a:r>
            <a:endParaRPr lang="en-US" sz="1100" dirty="0"/>
          </a:p>
        </p:txBody>
      </p:sp>
      <p:sp>
        <p:nvSpPr>
          <p:cNvPr id="6" name="Text 4"/>
          <p:cNvSpPr txBox="1"/>
          <p:nvPr/>
        </p:nvSpPr>
        <p:spPr>
          <a:xfrm>
            <a:off x="603504" y="1911096"/>
            <a:ext cx="4983480" cy="411480"/>
          </a:xfrm>
          <a:prstGeom prst="rect">
            <a:avLst/>
          </a:prstGeom>
          <a:noFill/>
          <a:ln/>
        </p:spPr>
        <p:txBody>
          <a:bodyPr wrap="square" lIns="0" tIns="0" rIns="0" bIns="0" rtlCol="0" anchor="t"/>
          <a:lstStyle/>
          <a:p>
            <a:pPr indent="0" marL="0">
              <a:buNone/>
            </a:pPr>
            <a:r>
              <a:rPr lang="en-US" sz="1250" dirty="0">
                <a:solidFill>
                  <a:srgbClr val="1E293B"/>
                </a:solidFill>
                <a:latin typeface="Inter" pitchFamily="34" charset="0"/>
                <a:ea typeface="Inter" pitchFamily="34" charset="-122"/>
                <a:cs typeface="Inter" pitchFamily="34" charset="-120"/>
              </a:rPr>
              <a:t>Chief Innovation Officer, Jordan Ahli Bank. Helped set up Qawn, a digital-first bank, and the bank's fintech venture studio.</a:t>
            </a:r>
            <a:endParaRPr lang="en-US" sz="1250" dirty="0"/>
          </a:p>
        </p:txBody>
      </p:sp>
      <p:sp>
        <p:nvSpPr>
          <p:cNvPr id="7" name="Text 5"/>
          <p:cNvSpPr txBox="1"/>
          <p:nvPr/>
        </p:nvSpPr>
        <p:spPr>
          <a:xfrm>
            <a:off x="603504" y="2377440"/>
            <a:ext cx="4983480" cy="256032"/>
          </a:xfrm>
          <a:prstGeom prst="rect">
            <a:avLst/>
          </a:prstGeom>
          <a:noFill/>
          <a:ln/>
        </p:spPr>
        <p:txBody>
          <a:bodyPr wrap="square" lIns="0" tIns="0" rIns="0" bIns="0" rtlCol="0" anchor="ctr"/>
          <a:lstStyle/>
          <a:p>
            <a:pPr indent="0" marL="0">
              <a:buNone/>
            </a:pPr>
            <a:r>
              <a:rPr lang="en-US" sz="1100" dirty="0">
                <a:solidFill>
                  <a:srgbClr val="0066FF"/>
                </a:solidFill>
                <a:latin typeface="Inter SemiBold" pitchFamily="34" charset="0"/>
                <a:ea typeface="Inter SemiBold" pitchFamily="34" charset="-122"/>
                <a:cs typeface="Inter SemiBold" pitchFamily="34" charset="-120"/>
              </a:rPr>
              <a:t>BUILDING</a:t>
            </a:r>
            <a:endParaRPr lang="en-US" sz="1100" dirty="0"/>
          </a:p>
        </p:txBody>
      </p:sp>
      <p:sp>
        <p:nvSpPr>
          <p:cNvPr id="8" name="Text 6"/>
          <p:cNvSpPr txBox="1"/>
          <p:nvPr/>
        </p:nvSpPr>
        <p:spPr>
          <a:xfrm>
            <a:off x="603504" y="2642616"/>
            <a:ext cx="4983480" cy="411480"/>
          </a:xfrm>
          <a:prstGeom prst="rect">
            <a:avLst/>
          </a:prstGeom>
          <a:noFill/>
          <a:ln/>
        </p:spPr>
        <p:txBody>
          <a:bodyPr wrap="square" lIns="0" tIns="0" rIns="0" bIns="0" rtlCol="0" anchor="t"/>
          <a:lstStyle/>
          <a:p>
            <a:pPr indent="0" marL="0">
              <a:buNone/>
            </a:pPr>
            <a:r>
              <a:rPr lang="en-US" sz="1250" dirty="0">
                <a:solidFill>
                  <a:srgbClr val="1E293B"/>
                </a:solidFill>
                <a:latin typeface="Inter" pitchFamily="34" charset="0"/>
                <a:ea typeface="Inter" pitchFamily="34" charset="-122"/>
                <a:cs typeface="Inter" pitchFamily="34" charset="-120"/>
              </a:rPr>
              <a:t>Founder, BRDG Studio: 8 people in Amman building AI systems for banks, regulators and public bodies.</a:t>
            </a:r>
            <a:endParaRPr lang="en-US" sz="1250" dirty="0"/>
          </a:p>
        </p:txBody>
      </p:sp>
      <p:sp>
        <p:nvSpPr>
          <p:cNvPr id="9" name="Text 7"/>
          <p:cNvSpPr txBox="1"/>
          <p:nvPr/>
        </p:nvSpPr>
        <p:spPr>
          <a:xfrm>
            <a:off x="603504" y="3108960"/>
            <a:ext cx="4983480" cy="256032"/>
          </a:xfrm>
          <a:prstGeom prst="rect">
            <a:avLst/>
          </a:prstGeom>
          <a:noFill/>
          <a:ln/>
        </p:spPr>
        <p:txBody>
          <a:bodyPr wrap="square" lIns="0" tIns="0" rIns="0" bIns="0" rtlCol="0" anchor="ctr"/>
          <a:lstStyle/>
          <a:p>
            <a:pPr indent="0" marL="0">
              <a:buNone/>
            </a:pPr>
            <a:r>
              <a:rPr lang="en-US" sz="1100" dirty="0">
                <a:solidFill>
                  <a:srgbClr val="0066FF"/>
                </a:solidFill>
                <a:latin typeface="Inter SemiBold" pitchFamily="34" charset="0"/>
                <a:ea typeface="Inter SemiBold" pitchFamily="34" charset="-122"/>
                <a:cs typeface="Inter SemiBold" pitchFamily="34" charset="-120"/>
              </a:rPr>
              <a:t>GROUP</a:t>
            </a:r>
            <a:endParaRPr lang="en-US" sz="1100" dirty="0"/>
          </a:p>
        </p:txBody>
      </p:sp>
      <p:sp>
        <p:nvSpPr>
          <p:cNvPr id="10" name="Text 8"/>
          <p:cNvSpPr txBox="1"/>
          <p:nvPr/>
        </p:nvSpPr>
        <p:spPr>
          <a:xfrm>
            <a:off x="603504" y="3374136"/>
            <a:ext cx="4983480" cy="411480"/>
          </a:xfrm>
          <a:prstGeom prst="rect">
            <a:avLst/>
          </a:prstGeom>
          <a:noFill/>
          <a:ln/>
        </p:spPr>
        <p:txBody>
          <a:bodyPr wrap="square" lIns="0" tIns="0" rIns="0" bIns="0" rtlCol="0" anchor="t"/>
          <a:lstStyle/>
          <a:p>
            <a:pPr indent="0" marL="0">
              <a:buNone/>
            </a:pPr>
            <a:r>
              <a:rPr lang="en-US" sz="1250" dirty="0">
                <a:solidFill>
                  <a:srgbClr val="1E293B"/>
                </a:solidFill>
                <a:latin typeface="Inter" pitchFamily="34" charset="0"/>
                <a:ea typeface="Inter" pitchFamily="34" charset="-122"/>
                <a:cs typeface="Inter" pitchFamily="34" charset="-120"/>
              </a:rPr>
              <a:t>Partner and Group Chief Product and AI Officer, Ard Group.</a:t>
            </a:r>
            <a:endParaRPr lang="en-US" sz="1250" dirty="0"/>
          </a:p>
        </p:txBody>
      </p:sp>
      <p:sp>
        <p:nvSpPr>
          <p:cNvPr id="11" name="Text 9"/>
          <p:cNvSpPr txBox="1"/>
          <p:nvPr/>
        </p:nvSpPr>
        <p:spPr>
          <a:xfrm>
            <a:off x="603504" y="3840480"/>
            <a:ext cx="4983480" cy="256032"/>
          </a:xfrm>
          <a:prstGeom prst="rect">
            <a:avLst/>
          </a:prstGeom>
          <a:noFill/>
          <a:ln/>
        </p:spPr>
        <p:txBody>
          <a:bodyPr wrap="square" lIns="0" tIns="0" rIns="0" bIns="0" rtlCol="0" anchor="ctr"/>
          <a:lstStyle/>
          <a:p>
            <a:pPr indent="0" marL="0">
              <a:buNone/>
            </a:pPr>
            <a:r>
              <a:rPr lang="en-US" sz="1100" dirty="0">
                <a:solidFill>
                  <a:srgbClr val="0066FF"/>
                </a:solidFill>
                <a:latin typeface="Inter SemiBold" pitchFamily="34" charset="0"/>
                <a:ea typeface="Inter SemiBold" pitchFamily="34" charset="-122"/>
                <a:cs typeface="Inter SemiBold" pitchFamily="34" charset="-120"/>
              </a:rPr>
              <a:t>POLICY</a:t>
            </a:r>
            <a:endParaRPr lang="en-US" sz="1100" dirty="0"/>
          </a:p>
        </p:txBody>
      </p:sp>
      <p:sp>
        <p:nvSpPr>
          <p:cNvPr id="12" name="Text 10"/>
          <p:cNvSpPr txBox="1"/>
          <p:nvPr/>
        </p:nvSpPr>
        <p:spPr>
          <a:xfrm>
            <a:off x="603504" y="4105656"/>
            <a:ext cx="4983480" cy="411480"/>
          </a:xfrm>
          <a:prstGeom prst="rect">
            <a:avLst/>
          </a:prstGeom>
          <a:noFill/>
          <a:ln/>
        </p:spPr>
        <p:txBody>
          <a:bodyPr wrap="square" lIns="0" tIns="0" rIns="0" bIns="0" rtlCol="0" anchor="t"/>
          <a:lstStyle/>
          <a:p>
            <a:pPr indent="0" marL="0">
              <a:buNone/>
            </a:pPr>
            <a:r>
              <a:rPr lang="en-US" sz="1250" dirty="0">
                <a:solidFill>
                  <a:srgbClr val="1E293B"/>
                </a:solidFill>
                <a:latin typeface="Inter" pitchFamily="34" charset="0"/>
                <a:ea typeface="Inter" pitchFamily="34" charset="-122"/>
                <a:cs typeface="Inter" pitchFamily="34" charset="-120"/>
              </a:rPr>
              <a:t>Worked with the Central Bank of Jordan on its AI framework. AI advisor to Jordan's Minister of Education.</a:t>
            </a:r>
            <a:endParaRPr lang="en-US" sz="1250" dirty="0"/>
          </a:p>
        </p:txBody>
      </p:sp>
      <p:sp>
        <p:nvSpPr>
          <p:cNvPr id="13" name="Shape 11"/>
          <p:cNvSpPr/>
          <p:nvPr/>
        </p:nvSpPr>
        <p:spPr>
          <a:xfrm>
            <a:off x="5897880" y="0"/>
            <a:ext cx="3246120" cy="5143500"/>
          </a:xfrm>
          <a:prstGeom prst="rect">
            <a:avLst/>
          </a:prstGeom>
          <a:solidFill>
            <a:srgbClr val="0A1628"/>
          </a:solidFill>
          <a:ln/>
        </p:spPr>
      </p:sp>
      <p:sp>
        <p:nvSpPr>
          <p:cNvPr id="14" name="Text 12"/>
          <p:cNvSpPr/>
          <p:nvPr/>
        </p:nvSpPr>
        <p:spPr>
          <a:xfrm>
            <a:off x="6263640" y="822960"/>
            <a:ext cx="7315200" cy="274320"/>
          </a:xfrm>
          <a:prstGeom prst="rect">
            <a:avLst/>
          </a:prstGeom>
          <a:noFill/>
          <a:ln/>
        </p:spPr>
        <p:txBody>
          <a:bodyPr wrap="square" lIns="0" tIns="0" rIns="0" bIns="0" rtlCol="0" anchor="ctr"/>
          <a:lstStyle/>
          <a:p>
            <a:pPr indent="0" marL="0">
              <a:buNone/>
            </a:pPr>
            <a:r>
              <a:rPr lang="en-US" sz="1200" spc="260" kern="0" dirty="0">
                <a:solidFill>
                  <a:srgbClr val="00D4AA"/>
                </a:solidFill>
                <a:latin typeface="Inter SemiBold" pitchFamily="34" charset="0"/>
                <a:ea typeface="Inter SemiBold" pitchFamily="34" charset="-122"/>
                <a:cs typeface="Inter SemiBold" pitchFamily="34" charset="-120"/>
              </a:rPr>
              <a:t>THE CASES</a:t>
            </a:r>
            <a:endParaRPr lang="en-US" sz="1200" dirty="0"/>
          </a:p>
        </p:txBody>
      </p:sp>
      <p:sp>
        <p:nvSpPr>
          <p:cNvPr id="15" name="Text 13"/>
          <p:cNvSpPr/>
          <p:nvPr/>
        </p:nvSpPr>
        <p:spPr>
          <a:xfrm>
            <a:off x="6263640" y="1280160"/>
            <a:ext cx="2514600" cy="2468880"/>
          </a:xfrm>
          <a:prstGeom prst="rect">
            <a:avLst/>
          </a:prstGeom>
          <a:noFill/>
          <a:ln/>
        </p:spPr>
        <p:txBody>
          <a:bodyPr wrap="square" lIns="0" tIns="0" rIns="0" bIns="0" rtlCol="0" anchor="ctr"/>
          <a:lstStyle/>
          <a:p>
            <a:pPr indent="0" marL="0">
              <a:lnSpc>
                <a:spcPct val="112000"/>
              </a:lnSpc>
              <a:buNone/>
            </a:pPr>
            <a:r>
              <a:rPr lang="en-US" sz="1400" dirty="0">
                <a:solidFill>
                  <a:srgbClr val="FFFFFF"/>
                </a:solidFill>
                <a:latin typeface="Inter" pitchFamily="34" charset="0"/>
                <a:ea typeface="Inter" pitchFamily="34" charset="-122"/>
                <a:cs typeface="Inter" pitchFamily="34" charset="-120"/>
              </a:rPr>
              <a:t>I created AODC, a method for building software where a small team directs AI agents.</a:t>
            </a:r>
            <a:endParaRPr lang="en-US" sz="1400" dirty="0"/>
          </a:p>
          <a:p>
            <a:pPr indent="0" marL="0">
              <a:lnSpc>
                <a:spcPct val="112000"/>
              </a:lnSpc>
              <a:buNone/>
            </a:pPr>
            <a:endParaRPr lang="en-US" sz="1400" dirty="0"/>
          </a:p>
          <a:p>
            <a:pPr indent="0" marL="0">
              <a:lnSpc>
                <a:spcPct val="112000"/>
              </a:lnSpc>
              <a:buNone/>
            </a:pPr>
            <a:r>
              <a:rPr lang="en-US" sz="1400" dirty="0">
                <a:solidFill>
                  <a:srgbClr val="FFFFFF"/>
                </a:solidFill>
                <a:latin typeface="Inter" pitchFamily="34" charset="0"/>
                <a:ea typeface="Inter" pitchFamily="34" charset="-122"/>
                <a:cs typeface="Inter" pitchFamily="34" charset="-120"/>
              </a:rPr>
              <a:t>The cases in this talk are projects we built with it. I describe the clients without naming them.</a:t>
            </a:r>
            <a:endParaRPr lang="en-US" sz="1400" dirty="0"/>
          </a:p>
        </p:txBody>
      </p:sp>
      <p:pic>
        <p:nvPicPr>
          <p:cNvPr id="16" name="Image 0" descr="/home/claude/deck/assets/arc_faint.png">    </p:cNvPr>
          <p:cNvPicPr>
            <a:picLocks noChangeAspect="1"/>
          </p:cNvPicPr>
          <p:nvPr/>
        </p:nvPicPr>
        <p:blipFill>
          <a:blip r:embed="rId1"/>
          <a:stretch>
            <a:fillRect/>
          </a:stretch>
        </p:blipFill>
        <p:spPr>
          <a:xfrm>
            <a:off x="6217920" y="4526280"/>
            <a:ext cx="2606040" cy="384048"/>
          </a:xfrm>
          <a:prstGeom prst="rect">
            <a:avLst/>
          </a:prstGeom>
        </p:spPr>
      </p:pic>
      <p:sp>
        <p:nvSpPr>
          <p:cNvPr id="17" name="Text 14"/>
          <p:cNvSpPr/>
          <p:nvPr/>
        </p:nvSpPr>
        <p:spPr>
          <a:xfrm>
            <a:off x="603504" y="4828032"/>
            <a:ext cx="3657600" cy="228600"/>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BRDG Studio</a:t>
            </a:r>
            <a:endParaRPr lang="en-US" sz="900" dirty="0"/>
          </a:p>
        </p:txBody>
      </p:sp>
      <p:sp>
        <p:nvSpPr>
          <p:cNvPr id="18" name="Text 15"/>
          <p:cNvSpPr/>
          <p:nvPr/>
        </p:nvSpPr>
        <p:spPr>
          <a:xfrm>
            <a:off x="4882896" y="4828032"/>
            <a:ext cx="3657600" cy="228600"/>
          </a:xfrm>
          <a:prstGeom prst="rect">
            <a:avLst/>
          </a:prstGeom>
          <a:noFill/>
          <a:ln/>
        </p:spPr>
        <p:txBody>
          <a:bodyPr wrap="square" lIns="0" tIns="0" rIns="0" bIns="0" rtlCol="0" anchor="ctr"/>
          <a:lstStyle/>
          <a:p>
            <a:pPr algn="r" indent="0" marL="0">
              <a:buNone/>
            </a:pPr>
            <a:r>
              <a:rPr lang="en-US" sz="900" dirty="0">
                <a:solidFill>
                  <a:srgbClr val="94A3B8"/>
                </a:solidFill>
                <a:latin typeface="Inter" pitchFamily="34" charset="0"/>
                <a:ea typeface="Inter" pitchFamily="34" charset="-122"/>
                <a:cs typeface="Inter" pitchFamily="34" charset="-120"/>
              </a:rPr>
              <a:t>ITAIF 2026  ·  The power of AI in business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3504" y="603504"/>
            <a:ext cx="146304" cy="146304"/>
          </a:xfrm>
          <a:prstGeom prst="rect">
            <a:avLst/>
          </a:prstGeom>
          <a:solidFill>
            <a:srgbClr val="00D4AA"/>
          </a:solidFill>
          <a:ln/>
        </p:spPr>
      </p:sp>
      <p:sp>
        <p:nvSpPr>
          <p:cNvPr id="3" name="Text 1"/>
          <p:cNvSpPr/>
          <p:nvPr/>
        </p:nvSpPr>
        <p:spPr>
          <a:xfrm>
            <a:off x="877824" y="548640"/>
            <a:ext cx="7315200" cy="274320"/>
          </a:xfrm>
          <a:prstGeom prst="rect">
            <a:avLst/>
          </a:prstGeom>
          <a:noFill/>
          <a:ln/>
        </p:spPr>
        <p:txBody>
          <a:bodyPr wrap="square" lIns="0" tIns="0" rIns="0" bIns="0" rtlCol="0" anchor="ctr"/>
          <a:lstStyle/>
          <a:p>
            <a:pPr indent="0" marL="0">
              <a:buNone/>
            </a:pPr>
            <a:r>
              <a:rPr lang="en-US" sz="1200" spc="260" kern="0" dirty="0">
                <a:solidFill>
                  <a:srgbClr val="64748B"/>
                </a:solidFill>
                <a:latin typeface="Inter SemiBold" pitchFamily="34" charset="0"/>
                <a:ea typeface="Inter SemiBold" pitchFamily="34" charset="-122"/>
                <a:cs typeface="Inter SemiBold" pitchFamily="34" charset="-120"/>
              </a:rPr>
              <a:t>WHY NOW</a:t>
            </a:r>
            <a:endParaRPr lang="en-US" sz="1200" dirty="0"/>
          </a:p>
        </p:txBody>
      </p:sp>
      <p:sp>
        <p:nvSpPr>
          <p:cNvPr id="4" name="Text 2"/>
          <p:cNvSpPr/>
          <p:nvPr/>
        </p:nvSpPr>
        <p:spPr>
          <a:xfrm>
            <a:off x="603504" y="896112"/>
            <a:ext cx="7955280" cy="603504"/>
          </a:xfrm>
          <a:prstGeom prst="rect">
            <a:avLst/>
          </a:prstGeom>
          <a:noFill/>
          <a:ln/>
        </p:spPr>
        <p:txBody>
          <a:bodyPr wrap="square" lIns="0" tIns="0" rIns="0" bIns="0" rtlCol="0" anchor="ctr"/>
          <a:lstStyle/>
          <a:p>
            <a:pPr indent="0" marL="0">
              <a:buNone/>
            </a:pPr>
            <a:r>
              <a:rPr lang="en-US" sz="2800" dirty="0">
                <a:solidFill>
                  <a:srgbClr val="0A1628"/>
                </a:solidFill>
                <a:latin typeface="Inter Tight ExtraBold" pitchFamily="34" charset="0"/>
                <a:ea typeface="Inter Tight ExtraBold" pitchFamily="34" charset="-122"/>
                <a:cs typeface="Inter Tight ExtraBold" pitchFamily="34" charset="-120"/>
              </a:rPr>
              <a:t>The price of machine reasoning is collapsing</a:t>
            </a:r>
            <a:endParaRPr lang="en-US" sz="2800" dirty="0"/>
          </a:p>
        </p:txBody>
      </p:sp>
      <p:sp>
        <p:nvSpPr>
          <p:cNvPr id="5" name="Text 3"/>
          <p:cNvSpPr txBox="1"/>
          <p:nvPr/>
        </p:nvSpPr>
        <p:spPr>
          <a:xfrm>
            <a:off x="566928" y="1645920"/>
            <a:ext cx="4023360" cy="1417320"/>
          </a:xfrm>
          <a:prstGeom prst="rect">
            <a:avLst/>
          </a:prstGeom>
          <a:noFill/>
          <a:ln/>
        </p:spPr>
        <p:txBody>
          <a:bodyPr wrap="square" lIns="0" tIns="0" rIns="0" bIns="0" rtlCol="0" anchor="ctr"/>
          <a:lstStyle/>
          <a:p>
            <a:pPr indent="0" marL="0">
              <a:buNone/>
            </a:pPr>
            <a:r>
              <a:rPr lang="en-US" sz="11000" dirty="0">
                <a:solidFill>
                  <a:srgbClr val="0066FF"/>
                </a:solidFill>
                <a:latin typeface="Inter Tight Black" pitchFamily="34" charset="0"/>
                <a:ea typeface="Inter Tight Black" pitchFamily="34" charset="-122"/>
                <a:cs typeface="Inter Tight Black" pitchFamily="34" charset="-120"/>
              </a:rPr>
              <a:t>13x</a:t>
            </a:r>
            <a:endParaRPr lang="en-US" sz="11000" dirty="0"/>
          </a:p>
        </p:txBody>
      </p:sp>
      <p:sp>
        <p:nvSpPr>
          <p:cNvPr id="6" name="Text 4"/>
          <p:cNvSpPr txBox="1"/>
          <p:nvPr/>
        </p:nvSpPr>
        <p:spPr>
          <a:xfrm>
            <a:off x="603504" y="3154680"/>
            <a:ext cx="3749040" cy="777240"/>
          </a:xfrm>
          <a:prstGeom prst="rect">
            <a:avLst/>
          </a:prstGeom>
          <a:noFill/>
          <a:ln/>
        </p:spPr>
        <p:txBody>
          <a:bodyPr wrap="square" lIns="0" tIns="0" rIns="0" bIns="0" rtlCol="0" anchor="ctr"/>
          <a:lstStyle/>
          <a:p>
            <a:pPr indent="0" marL="0">
              <a:buNone/>
            </a:pPr>
            <a:r>
              <a:rPr lang="en-US" sz="1300" dirty="0">
                <a:solidFill>
                  <a:srgbClr val="1E293B"/>
                </a:solidFill>
                <a:latin typeface="Inter" pitchFamily="34" charset="0"/>
                <a:ea typeface="Inter" pitchFamily="34" charset="-122"/>
                <a:cs typeface="Inter" pitchFamily="34" charset="-120"/>
              </a:rPr>
              <a:t>Yearly fall since 2023 in the cost of reaching a given level of AI performance, across five benchmarks in maths, science and games.</a:t>
            </a:r>
            <a:endParaRPr lang="en-US" sz="1300" dirty="0"/>
          </a:p>
        </p:txBody>
      </p:sp>
      <p:sp>
        <p:nvSpPr>
          <p:cNvPr id="7" name="Text 5"/>
          <p:cNvSpPr txBox="1"/>
          <p:nvPr/>
        </p:nvSpPr>
        <p:spPr>
          <a:xfrm>
            <a:off x="4846320" y="1783080"/>
            <a:ext cx="3657600" cy="1051560"/>
          </a:xfrm>
          <a:prstGeom prst="rect">
            <a:avLst/>
          </a:prstGeom>
          <a:noFill/>
          <a:ln/>
        </p:spPr>
        <p:txBody>
          <a:bodyPr wrap="square" lIns="0" tIns="0" rIns="0" bIns="0" rtlCol="0" anchor="ctr"/>
          <a:lstStyle/>
          <a:p>
            <a:pPr indent="0" marL="0">
              <a:buNone/>
            </a:pPr>
            <a:r>
              <a:rPr lang="en-US" sz="1600" dirty="0">
                <a:solidFill>
                  <a:srgbClr val="0A1628"/>
                </a:solidFill>
                <a:latin typeface="Inter SemiBold" pitchFamily="34" charset="0"/>
                <a:ea typeface="Inter SemiBold" pitchFamily="34" charset="-122"/>
                <a:cs typeface="Inter SemiBold" pitchFamily="34" charset="-120"/>
              </a:rPr>
              <a:t>A PhD-level science question cost USD 0.30 to answer in January 2025. About 18 months later, the same accuracy cost USD 0.0004.</a:t>
            </a:r>
            <a:endParaRPr lang="en-US" sz="1600" dirty="0"/>
          </a:p>
        </p:txBody>
      </p:sp>
      <p:sp>
        <p:nvSpPr>
          <p:cNvPr id="8" name="Text 6"/>
          <p:cNvSpPr txBox="1"/>
          <p:nvPr/>
        </p:nvSpPr>
        <p:spPr>
          <a:xfrm>
            <a:off x="4846320" y="2926080"/>
            <a:ext cx="3657600" cy="1005840"/>
          </a:xfrm>
          <a:prstGeom prst="rect">
            <a:avLst/>
          </a:prstGeom>
          <a:noFill/>
          <a:ln/>
        </p:spPr>
        <p:txBody>
          <a:bodyPr wrap="square" lIns="0" tIns="0" rIns="0" bIns="0" rtlCol="0" anchor="ctr"/>
          <a:lstStyle/>
          <a:p>
            <a:pPr indent="0" marL="0">
              <a:buNone/>
            </a:pPr>
            <a:r>
              <a:rPr lang="en-US" sz="1350" dirty="0">
                <a:solidFill>
                  <a:srgbClr val="1E293B"/>
                </a:solidFill>
                <a:latin typeface="Inter" pitchFamily="34" charset="0"/>
                <a:ea typeface="Inter" pitchFamily="34" charset="-122"/>
                <a:cs typeface="Inter" pitchFamily="34" charset="-120"/>
              </a:rPr>
              <a:t>Work that was too expensive to give a person is now cheap enough to give a machine: every contract read, every invoice checked, every customer call reviewed in Arabic and English.</a:t>
            </a:r>
            <a:endParaRPr lang="en-US" sz="1350" dirty="0"/>
          </a:p>
        </p:txBody>
      </p:sp>
      <p:sp>
        <p:nvSpPr>
          <p:cNvPr id="9" name="Text 7"/>
          <p:cNvSpPr txBox="1"/>
          <p:nvPr/>
        </p:nvSpPr>
        <p:spPr>
          <a:xfrm>
            <a:off x="603504" y="4553712"/>
            <a:ext cx="7955280" cy="228600"/>
          </a:xfrm>
          <a:prstGeom prst="rect">
            <a:avLst/>
          </a:prstGeom>
          <a:noFill/>
          <a:ln/>
        </p:spPr>
        <p:txBody>
          <a:bodyPr wrap="square" lIns="0" tIns="0" rIns="0" bIns="0" rtlCol="0" anchor="ctr"/>
          <a:lstStyle/>
          <a:p>
            <a:pPr indent="0" marL="0">
              <a:buNone/>
            </a:pPr>
            <a:r>
              <a:rPr lang="en-US" sz="1000" dirty="0">
                <a:solidFill>
                  <a:srgbClr val="64748B"/>
                </a:solidFill>
                <a:latin typeface="Inter" pitchFamily="34" charset="0"/>
                <a:ea typeface="Inter" pitchFamily="34" charset="-122"/>
                <a:cs typeface="Inter" pitchFamily="34" charset="-120"/>
              </a:rPr>
              <a:t>Source: Epoch AI, The plunging price of thought, 22 September 2026 (example: GPQA Diamond, OpenAI o3 and GPT-5.6 Luna)</a:t>
            </a:r>
            <a:endParaRPr lang="en-US" sz="1000" dirty="0"/>
          </a:p>
        </p:txBody>
      </p:sp>
      <p:sp>
        <p:nvSpPr>
          <p:cNvPr id="10" name="Text 8"/>
          <p:cNvSpPr/>
          <p:nvPr/>
        </p:nvSpPr>
        <p:spPr>
          <a:xfrm>
            <a:off x="603504" y="4828032"/>
            <a:ext cx="3657600" cy="228600"/>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BRDG Studio</a:t>
            </a:r>
            <a:endParaRPr lang="en-US" sz="900" dirty="0"/>
          </a:p>
        </p:txBody>
      </p:sp>
      <p:sp>
        <p:nvSpPr>
          <p:cNvPr id="11" name="Text 9"/>
          <p:cNvSpPr/>
          <p:nvPr/>
        </p:nvSpPr>
        <p:spPr>
          <a:xfrm>
            <a:off x="4882896" y="4828032"/>
            <a:ext cx="3657600" cy="228600"/>
          </a:xfrm>
          <a:prstGeom prst="rect">
            <a:avLst/>
          </a:prstGeom>
          <a:noFill/>
          <a:ln/>
        </p:spPr>
        <p:txBody>
          <a:bodyPr wrap="square" lIns="0" tIns="0" rIns="0" bIns="0" rtlCol="0" anchor="ctr"/>
          <a:lstStyle/>
          <a:p>
            <a:pPr algn="r" indent="0" marL="0">
              <a:buNone/>
            </a:pPr>
            <a:r>
              <a:rPr lang="en-US" sz="900" dirty="0">
                <a:solidFill>
                  <a:srgbClr val="94A3B8"/>
                </a:solidFill>
                <a:latin typeface="Inter" pitchFamily="34" charset="0"/>
                <a:ea typeface="Inter" pitchFamily="34" charset="-122"/>
                <a:cs typeface="Inter" pitchFamily="34" charset="-120"/>
              </a:rPr>
              <a:t>ITAIF 2026  ·  The power of AI in business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3504" y="603504"/>
            <a:ext cx="146304" cy="146304"/>
          </a:xfrm>
          <a:prstGeom prst="rect">
            <a:avLst/>
          </a:prstGeom>
          <a:solidFill>
            <a:srgbClr val="00D4AA"/>
          </a:solidFill>
          <a:ln/>
        </p:spPr>
      </p:sp>
      <p:sp>
        <p:nvSpPr>
          <p:cNvPr id="3" name="Text 1"/>
          <p:cNvSpPr/>
          <p:nvPr/>
        </p:nvSpPr>
        <p:spPr>
          <a:xfrm>
            <a:off x="877824" y="548640"/>
            <a:ext cx="7315200" cy="274320"/>
          </a:xfrm>
          <a:prstGeom prst="rect">
            <a:avLst/>
          </a:prstGeom>
          <a:noFill/>
          <a:ln/>
        </p:spPr>
        <p:txBody>
          <a:bodyPr wrap="square" lIns="0" tIns="0" rIns="0" bIns="0" rtlCol="0" anchor="ctr"/>
          <a:lstStyle/>
          <a:p>
            <a:pPr indent="0" marL="0">
              <a:buNone/>
            </a:pPr>
            <a:r>
              <a:rPr lang="en-US" sz="1200" spc="260" kern="0" dirty="0">
                <a:solidFill>
                  <a:srgbClr val="64748B"/>
                </a:solidFill>
                <a:latin typeface="Inter SemiBold" pitchFamily="34" charset="0"/>
                <a:ea typeface="Inter SemiBold" pitchFamily="34" charset="-122"/>
                <a:cs typeface="Inter SemiBold" pitchFamily="34" charset="-120"/>
              </a:rPr>
              <a:t>THE GAP</a:t>
            </a:r>
            <a:endParaRPr lang="en-US" sz="1200" dirty="0"/>
          </a:p>
        </p:txBody>
      </p:sp>
      <p:sp>
        <p:nvSpPr>
          <p:cNvPr id="4" name="Text 2"/>
          <p:cNvSpPr/>
          <p:nvPr/>
        </p:nvSpPr>
        <p:spPr>
          <a:xfrm>
            <a:off x="603504" y="896112"/>
            <a:ext cx="7955280" cy="603504"/>
          </a:xfrm>
          <a:prstGeom prst="rect">
            <a:avLst/>
          </a:prstGeom>
          <a:noFill/>
          <a:ln/>
        </p:spPr>
        <p:txBody>
          <a:bodyPr wrap="square" lIns="0" tIns="0" rIns="0" bIns="0" rtlCol="0" anchor="ctr"/>
          <a:lstStyle/>
          <a:p>
            <a:pPr indent="0" marL="0">
              <a:buNone/>
            </a:pPr>
            <a:r>
              <a:rPr lang="en-US" sz="2800" dirty="0">
                <a:solidFill>
                  <a:srgbClr val="0A1628"/>
                </a:solidFill>
                <a:latin typeface="Inter Tight ExtraBold" pitchFamily="34" charset="0"/>
                <a:ea typeface="Inter Tight ExtraBold" pitchFamily="34" charset="-122"/>
                <a:cs typeface="Inter Tight ExtraBold" pitchFamily="34" charset="-120"/>
              </a:rPr>
              <a:t>Adoption is high. Returns are rare.</a:t>
            </a:r>
            <a:endParaRPr lang="en-US" sz="2800" dirty="0"/>
          </a:p>
        </p:txBody>
      </p:sp>
      <p:sp>
        <p:nvSpPr>
          <p:cNvPr id="5" name="Text 3"/>
          <p:cNvSpPr/>
          <p:nvPr/>
        </p:nvSpPr>
        <p:spPr>
          <a:xfrm>
            <a:off x="640080" y="1536192"/>
            <a:ext cx="7772400" cy="457200"/>
          </a:xfrm>
          <a:prstGeom prst="rect">
            <a:avLst/>
          </a:prstGeom>
          <a:noFill/>
          <a:ln/>
        </p:spPr>
        <p:txBody>
          <a:bodyPr wrap="square" lIns="0" tIns="0" rIns="0" bIns="0" rtlCol="0" anchor="ctr"/>
          <a:lstStyle/>
          <a:p>
            <a:pPr indent="0" marL="0">
              <a:buNone/>
            </a:pPr>
            <a:r>
              <a:rPr lang="en-US" sz="1400" dirty="0">
                <a:solidFill>
                  <a:srgbClr val="64748B"/>
                </a:solidFill>
                <a:latin typeface="Inter" pitchFamily="34" charset="0"/>
                <a:ea typeface="Inter" pitchFamily="34" charset="-122"/>
                <a:cs typeface="Inter" pitchFamily="34" charset="-120"/>
              </a:rPr>
              <a:t>McKinsey, The State of AI in 2026 (25 August 2026): 1,719 respondents, 97 countries</a:t>
            </a:r>
            <a:endParaRPr lang="en-US" sz="1400" dirty="0"/>
          </a:p>
        </p:txBody>
      </p:sp>
      <p:sp>
        <p:nvSpPr>
          <p:cNvPr id="6" name="Text 4"/>
          <p:cNvSpPr/>
          <p:nvPr/>
        </p:nvSpPr>
        <p:spPr>
          <a:xfrm>
            <a:off x="603504" y="2286000"/>
            <a:ext cx="2401824" cy="914400"/>
          </a:xfrm>
          <a:prstGeom prst="rect">
            <a:avLst/>
          </a:prstGeom>
          <a:noFill/>
          <a:ln/>
        </p:spPr>
        <p:txBody>
          <a:bodyPr wrap="square" lIns="0" tIns="0" rIns="0" bIns="0" rtlCol="0" anchor="ctr"/>
          <a:lstStyle/>
          <a:p>
            <a:pPr indent="0" marL="0">
              <a:buNone/>
            </a:pPr>
            <a:r>
              <a:rPr lang="en-US" sz="5200" dirty="0">
                <a:solidFill>
                  <a:srgbClr val="0066FF"/>
                </a:solidFill>
                <a:latin typeface="Inter Tight Black" pitchFamily="34" charset="0"/>
                <a:ea typeface="Inter Tight Black" pitchFamily="34" charset="-122"/>
                <a:cs typeface="Inter Tight Black" pitchFamily="34" charset="-120"/>
              </a:rPr>
              <a:t>89%</a:t>
            </a:r>
            <a:endParaRPr lang="en-US" sz="5200" dirty="0"/>
          </a:p>
        </p:txBody>
      </p:sp>
      <p:sp>
        <p:nvSpPr>
          <p:cNvPr id="7" name="Text 5"/>
          <p:cNvSpPr/>
          <p:nvPr/>
        </p:nvSpPr>
        <p:spPr>
          <a:xfrm>
            <a:off x="603504" y="3310128"/>
            <a:ext cx="2401824" cy="822960"/>
          </a:xfrm>
          <a:prstGeom prst="rect">
            <a:avLst/>
          </a:prstGeom>
          <a:noFill/>
          <a:ln/>
        </p:spPr>
        <p:txBody>
          <a:bodyPr wrap="square" lIns="0" tIns="0" rIns="0" bIns="0" rtlCol="0" anchor="ctr"/>
          <a:lstStyle/>
          <a:p>
            <a:pPr indent="0" marL="0">
              <a:buNone/>
            </a:pPr>
            <a:r>
              <a:rPr lang="en-US" sz="1350" dirty="0">
                <a:solidFill>
                  <a:srgbClr val="1E293B"/>
                </a:solidFill>
                <a:latin typeface="Inter" pitchFamily="34" charset="0"/>
                <a:ea typeface="Inter" pitchFamily="34" charset="-122"/>
                <a:cs typeface="Inter" pitchFamily="34" charset="-120"/>
              </a:rPr>
              <a:t>of organizations use AI regularly in at least one business function</a:t>
            </a:r>
            <a:endParaRPr lang="en-US" sz="1350" dirty="0"/>
          </a:p>
        </p:txBody>
      </p:sp>
      <p:sp>
        <p:nvSpPr>
          <p:cNvPr id="8" name="Text 6"/>
          <p:cNvSpPr/>
          <p:nvPr/>
        </p:nvSpPr>
        <p:spPr>
          <a:xfrm>
            <a:off x="3371088" y="2286000"/>
            <a:ext cx="2401824" cy="914400"/>
          </a:xfrm>
          <a:prstGeom prst="rect">
            <a:avLst/>
          </a:prstGeom>
          <a:noFill/>
          <a:ln/>
        </p:spPr>
        <p:txBody>
          <a:bodyPr wrap="square" lIns="0" tIns="0" rIns="0" bIns="0" rtlCol="0" anchor="ctr"/>
          <a:lstStyle/>
          <a:p>
            <a:pPr indent="0" marL="0">
              <a:buNone/>
            </a:pPr>
            <a:r>
              <a:rPr lang="en-US" sz="5200" dirty="0">
                <a:solidFill>
                  <a:srgbClr val="00D4AA"/>
                </a:solidFill>
                <a:latin typeface="Inter Tight Black" pitchFamily="34" charset="0"/>
                <a:ea typeface="Inter Tight Black" pitchFamily="34" charset="-122"/>
                <a:cs typeface="Inter Tight Black" pitchFamily="34" charset="-120"/>
              </a:rPr>
              <a:t>44%</a:t>
            </a:r>
            <a:endParaRPr lang="en-US" sz="5200" dirty="0"/>
          </a:p>
        </p:txBody>
      </p:sp>
      <p:sp>
        <p:nvSpPr>
          <p:cNvPr id="9" name="Text 7"/>
          <p:cNvSpPr/>
          <p:nvPr/>
        </p:nvSpPr>
        <p:spPr>
          <a:xfrm>
            <a:off x="3371088" y="3310128"/>
            <a:ext cx="2401824" cy="822960"/>
          </a:xfrm>
          <a:prstGeom prst="rect">
            <a:avLst/>
          </a:prstGeom>
          <a:noFill/>
          <a:ln/>
        </p:spPr>
        <p:txBody>
          <a:bodyPr wrap="square" lIns="0" tIns="0" rIns="0" bIns="0" rtlCol="0" anchor="ctr"/>
          <a:lstStyle/>
          <a:p>
            <a:pPr indent="0" marL="0">
              <a:buNone/>
            </a:pPr>
            <a:r>
              <a:rPr lang="en-US" sz="1350" dirty="0">
                <a:solidFill>
                  <a:srgbClr val="1E293B"/>
                </a:solidFill>
                <a:latin typeface="Inter" pitchFamily="34" charset="0"/>
                <a:ea typeface="Inter" pitchFamily="34" charset="-122"/>
                <a:cs typeface="Inter" pitchFamily="34" charset="-120"/>
              </a:rPr>
              <a:t>are scaling AI across the enterprise, up from 38% a year earlier</a:t>
            </a:r>
            <a:endParaRPr lang="en-US" sz="1350" dirty="0"/>
          </a:p>
        </p:txBody>
      </p:sp>
      <p:sp>
        <p:nvSpPr>
          <p:cNvPr id="10" name="Text 8"/>
          <p:cNvSpPr/>
          <p:nvPr/>
        </p:nvSpPr>
        <p:spPr>
          <a:xfrm>
            <a:off x="6138672" y="2286000"/>
            <a:ext cx="2401824" cy="914400"/>
          </a:xfrm>
          <a:prstGeom prst="rect">
            <a:avLst/>
          </a:prstGeom>
          <a:noFill/>
          <a:ln/>
        </p:spPr>
        <p:txBody>
          <a:bodyPr wrap="square" lIns="0" tIns="0" rIns="0" bIns="0" rtlCol="0" anchor="ctr"/>
          <a:lstStyle/>
          <a:p>
            <a:pPr indent="0" marL="0">
              <a:buNone/>
            </a:pPr>
            <a:r>
              <a:rPr lang="en-US" sz="5200" dirty="0">
                <a:solidFill>
                  <a:srgbClr val="0A1628"/>
                </a:solidFill>
                <a:latin typeface="Inter Tight Black" pitchFamily="34" charset="0"/>
                <a:ea typeface="Inter Tight Black" pitchFamily="34" charset="-122"/>
                <a:cs typeface="Inter Tight Black" pitchFamily="34" charset="-120"/>
              </a:rPr>
              <a:t>37%</a:t>
            </a:r>
            <a:endParaRPr lang="en-US" sz="5200" dirty="0"/>
          </a:p>
        </p:txBody>
      </p:sp>
      <p:sp>
        <p:nvSpPr>
          <p:cNvPr id="11" name="Text 9"/>
          <p:cNvSpPr/>
          <p:nvPr/>
        </p:nvSpPr>
        <p:spPr>
          <a:xfrm>
            <a:off x="6138672" y="3310128"/>
            <a:ext cx="2401824" cy="822960"/>
          </a:xfrm>
          <a:prstGeom prst="rect">
            <a:avLst/>
          </a:prstGeom>
          <a:noFill/>
          <a:ln/>
        </p:spPr>
        <p:txBody>
          <a:bodyPr wrap="square" lIns="0" tIns="0" rIns="0" bIns="0" rtlCol="0" anchor="ctr"/>
          <a:lstStyle/>
          <a:p>
            <a:pPr indent="0" marL="0">
              <a:buNone/>
            </a:pPr>
            <a:r>
              <a:rPr lang="en-US" sz="1350" dirty="0">
                <a:solidFill>
                  <a:srgbClr val="1E293B"/>
                </a:solidFill>
                <a:latin typeface="Inter" pitchFamily="34" charset="0"/>
                <a:ea typeface="Inter" pitchFamily="34" charset="-122"/>
                <a:cs typeface="Inter" pitchFamily="34" charset="-120"/>
              </a:rPr>
              <a:t>attribute any EBIT impact to AI, flat on the year before</a:t>
            </a:r>
            <a:endParaRPr lang="en-US" sz="1350" dirty="0"/>
          </a:p>
        </p:txBody>
      </p:sp>
      <p:sp>
        <p:nvSpPr>
          <p:cNvPr id="12" name="Text 10"/>
          <p:cNvSpPr txBox="1"/>
          <p:nvPr/>
        </p:nvSpPr>
        <p:spPr>
          <a:xfrm>
            <a:off x="603504" y="4114800"/>
            <a:ext cx="7955280" cy="457200"/>
          </a:xfrm>
          <a:prstGeom prst="rect">
            <a:avLst/>
          </a:prstGeom>
          <a:noFill/>
          <a:ln/>
        </p:spPr>
        <p:txBody>
          <a:bodyPr wrap="square" lIns="0" tIns="0" rIns="0" bIns="0" rtlCol="0" anchor="ctr"/>
          <a:lstStyle/>
          <a:p>
            <a:pPr indent="0" marL="0">
              <a:buNone/>
            </a:pPr>
            <a:r>
              <a:rPr lang="en-US" sz="1300" b="1" dirty="0">
                <a:solidFill>
                  <a:srgbClr val="0066FF"/>
                </a:solidFill>
                <a:latin typeface="Inter" pitchFamily="34" charset="0"/>
                <a:ea typeface="Inter" pitchFamily="34" charset="-122"/>
                <a:cs typeface="Inter" pitchFamily="34" charset="-120"/>
              </a:rPr>
              <a:t>80% </a:t>
            </a:r>
            <a:pPr indent="0" marL="0">
              <a:buNone/>
            </a:pPr>
            <a:r>
              <a:rPr lang="en-US" sz="1300" dirty="0">
                <a:solidFill>
                  <a:srgbClr val="0A1628"/>
                </a:solidFill>
                <a:latin typeface="Inter" pitchFamily="34" charset="0"/>
                <a:ea typeface="Inter" pitchFamily="34" charset="-122"/>
                <a:cs typeface="Inter" pitchFamily="34" charset="-120"/>
              </a:rPr>
              <a:t>say AI improved their own productivity. The share of high performers, at 6%, did not move.</a:t>
            </a:r>
            <a:endParaRPr lang="en-US" sz="1300" dirty="0"/>
          </a:p>
        </p:txBody>
      </p:sp>
      <p:sp>
        <p:nvSpPr>
          <p:cNvPr id="13" name="Text 11"/>
          <p:cNvSpPr/>
          <p:nvPr/>
        </p:nvSpPr>
        <p:spPr>
          <a:xfrm>
            <a:off x="603504" y="4828032"/>
            <a:ext cx="3657600" cy="228600"/>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BRDG Studio</a:t>
            </a:r>
            <a:endParaRPr lang="en-US" sz="900" dirty="0"/>
          </a:p>
        </p:txBody>
      </p:sp>
      <p:sp>
        <p:nvSpPr>
          <p:cNvPr id="14" name="Text 12"/>
          <p:cNvSpPr/>
          <p:nvPr/>
        </p:nvSpPr>
        <p:spPr>
          <a:xfrm>
            <a:off x="4882896" y="4828032"/>
            <a:ext cx="3657600" cy="228600"/>
          </a:xfrm>
          <a:prstGeom prst="rect">
            <a:avLst/>
          </a:prstGeom>
          <a:noFill/>
          <a:ln/>
        </p:spPr>
        <p:txBody>
          <a:bodyPr wrap="square" lIns="0" tIns="0" rIns="0" bIns="0" rtlCol="0" anchor="ctr"/>
          <a:lstStyle/>
          <a:p>
            <a:pPr algn="r" indent="0" marL="0">
              <a:buNone/>
            </a:pPr>
            <a:r>
              <a:rPr lang="en-US" sz="900" dirty="0">
                <a:solidFill>
                  <a:srgbClr val="94A3B8"/>
                </a:solidFill>
                <a:latin typeface="Inter" pitchFamily="34" charset="0"/>
                <a:ea typeface="Inter" pitchFamily="34" charset="-122"/>
                <a:cs typeface="Inter" pitchFamily="34" charset="-120"/>
              </a:rPr>
              <a:t>ITAIF 2026  ·  The power of AI in business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assets/arc_bright.png">    </p:cNvPr>
          <p:cNvPicPr>
            <a:picLocks noChangeAspect="1"/>
          </p:cNvPicPr>
          <p:nvPr/>
        </p:nvPicPr>
        <p:blipFill>
          <a:blip r:embed="rId2"/>
          <a:stretch>
            <a:fillRect/>
          </a:stretch>
        </p:blipFill>
        <p:spPr>
          <a:xfrm>
            <a:off x="4937760" y="3520440"/>
            <a:ext cx="4023360" cy="1517904"/>
          </a:xfrm>
          <a:prstGeom prst="rect">
            <a:avLst/>
          </a:prstGeom>
        </p:spPr>
      </p:pic>
      <p:sp>
        <p:nvSpPr>
          <p:cNvPr id="3" name="Text 0"/>
          <p:cNvSpPr/>
          <p:nvPr/>
        </p:nvSpPr>
        <p:spPr>
          <a:xfrm>
            <a:off x="640080" y="384048"/>
            <a:ext cx="2743200" cy="365760"/>
          </a:xfrm>
          <a:prstGeom prst="rect">
            <a:avLst/>
          </a:prstGeom>
          <a:noFill/>
          <a:ln/>
        </p:spPr>
        <p:txBody>
          <a:bodyPr wrap="square" lIns="0" tIns="0" rIns="0" bIns="0" rtlCol="0" anchor="ctr"/>
          <a:lstStyle/>
          <a:p>
            <a:pPr indent="0" marL="0">
              <a:buNone/>
            </a:pPr>
            <a:r>
              <a:rPr lang="en-US" sz="2400" b="1" dirty="0">
                <a:solidFill>
                  <a:srgbClr val="FFFFFF"/>
                </a:solidFill>
                <a:latin typeface="Inter" pitchFamily="34" charset="0"/>
                <a:ea typeface="Inter" pitchFamily="34" charset="-122"/>
                <a:cs typeface="Inter" pitchFamily="34" charset="-120"/>
              </a:rPr>
              <a:t>BRDG</a:t>
            </a:r>
            <a:endParaRPr lang="en-US" sz="2400" dirty="0"/>
          </a:p>
        </p:txBody>
      </p:sp>
      <p:sp>
        <p:nvSpPr>
          <p:cNvPr id="4" name="Text 1"/>
          <p:cNvSpPr/>
          <p:nvPr/>
        </p:nvSpPr>
        <p:spPr>
          <a:xfrm>
            <a:off x="640080" y="722376"/>
            <a:ext cx="2743200" cy="256032"/>
          </a:xfrm>
          <a:prstGeom prst="rect">
            <a:avLst/>
          </a:prstGeom>
          <a:noFill/>
          <a:ln/>
        </p:spPr>
        <p:txBody>
          <a:bodyPr wrap="square" lIns="0" tIns="0" rIns="0" bIns="0" rtlCol="0" anchor="ctr"/>
          <a:lstStyle/>
          <a:p>
            <a:pPr indent="0" marL="0">
              <a:buNone/>
            </a:pPr>
            <a:r>
              <a:rPr lang="en-US" sz="1200" spc="100" kern="0" dirty="0">
                <a:solidFill>
                  <a:srgbClr val="94A3B8"/>
                </a:solidFill>
                <a:latin typeface="Inter" pitchFamily="34" charset="0"/>
                <a:ea typeface="Inter" pitchFamily="34" charset="-122"/>
                <a:cs typeface="Inter" pitchFamily="34" charset="-120"/>
              </a:rPr>
              <a:t>Studio</a:t>
            </a:r>
            <a:endParaRPr lang="en-US" sz="1200" dirty="0"/>
          </a:p>
        </p:txBody>
      </p:sp>
      <p:sp>
        <p:nvSpPr>
          <p:cNvPr id="5" name="Text 2"/>
          <p:cNvSpPr/>
          <p:nvPr/>
        </p:nvSpPr>
        <p:spPr>
          <a:xfrm>
            <a:off x="603504" y="1417320"/>
            <a:ext cx="3657600" cy="1463040"/>
          </a:xfrm>
          <a:prstGeom prst="rect">
            <a:avLst/>
          </a:prstGeom>
          <a:noFill/>
          <a:ln/>
        </p:spPr>
        <p:txBody>
          <a:bodyPr wrap="square" lIns="0" tIns="0" rIns="0" bIns="0" rtlCol="0" anchor="ctr"/>
          <a:lstStyle/>
          <a:p>
            <a:pPr indent="0" marL="0">
              <a:buNone/>
            </a:pPr>
            <a:r>
              <a:rPr lang="en-US" sz="12000" dirty="0">
                <a:solidFill>
                  <a:srgbClr val="00D4AA"/>
                </a:solidFill>
                <a:latin typeface="Inter Tight Black" pitchFamily="34" charset="0"/>
                <a:ea typeface="Inter Tight Black" pitchFamily="34" charset="-122"/>
                <a:cs typeface="Inter Tight Black" pitchFamily="34" charset="-120"/>
              </a:rPr>
              <a:t>01</a:t>
            </a:r>
            <a:endParaRPr lang="en-US" sz="12000" dirty="0"/>
          </a:p>
        </p:txBody>
      </p:sp>
      <p:sp>
        <p:nvSpPr>
          <p:cNvPr id="6" name="Text 3"/>
          <p:cNvSpPr/>
          <p:nvPr/>
        </p:nvSpPr>
        <p:spPr>
          <a:xfrm>
            <a:off x="658368" y="2788920"/>
            <a:ext cx="7315200" cy="274320"/>
          </a:xfrm>
          <a:prstGeom prst="rect">
            <a:avLst/>
          </a:prstGeom>
          <a:noFill/>
          <a:ln/>
        </p:spPr>
        <p:txBody>
          <a:bodyPr wrap="square" lIns="0" tIns="0" rIns="0" bIns="0" rtlCol="0" anchor="ctr"/>
          <a:lstStyle/>
          <a:p>
            <a:pPr indent="0" marL="0">
              <a:buNone/>
            </a:pPr>
            <a:r>
              <a:rPr lang="en-US" sz="1200" spc="260" kern="0" dirty="0">
                <a:solidFill>
                  <a:srgbClr val="00D4AA"/>
                </a:solidFill>
                <a:latin typeface="Inter SemiBold" pitchFamily="34" charset="0"/>
                <a:ea typeface="Inter SemiBold" pitchFamily="34" charset="-122"/>
                <a:cs typeface="Inter SemiBold" pitchFamily="34" charset="-120"/>
              </a:rPr>
              <a:t>FROM OUR PROJECTS</a:t>
            </a:r>
            <a:endParaRPr lang="en-US" sz="1200" dirty="0"/>
          </a:p>
        </p:txBody>
      </p:sp>
      <p:sp>
        <p:nvSpPr>
          <p:cNvPr id="7" name="Text 4"/>
          <p:cNvSpPr/>
          <p:nvPr/>
        </p:nvSpPr>
        <p:spPr>
          <a:xfrm>
            <a:off x="603504" y="3108960"/>
            <a:ext cx="7680960" cy="822960"/>
          </a:xfrm>
          <a:prstGeom prst="rect">
            <a:avLst/>
          </a:prstGeom>
          <a:noFill/>
          <a:ln/>
        </p:spPr>
        <p:txBody>
          <a:bodyPr wrap="square" lIns="0" tIns="0" rIns="0" bIns="0" rtlCol="0" anchor="ctr"/>
          <a:lstStyle/>
          <a:p>
            <a:pPr indent="0" marL="0">
              <a:buNone/>
            </a:pPr>
            <a:r>
              <a:rPr lang="en-US" sz="4600" dirty="0">
                <a:solidFill>
                  <a:srgbClr val="FFFFFF"/>
                </a:solidFill>
                <a:latin typeface="Inter Tight Black" pitchFamily="34" charset="0"/>
                <a:ea typeface="Inter Tight Black" pitchFamily="34" charset="-122"/>
                <a:cs typeface="Inter Tight Black" pitchFamily="34" charset="-120"/>
              </a:rPr>
              <a:t>Where the power shows up</a:t>
            </a:r>
            <a:endParaRPr lang="en-US" sz="4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3504" y="603504"/>
            <a:ext cx="146304" cy="146304"/>
          </a:xfrm>
          <a:prstGeom prst="rect">
            <a:avLst/>
          </a:prstGeom>
          <a:solidFill>
            <a:srgbClr val="00D4AA"/>
          </a:solidFill>
          <a:ln/>
        </p:spPr>
      </p:sp>
      <p:sp>
        <p:nvSpPr>
          <p:cNvPr id="3" name="Text 1"/>
          <p:cNvSpPr/>
          <p:nvPr/>
        </p:nvSpPr>
        <p:spPr>
          <a:xfrm>
            <a:off x="877824" y="548640"/>
            <a:ext cx="7315200" cy="274320"/>
          </a:xfrm>
          <a:prstGeom prst="rect">
            <a:avLst/>
          </a:prstGeom>
          <a:noFill/>
          <a:ln/>
        </p:spPr>
        <p:txBody>
          <a:bodyPr wrap="square" lIns="0" tIns="0" rIns="0" bIns="0" rtlCol="0" anchor="ctr"/>
          <a:lstStyle/>
          <a:p>
            <a:pPr indent="0" marL="0">
              <a:buNone/>
            </a:pPr>
            <a:r>
              <a:rPr lang="en-US" sz="1200" spc="260" kern="0" dirty="0">
                <a:solidFill>
                  <a:srgbClr val="64748B"/>
                </a:solidFill>
                <a:latin typeface="Inter SemiBold" pitchFamily="34" charset="0"/>
                <a:ea typeface="Inter SemiBold" pitchFamily="34" charset="-122"/>
                <a:cs typeface="Inter SemiBold" pitchFamily="34" charset="-120"/>
              </a:rPr>
              <a:t>CASE  ·  BANKING KNOWLEDGE</a:t>
            </a:r>
            <a:endParaRPr lang="en-US" sz="1200" dirty="0"/>
          </a:p>
        </p:txBody>
      </p:sp>
      <p:sp>
        <p:nvSpPr>
          <p:cNvPr id="4" name="Text 2"/>
          <p:cNvSpPr/>
          <p:nvPr/>
        </p:nvSpPr>
        <p:spPr>
          <a:xfrm>
            <a:off x="603504" y="896112"/>
            <a:ext cx="5029200" cy="603504"/>
          </a:xfrm>
          <a:prstGeom prst="rect">
            <a:avLst/>
          </a:prstGeom>
          <a:noFill/>
          <a:ln/>
        </p:spPr>
        <p:txBody>
          <a:bodyPr wrap="square" lIns="0" tIns="0" rIns="0" bIns="0" rtlCol="0" anchor="ctr"/>
          <a:lstStyle/>
          <a:p>
            <a:pPr indent="0" marL="0">
              <a:buNone/>
            </a:pPr>
            <a:r>
              <a:rPr lang="en-US" sz="2800" dirty="0">
                <a:solidFill>
                  <a:srgbClr val="0A1628"/>
                </a:solidFill>
                <a:latin typeface="Inter Tight ExtraBold" pitchFamily="34" charset="0"/>
                <a:ea typeface="Inter Tight ExtraBold" pitchFamily="34" charset="-122"/>
                <a:cs typeface="Inter Tight ExtraBold" pitchFamily="34" charset="-120"/>
              </a:rPr>
              <a:t>The rulebook answers back</a:t>
            </a:r>
            <a:endParaRPr lang="en-US" sz="2800" dirty="0"/>
          </a:p>
        </p:txBody>
      </p:sp>
      <p:sp>
        <p:nvSpPr>
          <p:cNvPr id="5" name="Text 3"/>
          <p:cNvSpPr/>
          <p:nvPr/>
        </p:nvSpPr>
        <p:spPr>
          <a:xfrm>
            <a:off x="640080" y="1536192"/>
            <a:ext cx="4937760" cy="457200"/>
          </a:xfrm>
          <a:prstGeom prst="rect">
            <a:avLst/>
          </a:prstGeom>
          <a:noFill/>
          <a:ln/>
        </p:spPr>
        <p:txBody>
          <a:bodyPr wrap="square" lIns="0" tIns="0" rIns="0" bIns="0" rtlCol="0" anchor="ctr"/>
          <a:lstStyle/>
          <a:p>
            <a:pPr indent="0" marL="0">
              <a:buNone/>
            </a:pPr>
            <a:r>
              <a:rPr lang="en-US" sz="1400" dirty="0">
                <a:solidFill>
                  <a:srgbClr val="64748B"/>
                </a:solidFill>
                <a:latin typeface="Inter" pitchFamily="34" charset="0"/>
                <a:ea typeface="Inter" pitchFamily="34" charset="-122"/>
                <a:cs typeface="Inter" pitchFamily="34" charset="-120"/>
              </a:rPr>
              <a:t>A Jordanian bank: thousands of pages of circulars, policies and procedures in Arabic and English.</a:t>
            </a:r>
            <a:endParaRPr lang="en-US" sz="1400" dirty="0"/>
          </a:p>
        </p:txBody>
      </p:sp>
      <p:sp>
        <p:nvSpPr>
          <p:cNvPr id="6" name="Text 4"/>
          <p:cNvSpPr txBox="1"/>
          <p:nvPr/>
        </p:nvSpPr>
        <p:spPr>
          <a:xfrm>
            <a:off x="603504" y="2148840"/>
            <a:ext cx="4983480" cy="256032"/>
          </a:xfrm>
          <a:prstGeom prst="rect">
            <a:avLst/>
          </a:prstGeom>
          <a:noFill/>
          <a:ln/>
        </p:spPr>
        <p:txBody>
          <a:bodyPr wrap="square" lIns="0" tIns="0" rIns="0" bIns="0" rtlCol="0" anchor="ctr"/>
          <a:lstStyle/>
          <a:p>
            <a:pPr indent="0" marL="0">
              <a:buNone/>
            </a:pPr>
            <a:r>
              <a:rPr lang="en-US" sz="1100" dirty="0">
                <a:solidFill>
                  <a:srgbClr val="0066FF"/>
                </a:solidFill>
                <a:latin typeface="Inter SemiBold" pitchFamily="34" charset="0"/>
                <a:ea typeface="Inter SemiBold" pitchFamily="34" charset="-122"/>
                <a:cs typeface="Inter SemiBold" pitchFamily="34" charset="-120"/>
              </a:rPr>
              <a:t>BEFORE</a:t>
            </a:r>
            <a:endParaRPr lang="en-US" sz="1100" dirty="0"/>
          </a:p>
        </p:txBody>
      </p:sp>
      <p:sp>
        <p:nvSpPr>
          <p:cNvPr id="7" name="Text 5"/>
          <p:cNvSpPr txBox="1"/>
          <p:nvPr/>
        </p:nvSpPr>
        <p:spPr>
          <a:xfrm>
            <a:off x="603504" y="2414016"/>
            <a:ext cx="4983480" cy="475488"/>
          </a:xfrm>
          <a:prstGeom prst="rect">
            <a:avLst/>
          </a:prstGeom>
          <a:noFill/>
          <a:ln/>
        </p:spPr>
        <p:txBody>
          <a:bodyPr wrap="square" lIns="0" tIns="0" rIns="0" bIns="0" rtlCol="0" anchor="t"/>
          <a:lstStyle/>
          <a:p>
            <a:pPr indent="0" marL="0">
              <a:buNone/>
            </a:pPr>
            <a:r>
              <a:rPr lang="en-US" sz="1300" dirty="0">
                <a:solidFill>
                  <a:srgbClr val="1E293B"/>
                </a:solidFill>
                <a:latin typeface="Inter" pitchFamily="34" charset="0"/>
                <a:ea typeface="Inter" pitchFamily="34" charset="-122"/>
                <a:cs typeface="Inter" pitchFamily="34" charset="-120"/>
              </a:rPr>
              <a:t>Staff searched shared drives, or emailed compliance and waited for an answer.</a:t>
            </a:r>
            <a:endParaRPr lang="en-US" sz="1300" dirty="0"/>
          </a:p>
        </p:txBody>
      </p:sp>
      <p:sp>
        <p:nvSpPr>
          <p:cNvPr id="8" name="Text 6"/>
          <p:cNvSpPr txBox="1"/>
          <p:nvPr/>
        </p:nvSpPr>
        <p:spPr>
          <a:xfrm>
            <a:off x="603504" y="2926080"/>
            <a:ext cx="4983480" cy="256032"/>
          </a:xfrm>
          <a:prstGeom prst="rect">
            <a:avLst/>
          </a:prstGeom>
          <a:noFill/>
          <a:ln/>
        </p:spPr>
        <p:txBody>
          <a:bodyPr wrap="square" lIns="0" tIns="0" rIns="0" bIns="0" rtlCol="0" anchor="ctr"/>
          <a:lstStyle/>
          <a:p>
            <a:pPr indent="0" marL="0">
              <a:buNone/>
            </a:pPr>
            <a:r>
              <a:rPr lang="en-US" sz="1100" dirty="0">
                <a:solidFill>
                  <a:srgbClr val="0066FF"/>
                </a:solidFill>
                <a:latin typeface="Inter SemiBold" pitchFamily="34" charset="0"/>
                <a:ea typeface="Inter SemiBold" pitchFamily="34" charset="-122"/>
                <a:cs typeface="Inter SemiBold" pitchFamily="34" charset="-120"/>
              </a:rPr>
              <a:t>AFTER</a:t>
            </a:r>
            <a:endParaRPr lang="en-US" sz="1100" dirty="0"/>
          </a:p>
        </p:txBody>
      </p:sp>
      <p:sp>
        <p:nvSpPr>
          <p:cNvPr id="9" name="Text 7"/>
          <p:cNvSpPr txBox="1"/>
          <p:nvPr/>
        </p:nvSpPr>
        <p:spPr>
          <a:xfrm>
            <a:off x="603504" y="3191256"/>
            <a:ext cx="4983480" cy="475488"/>
          </a:xfrm>
          <a:prstGeom prst="rect">
            <a:avLst/>
          </a:prstGeom>
          <a:noFill/>
          <a:ln/>
        </p:spPr>
        <p:txBody>
          <a:bodyPr wrap="square" lIns="0" tIns="0" rIns="0" bIns="0" rtlCol="0" anchor="t"/>
          <a:lstStyle/>
          <a:p>
            <a:pPr indent="0" marL="0">
              <a:buNone/>
            </a:pPr>
            <a:r>
              <a:rPr lang="en-US" sz="1300" dirty="0">
                <a:solidFill>
                  <a:srgbClr val="1E293B"/>
                </a:solidFill>
                <a:latin typeface="Inter" pitchFamily="34" charset="0"/>
                <a:ea typeface="Inter" pitchFamily="34" charset="-122"/>
                <a:cs typeface="Inter" pitchFamily="34" charset="-120"/>
              </a:rPr>
              <a:t>Staff ask in Arabic or English. Every answer cites its source clause, and superseded versions stay searchable for audit.</a:t>
            </a:r>
            <a:endParaRPr lang="en-US" sz="1300" dirty="0"/>
          </a:p>
        </p:txBody>
      </p:sp>
      <p:sp>
        <p:nvSpPr>
          <p:cNvPr id="10" name="Text 8"/>
          <p:cNvSpPr txBox="1"/>
          <p:nvPr/>
        </p:nvSpPr>
        <p:spPr>
          <a:xfrm>
            <a:off x="603504" y="3703320"/>
            <a:ext cx="4983480" cy="256032"/>
          </a:xfrm>
          <a:prstGeom prst="rect">
            <a:avLst/>
          </a:prstGeom>
          <a:noFill/>
          <a:ln/>
        </p:spPr>
        <p:txBody>
          <a:bodyPr wrap="square" lIns="0" tIns="0" rIns="0" bIns="0" rtlCol="0" anchor="ctr"/>
          <a:lstStyle/>
          <a:p>
            <a:pPr indent="0" marL="0">
              <a:buNone/>
            </a:pPr>
            <a:r>
              <a:rPr lang="en-US" sz="1100" dirty="0">
                <a:solidFill>
                  <a:srgbClr val="0066FF"/>
                </a:solidFill>
                <a:latin typeface="Inter SemiBold" pitchFamily="34" charset="0"/>
                <a:ea typeface="Inter SemiBold" pitchFamily="34" charset="-122"/>
                <a:cs typeface="Inter SemiBold" pitchFamily="34" charset="-120"/>
              </a:rPr>
              <a:t>THE HARD PART</a:t>
            </a:r>
            <a:endParaRPr lang="en-US" sz="1100" dirty="0"/>
          </a:p>
        </p:txBody>
      </p:sp>
      <p:sp>
        <p:nvSpPr>
          <p:cNvPr id="11" name="Text 9"/>
          <p:cNvSpPr txBox="1"/>
          <p:nvPr/>
        </p:nvSpPr>
        <p:spPr>
          <a:xfrm>
            <a:off x="603504" y="3968496"/>
            <a:ext cx="4983480" cy="475488"/>
          </a:xfrm>
          <a:prstGeom prst="rect">
            <a:avLst/>
          </a:prstGeom>
          <a:noFill/>
          <a:ln/>
        </p:spPr>
        <p:txBody>
          <a:bodyPr wrap="square" lIns="0" tIns="0" rIns="0" bIns="0" rtlCol="0" anchor="t"/>
          <a:lstStyle/>
          <a:p>
            <a:pPr indent="0" marL="0">
              <a:buNone/>
            </a:pPr>
            <a:r>
              <a:rPr lang="en-US" sz="1300" dirty="0">
                <a:solidFill>
                  <a:srgbClr val="1E293B"/>
                </a:solidFill>
                <a:latin typeface="Inter" pitchFamily="34" charset="0"/>
                <a:ea typeface="Inter" pitchFamily="34" charset="-122"/>
                <a:cs typeface="Inter" pitchFamily="34" charset="-120"/>
              </a:rPr>
              <a:t>Cleaning documents, tagging versions and proving answers to auditors. The model was the easy part.</a:t>
            </a:r>
            <a:endParaRPr lang="en-US" sz="1300" dirty="0"/>
          </a:p>
        </p:txBody>
      </p:sp>
      <p:sp>
        <p:nvSpPr>
          <p:cNvPr id="12" name="Shape 10"/>
          <p:cNvSpPr/>
          <p:nvPr/>
        </p:nvSpPr>
        <p:spPr>
          <a:xfrm>
            <a:off x="5897880" y="0"/>
            <a:ext cx="3246120" cy="5143500"/>
          </a:xfrm>
          <a:prstGeom prst="rect">
            <a:avLst/>
          </a:prstGeom>
          <a:solidFill>
            <a:srgbClr val="0A1628"/>
          </a:solidFill>
          <a:ln/>
        </p:spPr>
      </p:sp>
      <p:sp>
        <p:nvSpPr>
          <p:cNvPr id="13" name="Text 11"/>
          <p:cNvSpPr/>
          <p:nvPr/>
        </p:nvSpPr>
        <p:spPr>
          <a:xfrm>
            <a:off x="6263640" y="822960"/>
            <a:ext cx="7315200" cy="274320"/>
          </a:xfrm>
          <a:prstGeom prst="rect">
            <a:avLst/>
          </a:prstGeom>
          <a:noFill/>
          <a:ln/>
        </p:spPr>
        <p:txBody>
          <a:bodyPr wrap="square" lIns="0" tIns="0" rIns="0" bIns="0" rtlCol="0" anchor="ctr"/>
          <a:lstStyle/>
          <a:p>
            <a:pPr indent="0" marL="0">
              <a:buNone/>
            </a:pPr>
            <a:r>
              <a:rPr lang="en-US" sz="1200" spc="260" kern="0" dirty="0">
                <a:solidFill>
                  <a:srgbClr val="00D4AA"/>
                </a:solidFill>
                <a:latin typeface="Inter SemiBold" pitchFamily="34" charset="0"/>
                <a:ea typeface="Inter SemiBold" pitchFamily="34" charset="-122"/>
                <a:cs typeface="Inter SemiBold" pitchFamily="34" charset="-120"/>
              </a:rPr>
              <a:t>SYNTHETIC QUERY</a:t>
            </a:r>
            <a:endParaRPr lang="en-US" sz="1200" dirty="0"/>
          </a:p>
        </p:txBody>
      </p:sp>
      <p:sp>
        <p:nvSpPr>
          <p:cNvPr id="14" name="Text 12"/>
          <p:cNvSpPr/>
          <p:nvPr/>
        </p:nvSpPr>
        <p:spPr>
          <a:xfrm>
            <a:off x="6263640" y="1280160"/>
            <a:ext cx="2514600" cy="246888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Inter" pitchFamily="34" charset="0"/>
                <a:ea typeface="Inter" pitchFamily="34" charset="-122"/>
                <a:cs typeface="Inter" pitchFamily="34" charset="-120"/>
              </a:rPr>
              <a:t>“Which KYC procedure applied to accounts opened in March 2024?”</a:t>
            </a:r>
            <a:endParaRPr lang="en-US" sz="1350" dirty="0"/>
          </a:p>
          <a:p>
            <a:pPr indent="0" marL="0">
              <a:lnSpc>
                <a:spcPct val="112000"/>
              </a:lnSpc>
              <a:buNone/>
            </a:pPr>
            <a:endParaRPr lang="en-US" sz="1350" dirty="0"/>
          </a:p>
          <a:p>
            <a:pPr indent="0" marL="0">
              <a:lnSpc>
                <a:spcPct val="112000"/>
              </a:lnSpc>
              <a:buNone/>
            </a:pPr>
            <a:r>
              <a:rPr lang="en-US" sz="1350" dirty="0">
                <a:solidFill>
                  <a:srgbClr val="FFFFFF"/>
                </a:solidFill>
                <a:latin typeface="Inter" pitchFamily="34" charset="0"/>
                <a:ea typeface="Inter" pitchFamily="34" charset="-122"/>
                <a:cs typeface="Inter" pitchFamily="34" charset="-120"/>
              </a:rPr>
              <a:t>Version 3.2, section 4.1, effective 1 January 2024. Replaced by version 4.0 on 1 July 2024.</a:t>
            </a:r>
            <a:endParaRPr lang="en-US" sz="1350" dirty="0"/>
          </a:p>
          <a:p>
            <a:pPr indent="0" marL="0">
              <a:lnSpc>
                <a:spcPct val="112000"/>
              </a:lnSpc>
              <a:buNone/>
            </a:pPr>
            <a:r>
              <a:rPr lang="en-US" sz="1350" dirty="0">
                <a:solidFill>
                  <a:srgbClr val="FFFFFF"/>
                </a:solidFill>
                <a:latin typeface="Inter" pitchFamily="34" charset="0"/>
                <a:ea typeface="Inter" pitchFamily="34" charset="-122"/>
                <a:cs typeface="Inter" pitchFamily="34" charset="-120"/>
              </a:rPr>
              <a:t>Source: KYC Procedure v3.2, page 14</a:t>
            </a:r>
            <a:endParaRPr lang="en-US" sz="1350" dirty="0"/>
          </a:p>
        </p:txBody>
      </p:sp>
      <p:pic>
        <p:nvPicPr>
          <p:cNvPr id="15" name="Image 0" descr="/home/claude/deck/assets/arc_faint.png">    </p:cNvPr>
          <p:cNvPicPr>
            <a:picLocks noChangeAspect="1"/>
          </p:cNvPicPr>
          <p:nvPr/>
        </p:nvPicPr>
        <p:blipFill>
          <a:blip r:embed="rId1"/>
          <a:stretch>
            <a:fillRect/>
          </a:stretch>
        </p:blipFill>
        <p:spPr>
          <a:xfrm>
            <a:off x="6217920" y="4526280"/>
            <a:ext cx="2606040" cy="384048"/>
          </a:xfrm>
          <a:prstGeom prst="rect">
            <a:avLst/>
          </a:prstGeom>
        </p:spPr>
      </p:pic>
      <p:sp>
        <p:nvSpPr>
          <p:cNvPr id="16" name="Text 13"/>
          <p:cNvSpPr/>
          <p:nvPr/>
        </p:nvSpPr>
        <p:spPr>
          <a:xfrm>
            <a:off x="6263640" y="3931920"/>
            <a:ext cx="2514600" cy="502920"/>
          </a:xfrm>
          <a:prstGeom prst="rect">
            <a:avLst/>
          </a:prstGeom>
          <a:noFill/>
          <a:ln/>
        </p:spPr>
        <p:txBody>
          <a:bodyPr wrap="square" lIns="0" tIns="0" rIns="0" bIns="0" rtlCol="0" anchor="ctr"/>
          <a:lstStyle/>
          <a:p>
            <a:pPr indent="0" marL="0">
              <a:buNone/>
            </a:pPr>
            <a:r>
              <a:rPr lang="en-US" sz="1200" dirty="0">
                <a:solidFill>
                  <a:srgbClr val="CBD5E1"/>
                </a:solidFill>
                <a:latin typeface="Inter" pitchFamily="34" charset="0"/>
                <a:ea typeface="Inter" pitchFamily="34" charset="-122"/>
                <a:cs typeface="Inter" pitchFamily="34" charset="-120"/>
              </a:rPr>
              <a:t>Built on Intrados, BRDG's retrieval product for regulated institutions.</a:t>
            </a:r>
            <a:endParaRPr lang="en-US" sz="1200" dirty="0"/>
          </a:p>
        </p:txBody>
      </p:sp>
      <p:sp>
        <p:nvSpPr>
          <p:cNvPr id="17" name="Text 14"/>
          <p:cNvSpPr/>
          <p:nvPr/>
        </p:nvSpPr>
        <p:spPr>
          <a:xfrm>
            <a:off x="603504" y="4828032"/>
            <a:ext cx="3657600" cy="228600"/>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BRDG Studio</a:t>
            </a:r>
            <a:endParaRPr lang="en-US" sz="900" dirty="0"/>
          </a:p>
        </p:txBody>
      </p:sp>
      <p:sp>
        <p:nvSpPr>
          <p:cNvPr id="18" name="Text 15"/>
          <p:cNvSpPr/>
          <p:nvPr/>
        </p:nvSpPr>
        <p:spPr>
          <a:xfrm>
            <a:off x="4882896" y="4828032"/>
            <a:ext cx="3657600" cy="228600"/>
          </a:xfrm>
          <a:prstGeom prst="rect">
            <a:avLst/>
          </a:prstGeom>
          <a:noFill/>
          <a:ln/>
        </p:spPr>
        <p:txBody>
          <a:bodyPr wrap="square" lIns="0" tIns="0" rIns="0" bIns="0" rtlCol="0" anchor="ctr"/>
          <a:lstStyle/>
          <a:p>
            <a:pPr algn="r" indent="0" marL="0">
              <a:buNone/>
            </a:pPr>
            <a:r>
              <a:rPr lang="en-US" sz="900" dirty="0">
                <a:solidFill>
                  <a:srgbClr val="94A3B8"/>
                </a:solidFill>
                <a:latin typeface="Inter" pitchFamily="34" charset="0"/>
                <a:ea typeface="Inter" pitchFamily="34" charset="-122"/>
                <a:cs typeface="Inter" pitchFamily="34" charset="-120"/>
              </a:rPr>
              <a:t>ITAIF 2026  ·  The power of AI in business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3504" y="603504"/>
            <a:ext cx="146304" cy="146304"/>
          </a:xfrm>
          <a:prstGeom prst="rect">
            <a:avLst/>
          </a:prstGeom>
          <a:solidFill>
            <a:srgbClr val="00D4AA"/>
          </a:solidFill>
          <a:ln/>
        </p:spPr>
      </p:sp>
      <p:sp>
        <p:nvSpPr>
          <p:cNvPr id="3" name="Text 1"/>
          <p:cNvSpPr/>
          <p:nvPr/>
        </p:nvSpPr>
        <p:spPr>
          <a:xfrm>
            <a:off x="877824" y="548640"/>
            <a:ext cx="7315200" cy="274320"/>
          </a:xfrm>
          <a:prstGeom prst="rect">
            <a:avLst/>
          </a:prstGeom>
          <a:noFill/>
          <a:ln/>
        </p:spPr>
        <p:txBody>
          <a:bodyPr wrap="square" lIns="0" tIns="0" rIns="0" bIns="0" rtlCol="0" anchor="ctr"/>
          <a:lstStyle/>
          <a:p>
            <a:pPr indent="0" marL="0">
              <a:buNone/>
            </a:pPr>
            <a:r>
              <a:rPr lang="en-US" sz="1200" spc="260" kern="0" dirty="0">
                <a:solidFill>
                  <a:srgbClr val="64748B"/>
                </a:solidFill>
                <a:latin typeface="Inter SemiBold" pitchFamily="34" charset="0"/>
                <a:ea typeface="Inter SemiBold" pitchFamily="34" charset="-122"/>
                <a:cs typeface="Inter SemiBold" pitchFamily="34" charset="-120"/>
              </a:rPr>
              <a:t>CASE  ·  INTERNAL AUDIT</a:t>
            </a:r>
            <a:endParaRPr lang="en-US" sz="1200" dirty="0"/>
          </a:p>
        </p:txBody>
      </p:sp>
      <p:sp>
        <p:nvSpPr>
          <p:cNvPr id="4" name="Text 2"/>
          <p:cNvSpPr/>
          <p:nvPr/>
        </p:nvSpPr>
        <p:spPr>
          <a:xfrm>
            <a:off x="603504" y="896112"/>
            <a:ext cx="7955280" cy="603504"/>
          </a:xfrm>
          <a:prstGeom prst="rect">
            <a:avLst/>
          </a:prstGeom>
          <a:noFill/>
          <a:ln/>
        </p:spPr>
        <p:txBody>
          <a:bodyPr wrap="square" lIns="0" tIns="0" rIns="0" bIns="0" rtlCol="0" anchor="ctr"/>
          <a:lstStyle/>
          <a:p>
            <a:pPr indent="0" marL="0">
              <a:buNone/>
            </a:pPr>
            <a:r>
              <a:rPr lang="en-US" sz="2800" dirty="0">
                <a:solidFill>
                  <a:srgbClr val="0A1628"/>
                </a:solidFill>
                <a:latin typeface="Inter Tight ExtraBold" pitchFamily="34" charset="0"/>
                <a:ea typeface="Inter Tight ExtraBold" pitchFamily="34" charset="-122"/>
                <a:cs typeface="Inter Tight ExtraBold" pitchFamily="34" charset="-120"/>
              </a:rPr>
              <a:t>Every file checked, instead of a sample</a:t>
            </a:r>
            <a:endParaRPr lang="en-US" sz="2800" dirty="0"/>
          </a:p>
        </p:txBody>
      </p:sp>
      <p:sp>
        <p:nvSpPr>
          <p:cNvPr id="5" name="Text 3"/>
          <p:cNvSpPr/>
          <p:nvPr/>
        </p:nvSpPr>
        <p:spPr>
          <a:xfrm>
            <a:off x="640080" y="1536192"/>
            <a:ext cx="7772400" cy="457200"/>
          </a:xfrm>
          <a:prstGeom prst="rect">
            <a:avLst/>
          </a:prstGeom>
          <a:noFill/>
          <a:ln/>
        </p:spPr>
        <p:txBody>
          <a:bodyPr wrap="square" lIns="0" tIns="0" rIns="0" bIns="0" rtlCol="0" anchor="ctr"/>
          <a:lstStyle/>
          <a:p>
            <a:pPr indent="0" marL="0">
              <a:buNone/>
            </a:pPr>
            <a:r>
              <a:rPr lang="en-US" sz="1400" dirty="0">
                <a:solidFill>
                  <a:srgbClr val="64748B"/>
                </a:solidFill>
                <a:latin typeface="Inter" pitchFamily="34" charset="0"/>
                <a:ea typeface="Inter" pitchFamily="34" charset="-122"/>
                <a:cs typeface="Inter" pitchFamily="34" charset="-120"/>
              </a:rPr>
              <a:t>Audit proof of concept for a Jordanian customs clearance and logistics company</a:t>
            </a:r>
            <a:endParaRPr lang="en-US" sz="1400" dirty="0"/>
          </a:p>
        </p:txBody>
      </p:sp>
      <p:pic>
        <p:nvPicPr>
          <p:cNvPr id="6" name="Image 0" descr="/home/claude/deck/diagrams/audit_sample_vs_full.png">    </p:cNvPr>
          <p:cNvPicPr>
            <a:picLocks noChangeAspect="1"/>
          </p:cNvPicPr>
          <p:nvPr/>
        </p:nvPicPr>
        <p:blipFill>
          <a:blip r:embed="rId1"/>
          <a:stretch>
            <a:fillRect/>
          </a:stretch>
        </p:blipFill>
        <p:spPr>
          <a:xfrm>
            <a:off x="603504" y="2057400"/>
            <a:ext cx="6272784" cy="2240280"/>
          </a:xfrm>
          <a:prstGeom prst="rect">
            <a:avLst/>
          </a:prstGeom>
        </p:spPr>
      </p:pic>
      <p:sp>
        <p:nvSpPr>
          <p:cNvPr id="7" name="Text 4"/>
          <p:cNvSpPr txBox="1"/>
          <p:nvPr/>
        </p:nvSpPr>
        <p:spPr>
          <a:xfrm>
            <a:off x="603504" y="4370832"/>
            <a:ext cx="7955280" cy="320040"/>
          </a:xfrm>
          <a:prstGeom prst="rect">
            <a:avLst/>
          </a:prstGeom>
          <a:noFill/>
          <a:ln/>
        </p:spPr>
        <p:txBody>
          <a:bodyPr wrap="square" lIns="0" tIns="0" rIns="0" bIns="0" rtlCol="0" anchor="ctr"/>
          <a:lstStyle/>
          <a:p>
            <a:pPr indent="0" marL="0">
              <a:buNone/>
            </a:pPr>
            <a:r>
              <a:rPr lang="en-US" sz="1200" dirty="0">
                <a:solidFill>
                  <a:srgbClr val="1E293B"/>
                </a:solidFill>
                <a:latin typeface="Inter" pitchFamily="34" charset="0"/>
                <a:ea typeface="Inter" pitchFamily="34" charset="-122"/>
                <a:cs typeface="Inter" pitchFamily="34" charset="-120"/>
              </a:rPr>
              <a:t>Illustrative figures. The auditor reviews every flag and signs the finding.</a:t>
            </a:r>
            <a:endParaRPr lang="en-US" sz="1200" dirty="0"/>
          </a:p>
        </p:txBody>
      </p:sp>
      <p:sp>
        <p:nvSpPr>
          <p:cNvPr id="8" name="Text 5"/>
          <p:cNvSpPr/>
          <p:nvPr/>
        </p:nvSpPr>
        <p:spPr>
          <a:xfrm>
            <a:off x="603504" y="4828032"/>
            <a:ext cx="3657600" cy="228600"/>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BRDG Studio</a:t>
            </a:r>
            <a:endParaRPr lang="en-US" sz="900" dirty="0"/>
          </a:p>
        </p:txBody>
      </p:sp>
      <p:sp>
        <p:nvSpPr>
          <p:cNvPr id="9" name="Text 6"/>
          <p:cNvSpPr/>
          <p:nvPr/>
        </p:nvSpPr>
        <p:spPr>
          <a:xfrm>
            <a:off x="4882896" y="4828032"/>
            <a:ext cx="3657600" cy="228600"/>
          </a:xfrm>
          <a:prstGeom prst="rect">
            <a:avLst/>
          </a:prstGeom>
          <a:noFill/>
          <a:ln/>
        </p:spPr>
        <p:txBody>
          <a:bodyPr wrap="square" lIns="0" tIns="0" rIns="0" bIns="0" rtlCol="0" anchor="ctr"/>
          <a:lstStyle/>
          <a:p>
            <a:pPr algn="r" indent="0" marL="0">
              <a:buNone/>
            </a:pPr>
            <a:r>
              <a:rPr lang="en-US" sz="900" dirty="0">
                <a:solidFill>
                  <a:srgbClr val="94A3B8"/>
                </a:solidFill>
                <a:latin typeface="Inter" pitchFamily="34" charset="0"/>
                <a:ea typeface="Inter" pitchFamily="34" charset="-122"/>
                <a:cs typeface="Inter" pitchFamily="34" charset="-120"/>
              </a:rPr>
              <a:t>ITAIF 2026  ·  The power of AI in business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3504" y="603504"/>
            <a:ext cx="146304" cy="146304"/>
          </a:xfrm>
          <a:prstGeom prst="rect">
            <a:avLst/>
          </a:prstGeom>
          <a:solidFill>
            <a:srgbClr val="00D4AA"/>
          </a:solidFill>
          <a:ln/>
        </p:spPr>
      </p:sp>
      <p:sp>
        <p:nvSpPr>
          <p:cNvPr id="3" name="Text 1"/>
          <p:cNvSpPr/>
          <p:nvPr/>
        </p:nvSpPr>
        <p:spPr>
          <a:xfrm>
            <a:off x="877824" y="548640"/>
            <a:ext cx="7315200" cy="274320"/>
          </a:xfrm>
          <a:prstGeom prst="rect">
            <a:avLst/>
          </a:prstGeom>
          <a:noFill/>
          <a:ln/>
        </p:spPr>
        <p:txBody>
          <a:bodyPr wrap="square" lIns="0" tIns="0" rIns="0" bIns="0" rtlCol="0" anchor="ctr"/>
          <a:lstStyle/>
          <a:p>
            <a:pPr indent="0" marL="0">
              <a:buNone/>
            </a:pPr>
            <a:r>
              <a:rPr lang="en-US" sz="1200" spc="260" kern="0" dirty="0">
                <a:solidFill>
                  <a:srgbClr val="64748B"/>
                </a:solidFill>
                <a:latin typeface="Inter SemiBold" pitchFamily="34" charset="0"/>
                <a:ea typeface="Inter SemiBold" pitchFamily="34" charset="-122"/>
                <a:cs typeface="Inter SemiBold" pitchFamily="34" charset="-120"/>
              </a:rPr>
              <a:t>CASE  ·  HOW WE BUILD SOFTWARE</a:t>
            </a:r>
            <a:endParaRPr lang="en-US" sz="1200" dirty="0"/>
          </a:p>
        </p:txBody>
      </p:sp>
      <p:sp>
        <p:nvSpPr>
          <p:cNvPr id="4" name="Text 2"/>
          <p:cNvSpPr/>
          <p:nvPr/>
        </p:nvSpPr>
        <p:spPr>
          <a:xfrm>
            <a:off x="603504" y="896112"/>
            <a:ext cx="7955280" cy="603504"/>
          </a:xfrm>
          <a:prstGeom prst="rect">
            <a:avLst/>
          </a:prstGeom>
          <a:noFill/>
          <a:ln/>
        </p:spPr>
        <p:txBody>
          <a:bodyPr wrap="square" lIns="0" tIns="0" rIns="0" bIns="0" rtlCol="0" anchor="ctr"/>
          <a:lstStyle/>
          <a:p>
            <a:pPr indent="0" marL="0">
              <a:buNone/>
            </a:pPr>
            <a:r>
              <a:rPr lang="en-US" sz="2800" dirty="0">
                <a:solidFill>
                  <a:srgbClr val="0A1628"/>
                </a:solidFill>
                <a:latin typeface="Inter Tight ExtraBold" pitchFamily="34" charset="0"/>
                <a:ea typeface="Inter Tight ExtraBold" pitchFamily="34" charset="-122"/>
                <a:cs typeface="Inter Tight ExtraBold" pitchFamily="34" charset="-120"/>
              </a:rPr>
              <a:t>A small team directing many agents</a:t>
            </a:r>
            <a:endParaRPr lang="en-US" sz="2800" dirty="0"/>
          </a:p>
        </p:txBody>
      </p:sp>
      <p:sp>
        <p:nvSpPr>
          <p:cNvPr id="5" name="Text 3"/>
          <p:cNvSpPr/>
          <p:nvPr/>
        </p:nvSpPr>
        <p:spPr>
          <a:xfrm>
            <a:off x="640080" y="1536192"/>
            <a:ext cx="7772400" cy="457200"/>
          </a:xfrm>
          <a:prstGeom prst="rect">
            <a:avLst/>
          </a:prstGeom>
          <a:noFill/>
          <a:ln/>
        </p:spPr>
        <p:txBody>
          <a:bodyPr wrap="square" lIns="0" tIns="0" rIns="0" bIns="0" rtlCol="0" anchor="ctr"/>
          <a:lstStyle/>
          <a:p>
            <a:pPr indent="0" marL="0">
              <a:buNone/>
            </a:pPr>
            <a:r>
              <a:rPr lang="en-US" sz="1400" dirty="0">
                <a:solidFill>
                  <a:srgbClr val="64748B"/>
                </a:solidFill>
                <a:latin typeface="Inter" pitchFamily="34" charset="0"/>
                <a:ea typeface="Inter" pitchFamily="34" charset="-122"/>
                <a:cs typeface="Inter" pitchFamily="34" charset="-120"/>
              </a:rPr>
              <a:t>AODC is the method BRDG uses to ship production software in 8 to 16 weeks</a:t>
            </a:r>
            <a:endParaRPr lang="en-US" sz="1400" dirty="0"/>
          </a:p>
        </p:txBody>
      </p:sp>
      <p:pic>
        <p:nvPicPr>
          <p:cNvPr id="6" name="Image 0" descr="/home/claude/deck/diagrams/aodc_surge_flow_wave.png">    </p:cNvPr>
          <p:cNvPicPr>
            <a:picLocks noChangeAspect="1"/>
          </p:cNvPicPr>
          <p:nvPr/>
        </p:nvPicPr>
        <p:blipFill>
          <a:blip r:embed="rId1"/>
          <a:stretch>
            <a:fillRect/>
          </a:stretch>
        </p:blipFill>
        <p:spPr>
          <a:xfrm>
            <a:off x="603504" y="1965960"/>
            <a:ext cx="7132320" cy="2292401"/>
          </a:xfrm>
          <a:prstGeom prst="rect">
            <a:avLst/>
          </a:prstGeom>
        </p:spPr>
      </p:pic>
      <p:sp>
        <p:nvSpPr>
          <p:cNvPr id="7" name="Text 4"/>
          <p:cNvSpPr txBox="1"/>
          <p:nvPr/>
        </p:nvSpPr>
        <p:spPr>
          <a:xfrm>
            <a:off x="603504" y="4389120"/>
            <a:ext cx="7955280" cy="320040"/>
          </a:xfrm>
          <a:prstGeom prst="rect">
            <a:avLst/>
          </a:prstGeom>
          <a:noFill/>
          <a:ln/>
        </p:spPr>
        <p:txBody>
          <a:bodyPr wrap="square" lIns="0" tIns="0" rIns="0" bIns="0" rtlCol="0" anchor="ctr"/>
          <a:lstStyle/>
          <a:p>
            <a:pPr indent="0" marL="0">
              <a:buNone/>
            </a:pPr>
            <a:r>
              <a:rPr lang="en-US" sz="1200" dirty="0">
                <a:solidFill>
                  <a:srgbClr val="1E293B"/>
                </a:solidFill>
                <a:latin typeface="Inter" pitchFamily="34" charset="0"/>
                <a:ea typeface="Inter" pitchFamily="34" charset="-122"/>
                <a:cs typeface="Inter" pitchFamily="34" charset="-120"/>
              </a:rPr>
              <a:t>People write the specification and own the quality gate. Agents build inside each Wave.</a:t>
            </a:r>
            <a:endParaRPr lang="en-US" sz="1200" dirty="0"/>
          </a:p>
        </p:txBody>
      </p:sp>
      <p:sp>
        <p:nvSpPr>
          <p:cNvPr id="8" name="Text 5"/>
          <p:cNvSpPr/>
          <p:nvPr/>
        </p:nvSpPr>
        <p:spPr>
          <a:xfrm>
            <a:off x="603504" y="4828032"/>
            <a:ext cx="3657600" cy="228600"/>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BRDG Studio</a:t>
            </a:r>
            <a:endParaRPr lang="en-US" sz="900" dirty="0"/>
          </a:p>
        </p:txBody>
      </p:sp>
      <p:sp>
        <p:nvSpPr>
          <p:cNvPr id="9" name="Text 6"/>
          <p:cNvSpPr/>
          <p:nvPr/>
        </p:nvSpPr>
        <p:spPr>
          <a:xfrm>
            <a:off x="4882896" y="4828032"/>
            <a:ext cx="3657600" cy="228600"/>
          </a:xfrm>
          <a:prstGeom prst="rect">
            <a:avLst/>
          </a:prstGeom>
          <a:noFill/>
          <a:ln/>
        </p:spPr>
        <p:txBody>
          <a:bodyPr wrap="square" lIns="0" tIns="0" rIns="0" bIns="0" rtlCol="0" anchor="ctr"/>
          <a:lstStyle/>
          <a:p>
            <a:pPr algn="r" indent="0" marL="0">
              <a:buNone/>
            </a:pPr>
            <a:r>
              <a:rPr lang="en-US" sz="900" dirty="0">
                <a:solidFill>
                  <a:srgbClr val="94A3B8"/>
                </a:solidFill>
                <a:latin typeface="Inter" pitchFamily="34" charset="0"/>
                <a:ea typeface="Inter" pitchFamily="34" charset="-122"/>
                <a:cs typeface="Inter" pitchFamily="34" charset="-120"/>
              </a:rPr>
              <a:t>ITAIF 2026  ·  The power of AI in business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3504" y="603504"/>
            <a:ext cx="146304" cy="146304"/>
          </a:xfrm>
          <a:prstGeom prst="rect">
            <a:avLst/>
          </a:prstGeom>
          <a:solidFill>
            <a:srgbClr val="00D4AA"/>
          </a:solidFill>
          <a:ln/>
        </p:spPr>
      </p:sp>
      <p:sp>
        <p:nvSpPr>
          <p:cNvPr id="3" name="Text 1"/>
          <p:cNvSpPr/>
          <p:nvPr/>
        </p:nvSpPr>
        <p:spPr>
          <a:xfrm>
            <a:off x="877824" y="548640"/>
            <a:ext cx="7315200" cy="274320"/>
          </a:xfrm>
          <a:prstGeom prst="rect">
            <a:avLst/>
          </a:prstGeom>
          <a:noFill/>
          <a:ln/>
        </p:spPr>
        <p:txBody>
          <a:bodyPr wrap="square" lIns="0" tIns="0" rIns="0" bIns="0" rtlCol="0" anchor="ctr"/>
          <a:lstStyle/>
          <a:p>
            <a:pPr indent="0" marL="0">
              <a:buNone/>
            </a:pPr>
            <a:r>
              <a:rPr lang="en-US" sz="1200" spc="260" kern="0" dirty="0">
                <a:solidFill>
                  <a:srgbClr val="64748B"/>
                </a:solidFill>
                <a:latin typeface="Inter SemiBold" pitchFamily="34" charset="0"/>
                <a:ea typeface="Inter SemiBold" pitchFamily="34" charset="-122"/>
                <a:cs typeface="Inter SemiBold" pitchFamily="34" charset="-120"/>
              </a:rPr>
              <a:t>CASE  ·  AI INSIDE A BANK</a:t>
            </a:r>
            <a:endParaRPr lang="en-US" sz="1200" dirty="0"/>
          </a:p>
        </p:txBody>
      </p:sp>
      <p:sp>
        <p:nvSpPr>
          <p:cNvPr id="4" name="Text 2"/>
          <p:cNvSpPr/>
          <p:nvPr/>
        </p:nvSpPr>
        <p:spPr>
          <a:xfrm>
            <a:off x="603504" y="896112"/>
            <a:ext cx="5029200" cy="603504"/>
          </a:xfrm>
          <a:prstGeom prst="rect">
            <a:avLst/>
          </a:prstGeom>
          <a:noFill/>
          <a:ln/>
        </p:spPr>
        <p:txBody>
          <a:bodyPr wrap="square" lIns="0" tIns="0" rIns="0" bIns="0" rtlCol="0" anchor="ctr"/>
          <a:lstStyle/>
          <a:p>
            <a:pPr indent="0" marL="0">
              <a:buNone/>
            </a:pPr>
            <a:r>
              <a:rPr lang="en-US" sz="2800" dirty="0">
                <a:solidFill>
                  <a:srgbClr val="0A1628"/>
                </a:solidFill>
                <a:latin typeface="Inter Tight ExtraBold" pitchFamily="34" charset="0"/>
                <a:ea typeface="Inter Tight ExtraBold" pitchFamily="34" charset="-122"/>
                <a:cs typeface="Inter Tight ExtraBold" pitchFamily="34" charset="-120"/>
              </a:rPr>
              <a:t>The model stays in the bank</a:t>
            </a:r>
            <a:endParaRPr lang="en-US" sz="2800" dirty="0"/>
          </a:p>
        </p:txBody>
      </p:sp>
      <p:sp>
        <p:nvSpPr>
          <p:cNvPr id="5" name="Text 3"/>
          <p:cNvSpPr/>
          <p:nvPr/>
        </p:nvSpPr>
        <p:spPr>
          <a:xfrm>
            <a:off x="640080" y="1536192"/>
            <a:ext cx="4937760" cy="457200"/>
          </a:xfrm>
          <a:prstGeom prst="rect">
            <a:avLst/>
          </a:prstGeom>
          <a:noFill/>
          <a:ln/>
        </p:spPr>
        <p:txBody>
          <a:bodyPr wrap="square" lIns="0" tIns="0" rIns="0" bIns="0" rtlCol="0" anchor="ctr"/>
          <a:lstStyle/>
          <a:p>
            <a:pPr indent="0" marL="0">
              <a:buNone/>
            </a:pPr>
            <a:r>
              <a:rPr lang="en-US" sz="1400" dirty="0">
                <a:solidFill>
                  <a:srgbClr val="64748B"/>
                </a:solidFill>
                <a:latin typeface="Inter" pitchFamily="34" charset="0"/>
                <a:ea typeface="Inter" pitchFamily="34" charset="-122"/>
                <a:cs typeface="Inter" pitchFamily="34" charset="-120"/>
              </a:rPr>
              <a:t>A Jordanian bank wanted AI on its own servers, with no customer data leaving its walls.</a:t>
            </a:r>
            <a:endParaRPr lang="en-US" sz="1400" dirty="0"/>
          </a:p>
        </p:txBody>
      </p:sp>
      <p:sp>
        <p:nvSpPr>
          <p:cNvPr id="6" name="Text 4"/>
          <p:cNvSpPr txBox="1"/>
          <p:nvPr/>
        </p:nvSpPr>
        <p:spPr>
          <a:xfrm>
            <a:off x="603504" y="2148840"/>
            <a:ext cx="4983480" cy="256032"/>
          </a:xfrm>
          <a:prstGeom prst="rect">
            <a:avLst/>
          </a:prstGeom>
          <a:noFill/>
          <a:ln/>
        </p:spPr>
        <p:txBody>
          <a:bodyPr wrap="square" lIns="0" tIns="0" rIns="0" bIns="0" rtlCol="0" anchor="ctr"/>
          <a:lstStyle/>
          <a:p>
            <a:pPr indent="0" marL="0">
              <a:buNone/>
            </a:pPr>
            <a:r>
              <a:rPr lang="en-US" sz="1100" dirty="0">
                <a:solidFill>
                  <a:srgbClr val="0066FF"/>
                </a:solidFill>
                <a:latin typeface="Inter SemiBold" pitchFamily="34" charset="0"/>
                <a:ea typeface="Inter SemiBold" pitchFamily="34" charset="-122"/>
                <a:cs typeface="Inter SemiBold" pitchFamily="34" charset="-120"/>
              </a:rPr>
              <a:t>MODEL</a:t>
            </a:r>
            <a:endParaRPr lang="en-US" sz="1100" dirty="0"/>
          </a:p>
        </p:txBody>
      </p:sp>
      <p:sp>
        <p:nvSpPr>
          <p:cNvPr id="7" name="Text 5"/>
          <p:cNvSpPr txBox="1"/>
          <p:nvPr/>
        </p:nvSpPr>
        <p:spPr>
          <a:xfrm>
            <a:off x="603504" y="2414016"/>
            <a:ext cx="4983480" cy="475488"/>
          </a:xfrm>
          <a:prstGeom prst="rect">
            <a:avLst/>
          </a:prstGeom>
          <a:noFill/>
          <a:ln/>
        </p:spPr>
        <p:txBody>
          <a:bodyPr wrap="square" lIns="0" tIns="0" rIns="0" bIns="0" rtlCol="0" anchor="t"/>
          <a:lstStyle/>
          <a:p>
            <a:pPr indent="0" marL="0">
              <a:buNone/>
            </a:pPr>
            <a:r>
              <a:rPr lang="en-US" sz="1300" dirty="0">
                <a:solidFill>
                  <a:srgbClr val="1E293B"/>
                </a:solidFill>
                <a:latin typeface="Inter" pitchFamily="34" charset="0"/>
                <a:ea typeface="Inter" pitchFamily="34" charset="-122"/>
                <a:cs typeface="Inter" pitchFamily="34" charset="-120"/>
              </a:rPr>
              <a:t>An open-weight model with 30 billion parameters, on the bank's own hardware.</a:t>
            </a:r>
            <a:endParaRPr lang="en-US" sz="1300" dirty="0"/>
          </a:p>
        </p:txBody>
      </p:sp>
      <p:sp>
        <p:nvSpPr>
          <p:cNvPr id="8" name="Text 6"/>
          <p:cNvSpPr txBox="1"/>
          <p:nvPr/>
        </p:nvSpPr>
        <p:spPr>
          <a:xfrm>
            <a:off x="603504" y="2926080"/>
            <a:ext cx="4983480" cy="256032"/>
          </a:xfrm>
          <a:prstGeom prst="rect">
            <a:avLst/>
          </a:prstGeom>
          <a:noFill/>
          <a:ln/>
        </p:spPr>
        <p:txBody>
          <a:bodyPr wrap="square" lIns="0" tIns="0" rIns="0" bIns="0" rtlCol="0" anchor="ctr"/>
          <a:lstStyle/>
          <a:p>
            <a:pPr indent="0" marL="0">
              <a:buNone/>
            </a:pPr>
            <a:r>
              <a:rPr lang="en-US" sz="1100" dirty="0">
                <a:solidFill>
                  <a:srgbClr val="0066FF"/>
                </a:solidFill>
                <a:latin typeface="Inter SemiBold" pitchFamily="34" charset="0"/>
                <a:ea typeface="Inter SemiBold" pitchFamily="34" charset="-122"/>
                <a:cs typeface="Inter SemiBold" pitchFamily="34" charset="-120"/>
              </a:rPr>
              <a:t>SEARCH</a:t>
            </a:r>
            <a:endParaRPr lang="en-US" sz="1100" dirty="0"/>
          </a:p>
        </p:txBody>
      </p:sp>
      <p:sp>
        <p:nvSpPr>
          <p:cNvPr id="9" name="Text 7"/>
          <p:cNvSpPr txBox="1"/>
          <p:nvPr/>
        </p:nvSpPr>
        <p:spPr>
          <a:xfrm>
            <a:off x="603504" y="3191256"/>
            <a:ext cx="4983480" cy="475488"/>
          </a:xfrm>
          <a:prstGeom prst="rect">
            <a:avLst/>
          </a:prstGeom>
          <a:noFill/>
          <a:ln/>
        </p:spPr>
        <p:txBody>
          <a:bodyPr wrap="square" lIns="0" tIns="0" rIns="0" bIns="0" rtlCol="0" anchor="t"/>
          <a:lstStyle/>
          <a:p>
            <a:pPr indent="0" marL="0">
              <a:buNone/>
            </a:pPr>
            <a:r>
              <a:rPr lang="en-US" sz="1300" dirty="0">
                <a:solidFill>
                  <a:srgbClr val="1E293B"/>
                </a:solidFill>
                <a:latin typeface="Inter" pitchFamily="34" charset="0"/>
                <a:ea typeface="Inter" pitchFamily="34" charset="-122"/>
                <a:cs typeface="Inter" pitchFamily="34" charset="-120"/>
              </a:rPr>
              <a:t>Multilingual retrieval over Arabic and English documents in one index.</a:t>
            </a:r>
            <a:endParaRPr lang="en-US" sz="1300" dirty="0"/>
          </a:p>
        </p:txBody>
      </p:sp>
      <p:sp>
        <p:nvSpPr>
          <p:cNvPr id="10" name="Text 8"/>
          <p:cNvSpPr txBox="1"/>
          <p:nvPr/>
        </p:nvSpPr>
        <p:spPr>
          <a:xfrm>
            <a:off x="603504" y="3703320"/>
            <a:ext cx="4983480" cy="256032"/>
          </a:xfrm>
          <a:prstGeom prst="rect">
            <a:avLst/>
          </a:prstGeom>
          <a:noFill/>
          <a:ln/>
        </p:spPr>
        <p:txBody>
          <a:bodyPr wrap="square" lIns="0" tIns="0" rIns="0" bIns="0" rtlCol="0" anchor="ctr"/>
          <a:lstStyle/>
          <a:p>
            <a:pPr indent="0" marL="0">
              <a:buNone/>
            </a:pPr>
            <a:r>
              <a:rPr lang="en-US" sz="1100" dirty="0">
                <a:solidFill>
                  <a:srgbClr val="0066FF"/>
                </a:solidFill>
                <a:latin typeface="Inter SemiBold" pitchFamily="34" charset="0"/>
                <a:ea typeface="Inter SemiBold" pitchFamily="34" charset="-122"/>
                <a:cs typeface="Inter SemiBold" pitchFamily="34" charset="-120"/>
              </a:rPr>
              <a:t>CONTROLS</a:t>
            </a:r>
            <a:endParaRPr lang="en-US" sz="1100" dirty="0"/>
          </a:p>
        </p:txBody>
      </p:sp>
      <p:sp>
        <p:nvSpPr>
          <p:cNvPr id="11" name="Text 9"/>
          <p:cNvSpPr txBox="1"/>
          <p:nvPr/>
        </p:nvSpPr>
        <p:spPr>
          <a:xfrm>
            <a:off x="603504" y="3968496"/>
            <a:ext cx="4983480" cy="475488"/>
          </a:xfrm>
          <a:prstGeom prst="rect">
            <a:avLst/>
          </a:prstGeom>
          <a:noFill/>
          <a:ln/>
        </p:spPr>
        <p:txBody>
          <a:bodyPr wrap="square" lIns="0" tIns="0" rIns="0" bIns="0" rtlCol="0" anchor="t"/>
          <a:lstStyle/>
          <a:p>
            <a:pPr indent="0" marL="0">
              <a:buNone/>
            </a:pPr>
            <a:r>
              <a:rPr lang="en-US" sz="1300" dirty="0">
                <a:solidFill>
                  <a:srgbClr val="1E293B"/>
                </a:solidFill>
                <a:latin typeface="Inter" pitchFamily="34" charset="0"/>
                <a:ea typeface="Inter" pitchFamily="34" charset="-122"/>
                <a:cs typeface="Inter" pitchFamily="34" charset="-120"/>
              </a:rPr>
              <a:t>Each use case classified against the risk tiers in the Central Bank of Jordan's 2025 AI framework.</a:t>
            </a:r>
            <a:endParaRPr lang="en-US" sz="1300" dirty="0"/>
          </a:p>
        </p:txBody>
      </p:sp>
      <p:sp>
        <p:nvSpPr>
          <p:cNvPr id="12" name="Shape 10"/>
          <p:cNvSpPr/>
          <p:nvPr/>
        </p:nvSpPr>
        <p:spPr>
          <a:xfrm>
            <a:off x="5897880" y="0"/>
            <a:ext cx="3246120" cy="5143500"/>
          </a:xfrm>
          <a:prstGeom prst="rect">
            <a:avLst/>
          </a:prstGeom>
          <a:solidFill>
            <a:srgbClr val="0A1628"/>
          </a:solidFill>
          <a:ln/>
        </p:spPr>
      </p:sp>
      <p:sp>
        <p:nvSpPr>
          <p:cNvPr id="13" name="Text 11"/>
          <p:cNvSpPr/>
          <p:nvPr/>
        </p:nvSpPr>
        <p:spPr>
          <a:xfrm>
            <a:off x="6263640" y="822960"/>
            <a:ext cx="7315200" cy="274320"/>
          </a:xfrm>
          <a:prstGeom prst="rect">
            <a:avLst/>
          </a:prstGeom>
          <a:noFill/>
          <a:ln/>
        </p:spPr>
        <p:txBody>
          <a:bodyPr wrap="square" lIns="0" tIns="0" rIns="0" bIns="0" rtlCol="0" anchor="ctr"/>
          <a:lstStyle/>
          <a:p>
            <a:pPr indent="0" marL="0">
              <a:buNone/>
            </a:pPr>
            <a:r>
              <a:rPr lang="en-US" sz="1200" spc="260" kern="0" dirty="0">
                <a:solidFill>
                  <a:srgbClr val="00D4AA"/>
                </a:solidFill>
                <a:latin typeface="Inter SemiBold" pitchFamily="34" charset="0"/>
                <a:ea typeface="Inter SemiBold" pitchFamily="34" charset="-122"/>
                <a:cs typeface="Inter SemiBold" pitchFamily="34" charset="-120"/>
              </a:rPr>
              <a:t>WHY IT MATTERS</a:t>
            </a:r>
            <a:endParaRPr lang="en-US" sz="1200" dirty="0"/>
          </a:p>
        </p:txBody>
      </p:sp>
      <p:sp>
        <p:nvSpPr>
          <p:cNvPr id="14" name="Text 12"/>
          <p:cNvSpPr/>
          <p:nvPr/>
        </p:nvSpPr>
        <p:spPr>
          <a:xfrm>
            <a:off x="6263640" y="1280160"/>
            <a:ext cx="2514600" cy="2468880"/>
          </a:xfrm>
          <a:prstGeom prst="rect">
            <a:avLst/>
          </a:prstGeom>
          <a:noFill/>
          <a:ln/>
        </p:spPr>
        <p:txBody>
          <a:bodyPr wrap="square" lIns="0" tIns="0" rIns="0" bIns="0" rtlCol="0" anchor="ctr"/>
          <a:lstStyle/>
          <a:p>
            <a:pPr indent="0" marL="0">
              <a:lnSpc>
                <a:spcPct val="112000"/>
              </a:lnSpc>
              <a:buNone/>
            </a:pPr>
            <a:r>
              <a:rPr lang="en-US" sz="1400" dirty="0">
                <a:solidFill>
                  <a:srgbClr val="FFFFFF"/>
                </a:solidFill>
                <a:latin typeface="Inter" pitchFamily="34" charset="0"/>
                <a:ea typeface="Inter" pitchFamily="34" charset="-122"/>
                <a:cs typeface="Inter" pitchFamily="34" charset="-120"/>
              </a:rPr>
              <a:t>Where the model runs decides which data you may use.</a:t>
            </a:r>
            <a:endParaRPr lang="en-US" sz="1400" dirty="0"/>
          </a:p>
          <a:p>
            <a:pPr indent="0" marL="0">
              <a:lnSpc>
                <a:spcPct val="112000"/>
              </a:lnSpc>
              <a:buNone/>
            </a:pPr>
            <a:endParaRPr lang="en-US" sz="1400" dirty="0"/>
          </a:p>
          <a:p>
            <a:pPr indent="0" marL="0">
              <a:lnSpc>
                <a:spcPct val="112000"/>
              </a:lnSpc>
              <a:buNone/>
            </a:pPr>
            <a:r>
              <a:rPr lang="en-US" sz="1400" dirty="0">
                <a:solidFill>
                  <a:srgbClr val="FFFFFF"/>
                </a:solidFill>
                <a:latin typeface="Inter" pitchFamily="34" charset="0"/>
                <a:ea typeface="Inter" pitchFamily="34" charset="-122"/>
                <a:cs typeface="Inter" pitchFamily="34" charset="-120"/>
              </a:rPr>
              <a:t>Banks hold their most valuable data under the strictest rules. On-premise AI opens use cases a public cloud API cannot reach.</a:t>
            </a:r>
            <a:endParaRPr lang="en-US" sz="1400" dirty="0"/>
          </a:p>
        </p:txBody>
      </p:sp>
      <p:pic>
        <p:nvPicPr>
          <p:cNvPr id="15" name="Image 0" descr="/home/claude/deck/assets/arc_faint.png">    </p:cNvPr>
          <p:cNvPicPr>
            <a:picLocks noChangeAspect="1"/>
          </p:cNvPicPr>
          <p:nvPr/>
        </p:nvPicPr>
        <p:blipFill>
          <a:blip r:embed="rId1"/>
          <a:stretch>
            <a:fillRect/>
          </a:stretch>
        </p:blipFill>
        <p:spPr>
          <a:xfrm>
            <a:off x="6217920" y="4526280"/>
            <a:ext cx="2606040" cy="384048"/>
          </a:xfrm>
          <a:prstGeom prst="rect">
            <a:avLst/>
          </a:prstGeom>
        </p:spPr>
      </p:pic>
      <p:sp>
        <p:nvSpPr>
          <p:cNvPr id="16" name="Text 13"/>
          <p:cNvSpPr/>
          <p:nvPr/>
        </p:nvSpPr>
        <p:spPr>
          <a:xfrm>
            <a:off x="603504" y="4828032"/>
            <a:ext cx="3657600" cy="228600"/>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BRDG Studio</a:t>
            </a:r>
            <a:endParaRPr lang="en-US" sz="900" dirty="0"/>
          </a:p>
        </p:txBody>
      </p:sp>
      <p:sp>
        <p:nvSpPr>
          <p:cNvPr id="17" name="Text 14"/>
          <p:cNvSpPr/>
          <p:nvPr/>
        </p:nvSpPr>
        <p:spPr>
          <a:xfrm>
            <a:off x="4882896" y="4828032"/>
            <a:ext cx="3657600" cy="228600"/>
          </a:xfrm>
          <a:prstGeom prst="rect">
            <a:avLst/>
          </a:prstGeom>
          <a:noFill/>
          <a:ln/>
        </p:spPr>
        <p:txBody>
          <a:bodyPr wrap="square" lIns="0" tIns="0" rIns="0" bIns="0" rtlCol="0" anchor="ctr"/>
          <a:lstStyle/>
          <a:p>
            <a:pPr algn="r" indent="0" marL="0">
              <a:buNone/>
            </a:pPr>
            <a:r>
              <a:rPr lang="en-US" sz="900" dirty="0">
                <a:solidFill>
                  <a:srgbClr val="94A3B8"/>
                </a:solidFill>
                <a:latin typeface="Inter" pitchFamily="34" charset="0"/>
                <a:ea typeface="Inter" pitchFamily="34" charset="-122"/>
                <a:cs typeface="Inter" pitchFamily="34" charset="-120"/>
              </a:rPr>
              <a:t>ITAIF 2026  ·  The power of AI in business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3504" y="603504"/>
            <a:ext cx="146304" cy="146304"/>
          </a:xfrm>
          <a:prstGeom prst="rect">
            <a:avLst/>
          </a:prstGeom>
          <a:solidFill>
            <a:srgbClr val="00D4AA"/>
          </a:solidFill>
          <a:ln/>
        </p:spPr>
      </p:sp>
      <p:sp>
        <p:nvSpPr>
          <p:cNvPr id="3" name="Text 1"/>
          <p:cNvSpPr/>
          <p:nvPr/>
        </p:nvSpPr>
        <p:spPr>
          <a:xfrm>
            <a:off x="877824" y="548640"/>
            <a:ext cx="7315200" cy="274320"/>
          </a:xfrm>
          <a:prstGeom prst="rect">
            <a:avLst/>
          </a:prstGeom>
          <a:noFill/>
          <a:ln/>
        </p:spPr>
        <p:txBody>
          <a:bodyPr wrap="square" lIns="0" tIns="0" rIns="0" bIns="0" rtlCol="0" anchor="ctr"/>
          <a:lstStyle/>
          <a:p>
            <a:pPr indent="0" marL="0">
              <a:buNone/>
            </a:pPr>
            <a:r>
              <a:rPr lang="en-US" sz="1200" spc="260" kern="0" dirty="0">
                <a:solidFill>
                  <a:srgbClr val="64748B"/>
                </a:solidFill>
                <a:latin typeface="Inter SemiBold" pitchFamily="34" charset="0"/>
                <a:ea typeface="Inter SemiBold" pitchFamily="34" charset="-122"/>
                <a:cs typeface="Inter SemiBold" pitchFamily="34" charset="-120"/>
              </a:rPr>
              <a:t>THE PATTERN</a:t>
            </a:r>
            <a:endParaRPr lang="en-US" sz="1200" dirty="0"/>
          </a:p>
        </p:txBody>
      </p:sp>
      <p:sp>
        <p:nvSpPr>
          <p:cNvPr id="4" name="Text 2"/>
          <p:cNvSpPr/>
          <p:nvPr/>
        </p:nvSpPr>
        <p:spPr>
          <a:xfrm>
            <a:off x="603504" y="896112"/>
            <a:ext cx="7955280" cy="603504"/>
          </a:xfrm>
          <a:prstGeom prst="rect">
            <a:avLst/>
          </a:prstGeom>
          <a:noFill/>
          <a:ln/>
        </p:spPr>
        <p:txBody>
          <a:bodyPr wrap="square" lIns="0" tIns="0" rIns="0" bIns="0" rtlCol="0" anchor="ctr"/>
          <a:lstStyle/>
          <a:p>
            <a:pPr indent="0" marL="0">
              <a:buNone/>
            </a:pPr>
            <a:r>
              <a:rPr lang="en-US" sz="2800" dirty="0">
                <a:solidFill>
                  <a:srgbClr val="0A1628"/>
                </a:solidFill>
                <a:latin typeface="Inter Tight ExtraBold" pitchFamily="34" charset="0"/>
                <a:ea typeface="Inter Tight ExtraBold" pitchFamily="34" charset="-122"/>
                <a:cs typeface="Inter Tight ExtraBold" pitchFamily="34" charset="-120"/>
              </a:rPr>
              <a:t>What the cases share</a:t>
            </a:r>
            <a:endParaRPr lang="en-US" sz="2800" dirty="0"/>
          </a:p>
        </p:txBody>
      </p:sp>
      <p:sp>
        <p:nvSpPr>
          <p:cNvPr id="5" name="Shape 3"/>
          <p:cNvSpPr/>
          <p:nvPr/>
        </p:nvSpPr>
        <p:spPr>
          <a:xfrm>
            <a:off x="603504" y="1892808"/>
            <a:ext cx="118872" cy="118872"/>
          </a:xfrm>
          <a:prstGeom prst="rect">
            <a:avLst/>
          </a:prstGeom>
          <a:solidFill>
            <a:srgbClr val="0066FF"/>
          </a:solidFill>
          <a:ln/>
        </p:spPr>
      </p:sp>
      <p:sp>
        <p:nvSpPr>
          <p:cNvPr id="6" name="Text 4"/>
          <p:cNvSpPr txBox="1"/>
          <p:nvPr/>
        </p:nvSpPr>
        <p:spPr>
          <a:xfrm>
            <a:off x="877824" y="1874520"/>
            <a:ext cx="3520440" cy="256032"/>
          </a:xfrm>
          <a:prstGeom prst="rect">
            <a:avLst/>
          </a:prstGeom>
          <a:noFill/>
          <a:ln/>
        </p:spPr>
        <p:txBody>
          <a:bodyPr wrap="square" lIns="0" tIns="0" rIns="0" bIns="0" rtlCol="0" anchor="ctr"/>
          <a:lstStyle/>
          <a:p>
            <a:pPr indent="0" marL="0">
              <a:buNone/>
            </a:pPr>
            <a:r>
              <a:rPr lang="en-US" sz="1600" dirty="0">
                <a:solidFill>
                  <a:srgbClr val="0A1628"/>
                </a:solidFill>
                <a:latin typeface="Inter SemiBold" pitchFamily="34" charset="0"/>
                <a:ea typeface="Inter SemiBold" pitchFamily="34" charset="-122"/>
                <a:cs typeface="Inter SemiBold" pitchFamily="34" charset="-120"/>
              </a:rPr>
              <a:t>The process changed first</a:t>
            </a:r>
            <a:endParaRPr lang="en-US" sz="1600" dirty="0"/>
          </a:p>
        </p:txBody>
      </p:sp>
      <p:sp>
        <p:nvSpPr>
          <p:cNvPr id="7" name="Text 5"/>
          <p:cNvSpPr txBox="1"/>
          <p:nvPr/>
        </p:nvSpPr>
        <p:spPr>
          <a:xfrm>
            <a:off x="877824" y="2139696"/>
            <a:ext cx="3520440" cy="777240"/>
          </a:xfrm>
          <a:prstGeom prst="rect">
            <a:avLst/>
          </a:prstGeom>
          <a:noFill/>
          <a:ln/>
        </p:spPr>
        <p:txBody>
          <a:bodyPr wrap="square" lIns="0" tIns="0" rIns="0" bIns="0" rtlCol="0" anchor="t"/>
          <a:lstStyle/>
          <a:p>
            <a:pPr indent="0" marL="0">
              <a:buNone/>
            </a:pPr>
            <a:r>
              <a:rPr lang="en-US" sz="1350" dirty="0">
                <a:solidFill>
                  <a:srgbClr val="1E293B"/>
                </a:solidFill>
                <a:latin typeface="Inter" pitchFamily="34" charset="0"/>
                <a:ea typeface="Inter" pitchFamily="34" charset="-122"/>
                <a:cs typeface="Inter" pitchFamily="34" charset="-120"/>
              </a:rPr>
              <a:t>Sampling became full screening before anyone chose a model.</a:t>
            </a:r>
            <a:endParaRPr lang="en-US" sz="1350" dirty="0"/>
          </a:p>
        </p:txBody>
      </p:sp>
      <p:sp>
        <p:nvSpPr>
          <p:cNvPr id="8" name="Shape 6"/>
          <p:cNvSpPr/>
          <p:nvPr/>
        </p:nvSpPr>
        <p:spPr>
          <a:xfrm>
            <a:off x="4672584" y="1892808"/>
            <a:ext cx="118872" cy="118872"/>
          </a:xfrm>
          <a:prstGeom prst="rect">
            <a:avLst/>
          </a:prstGeom>
          <a:solidFill>
            <a:srgbClr val="00D4AA"/>
          </a:solidFill>
          <a:ln/>
        </p:spPr>
      </p:sp>
      <p:sp>
        <p:nvSpPr>
          <p:cNvPr id="9" name="Text 7"/>
          <p:cNvSpPr txBox="1"/>
          <p:nvPr/>
        </p:nvSpPr>
        <p:spPr>
          <a:xfrm>
            <a:off x="4946904" y="1874520"/>
            <a:ext cx="3520440" cy="256032"/>
          </a:xfrm>
          <a:prstGeom prst="rect">
            <a:avLst/>
          </a:prstGeom>
          <a:noFill/>
          <a:ln/>
        </p:spPr>
        <p:txBody>
          <a:bodyPr wrap="square" lIns="0" tIns="0" rIns="0" bIns="0" rtlCol="0" anchor="ctr"/>
          <a:lstStyle/>
          <a:p>
            <a:pPr indent="0" marL="0">
              <a:buNone/>
            </a:pPr>
            <a:r>
              <a:rPr lang="en-US" sz="1600" dirty="0">
                <a:solidFill>
                  <a:srgbClr val="0A1628"/>
                </a:solidFill>
                <a:latin typeface="Inter SemiBold" pitchFamily="34" charset="0"/>
                <a:ea typeface="Inter SemiBold" pitchFamily="34" charset="-122"/>
                <a:cs typeface="Inter SemiBold" pitchFamily="34" charset="-120"/>
              </a:rPr>
              <a:t>The data was already there</a:t>
            </a:r>
            <a:endParaRPr lang="en-US" sz="1600" dirty="0"/>
          </a:p>
        </p:txBody>
      </p:sp>
      <p:sp>
        <p:nvSpPr>
          <p:cNvPr id="10" name="Text 8"/>
          <p:cNvSpPr txBox="1"/>
          <p:nvPr/>
        </p:nvSpPr>
        <p:spPr>
          <a:xfrm>
            <a:off x="4946904" y="2139696"/>
            <a:ext cx="3520440" cy="777240"/>
          </a:xfrm>
          <a:prstGeom prst="rect">
            <a:avLst/>
          </a:prstGeom>
          <a:noFill/>
          <a:ln/>
        </p:spPr>
        <p:txBody>
          <a:bodyPr wrap="square" lIns="0" tIns="0" rIns="0" bIns="0" rtlCol="0" anchor="t"/>
          <a:lstStyle/>
          <a:p>
            <a:pPr indent="0" marL="0">
              <a:buNone/>
            </a:pPr>
            <a:r>
              <a:rPr lang="en-US" sz="1350" dirty="0">
                <a:solidFill>
                  <a:srgbClr val="1E293B"/>
                </a:solidFill>
                <a:latin typeface="Inter" pitchFamily="34" charset="0"/>
                <a:ea typeface="Inter" pitchFamily="34" charset="-122"/>
                <a:cs typeface="Inter" pitchFamily="34" charset="-120"/>
              </a:rPr>
              <a:t>Circulars, shipment files and code repositories: each organization owned the raw material.</a:t>
            </a:r>
            <a:endParaRPr lang="en-US" sz="1350" dirty="0"/>
          </a:p>
        </p:txBody>
      </p:sp>
      <p:sp>
        <p:nvSpPr>
          <p:cNvPr id="11" name="Shape 9"/>
          <p:cNvSpPr/>
          <p:nvPr/>
        </p:nvSpPr>
        <p:spPr>
          <a:xfrm>
            <a:off x="603504" y="3264408"/>
            <a:ext cx="118872" cy="118872"/>
          </a:xfrm>
          <a:prstGeom prst="rect">
            <a:avLst/>
          </a:prstGeom>
          <a:solidFill>
            <a:srgbClr val="00D4AA"/>
          </a:solidFill>
          <a:ln/>
        </p:spPr>
      </p:sp>
      <p:sp>
        <p:nvSpPr>
          <p:cNvPr id="12" name="Text 10"/>
          <p:cNvSpPr txBox="1"/>
          <p:nvPr/>
        </p:nvSpPr>
        <p:spPr>
          <a:xfrm>
            <a:off x="877824" y="3246120"/>
            <a:ext cx="3520440" cy="256032"/>
          </a:xfrm>
          <a:prstGeom prst="rect">
            <a:avLst/>
          </a:prstGeom>
          <a:noFill/>
          <a:ln/>
        </p:spPr>
        <p:txBody>
          <a:bodyPr wrap="square" lIns="0" tIns="0" rIns="0" bIns="0" rtlCol="0" anchor="ctr"/>
          <a:lstStyle/>
          <a:p>
            <a:pPr indent="0" marL="0">
              <a:buNone/>
            </a:pPr>
            <a:r>
              <a:rPr lang="en-US" sz="1600" dirty="0">
                <a:solidFill>
                  <a:srgbClr val="0A1628"/>
                </a:solidFill>
                <a:latin typeface="Inter SemiBold" pitchFamily="34" charset="0"/>
                <a:ea typeface="Inter SemiBold" pitchFamily="34" charset="-122"/>
                <a:cs typeface="Inter SemiBold" pitchFamily="34" charset="-120"/>
              </a:rPr>
              <a:t>A named person signs off</a:t>
            </a:r>
            <a:endParaRPr lang="en-US" sz="1600" dirty="0"/>
          </a:p>
        </p:txBody>
      </p:sp>
      <p:sp>
        <p:nvSpPr>
          <p:cNvPr id="13" name="Text 11"/>
          <p:cNvSpPr txBox="1"/>
          <p:nvPr/>
        </p:nvSpPr>
        <p:spPr>
          <a:xfrm>
            <a:off x="877824" y="3511296"/>
            <a:ext cx="3520440" cy="777240"/>
          </a:xfrm>
          <a:prstGeom prst="rect">
            <a:avLst/>
          </a:prstGeom>
          <a:noFill/>
          <a:ln/>
        </p:spPr>
        <p:txBody>
          <a:bodyPr wrap="square" lIns="0" tIns="0" rIns="0" bIns="0" rtlCol="0" anchor="t"/>
          <a:lstStyle/>
          <a:p>
            <a:pPr indent="0" marL="0">
              <a:buNone/>
            </a:pPr>
            <a:r>
              <a:rPr lang="en-US" sz="1350" dirty="0">
                <a:solidFill>
                  <a:srgbClr val="1E293B"/>
                </a:solidFill>
                <a:latin typeface="Inter" pitchFamily="34" charset="0"/>
                <a:ea typeface="Inter" pitchFamily="34" charset="-122"/>
                <a:cs typeface="Inter" pitchFamily="34" charset="-120"/>
              </a:rPr>
              <a:t>The auditor, the compliance officer, the quality reviewer. AI drafts and an accountable person decides.</a:t>
            </a:r>
            <a:endParaRPr lang="en-US" sz="1350" dirty="0"/>
          </a:p>
        </p:txBody>
      </p:sp>
      <p:sp>
        <p:nvSpPr>
          <p:cNvPr id="14" name="Shape 12"/>
          <p:cNvSpPr/>
          <p:nvPr/>
        </p:nvSpPr>
        <p:spPr>
          <a:xfrm>
            <a:off x="4672584" y="3264408"/>
            <a:ext cx="118872" cy="118872"/>
          </a:xfrm>
          <a:prstGeom prst="rect">
            <a:avLst/>
          </a:prstGeom>
          <a:solidFill>
            <a:srgbClr val="00D4AA"/>
          </a:solidFill>
          <a:ln/>
        </p:spPr>
      </p:sp>
      <p:sp>
        <p:nvSpPr>
          <p:cNvPr id="15" name="Text 13"/>
          <p:cNvSpPr txBox="1"/>
          <p:nvPr/>
        </p:nvSpPr>
        <p:spPr>
          <a:xfrm>
            <a:off x="4946904" y="3246120"/>
            <a:ext cx="3520440" cy="256032"/>
          </a:xfrm>
          <a:prstGeom prst="rect">
            <a:avLst/>
          </a:prstGeom>
          <a:noFill/>
          <a:ln/>
        </p:spPr>
        <p:txBody>
          <a:bodyPr wrap="square" lIns="0" tIns="0" rIns="0" bIns="0" rtlCol="0" anchor="ctr"/>
          <a:lstStyle/>
          <a:p>
            <a:pPr indent="0" marL="0">
              <a:buNone/>
            </a:pPr>
            <a:r>
              <a:rPr lang="en-US" sz="1600" dirty="0">
                <a:solidFill>
                  <a:srgbClr val="0A1628"/>
                </a:solidFill>
                <a:latin typeface="Inter SemiBold" pitchFamily="34" charset="0"/>
                <a:ea typeface="Inter SemiBold" pitchFamily="34" charset="-122"/>
                <a:cs typeface="Inter SemiBold" pitchFamily="34" charset="-120"/>
              </a:rPr>
              <a:t>Trust is built in</a:t>
            </a:r>
            <a:endParaRPr lang="en-US" sz="1600" dirty="0"/>
          </a:p>
        </p:txBody>
      </p:sp>
      <p:sp>
        <p:nvSpPr>
          <p:cNvPr id="16" name="Text 14"/>
          <p:cNvSpPr txBox="1"/>
          <p:nvPr/>
        </p:nvSpPr>
        <p:spPr>
          <a:xfrm>
            <a:off x="4946904" y="3511296"/>
            <a:ext cx="3520440" cy="777240"/>
          </a:xfrm>
          <a:prstGeom prst="rect">
            <a:avLst/>
          </a:prstGeom>
          <a:noFill/>
          <a:ln/>
        </p:spPr>
        <p:txBody>
          <a:bodyPr wrap="square" lIns="0" tIns="0" rIns="0" bIns="0" rtlCol="0" anchor="t"/>
          <a:lstStyle/>
          <a:p>
            <a:pPr indent="0" marL="0">
              <a:buNone/>
            </a:pPr>
            <a:r>
              <a:rPr lang="en-US" sz="1350" dirty="0">
                <a:solidFill>
                  <a:srgbClr val="1E293B"/>
                </a:solidFill>
                <a:latin typeface="Inter" pitchFamily="34" charset="0"/>
                <a:ea typeface="Inter" pitchFamily="34" charset="-122"/>
                <a:cs typeface="Inter" pitchFamily="34" charset="-120"/>
              </a:rPr>
              <a:t>Citations, logs and version history a regulator can read.</a:t>
            </a:r>
            <a:endParaRPr lang="en-US" sz="1350" dirty="0"/>
          </a:p>
        </p:txBody>
      </p:sp>
      <p:sp>
        <p:nvSpPr>
          <p:cNvPr id="17" name="Text 15"/>
          <p:cNvSpPr/>
          <p:nvPr/>
        </p:nvSpPr>
        <p:spPr>
          <a:xfrm>
            <a:off x="603504" y="4828032"/>
            <a:ext cx="3657600" cy="228600"/>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BRDG Studio</a:t>
            </a:r>
            <a:endParaRPr lang="en-US" sz="900" dirty="0"/>
          </a:p>
        </p:txBody>
      </p:sp>
      <p:sp>
        <p:nvSpPr>
          <p:cNvPr id="18" name="Text 16"/>
          <p:cNvSpPr/>
          <p:nvPr/>
        </p:nvSpPr>
        <p:spPr>
          <a:xfrm>
            <a:off x="4882896" y="4828032"/>
            <a:ext cx="3657600" cy="228600"/>
          </a:xfrm>
          <a:prstGeom prst="rect">
            <a:avLst/>
          </a:prstGeom>
          <a:noFill/>
          <a:ln/>
        </p:spPr>
        <p:txBody>
          <a:bodyPr wrap="square" lIns="0" tIns="0" rIns="0" bIns="0" rtlCol="0" anchor="ctr"/>
          <a:lstStyle/>
          <a:p>
            <a:pPr algn="r" indent="0" marL="0">
              <a:buNone/>
            </a:pPr>
            <a:r>
              <a:rPr lang="en-US" sz="900" dirty="0">
                <a:solidFill>
                  <a:srgbClr val="94A3B8"/>
                </a:solidFill>
                <a:latin typeface="Inter" pitchFamily="34" charset="0"/>
                <a:ea typeface="Inter" pitchFamily="34" charset="-122"/>
                <a:cs typeface="Inter" pitchFamily="34" charset="-120"/>
              </a:rPr>
              <a:t>ITAIF 2026  ·  The power of AI in business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assets/arc_bright.png">    </p:cNvPr>
          <p:cNvPicPr>
            <a:picLocks noChangeAspect="1"/>
          </p:cNvPicPr>
          <p:nvPr/>
        </p:nvPicPr>
        <p:blipFill>
          <a:blip r:embed="rId2"/>
          <a:stretch>
            <a:fillRect/>
          </a:stretch>
        </p:blipFill>
        <p:spPr>
          <a:xfrm>
            <a:off x="4937760" y="3520440"/>
            <a:ext cx="4023360" cy="1517904"/>
          </a:xfrm>
          <a:prstGeom prst="rect">
            <a:avLst/>
          </a:prstGeom>
        </p:spPr>
      </p:pic>
      <p:sp>
        <p:nvSpPr>
          <p:cNvPr id="3" name="Text 0"/>
          <p:cNvSpPr/>
          <p:nvPr/>
        </p:nvSpPr>
        <p:spPr>
          <a:xfrm>
            <a:off x="640080" y="384048"/>
            <a:ext cx="2743200" cy="365760"/>
          </a:xfrm>
          <a:prstGeom prst="rect">
            <a:avLst/>
          </a:prstGeom>
          <a:noFill/>
          <a:ln/>
        </p:spPr>
        <p:txBody>
          <a:bodyPr wrap="square" lIns="0" tIns="0" rIns="0" bIns="0" rtlCol="0" anchor="ctr"/>
          <a:lstStyle/>
          <a:p>
            <a:pPr indent="0" marL="0">
              <a:buNone/>
            </a:pPr>
            <a:r>
              <a:rPr lang="en-US" sz="2400" b="1" dirty="0">
                <a:solidFill>
                  <a:srgbClr val="FFFFFF"/>
                </a:solidFill>
                <a:latin typeface="Inter" pitchFamily="34" charset="0"/>
                <a:ea typeface="Inter" pitchFamily="34" charset="-122"/>
                <a:cs typeface="Inter" pitchFamily="34" charset="-120"/>
              </a:rPr>
              <a:t>BRDG</a:t>
            </a:r>
            <a:endParaRPr lang="en-US" sz="2400" dirty="0"/>
          </a:p>
        </p:txBody>
      </p:sp>
      <p:sp>
        <p:nvSpPr>
          <p:cNvPr id="4" name="Text 1"/>
          <p:cNvSpPr/>
          <p:nvPr/>
        </p:nvSpPr>
        <p:spPr>
          <a:xfrm>
            <a:off x="640080" y="722376"/>
            <a:ext cx="2743200" cy="256032"/>
          </a:xfrm>
          <a:prstGeom prst="rect">
            <a:avLst/>
          </a:prstGeom>
          <a:noFill/>
          <a:ln/>
        </p:spPr>
        <p:txBody>
          <a:bodyPr wrap="square" lIns="0" tIns="0" rIns="0" bIns="0" rtlCol="0" anchor="ctr"/>
          <a:lstStyle/>
          <a:p>
            <a:pPr indent="0" marL="0">
              <a:buNone/>
            </a:pPr>
            <a:r>
              <a:rPr lang="en-US" sz="1200" spc="100" kern="0" dirty="0">
                <a:solidFill>
                  <a:srgbClr val="94A3B8"/>
                </a:solidFill>
                <a:latin typeface="Inter" pitchFamily="34" charset="0"/>
                <a:ea typeface="Inter" pitchFamily="34" charset="-122"/>
                <a:cs typeface="Inter" pitchFamily="34" charset="-120"/>
              </a:rPr>
              <a:t>Studio</a:t>
            </a:r>
            <a:endParaRPr lang="en-US" sz="1200" dirty="0"/>
          </a:p>
        </p:txBody>
      </p:sp>
      <p:sp>
        <p:nvSpPr>
          <p:cNvPr id="5" name="Text 2"/>
          <p:cNvSpPr/>
          <p:nvPr/>
        </p:nvSpPr>
        <p:spPr>
          <a:xfrm>
            <a:off x="603504" y="1417320"/>
            <a:ext cx="3657600" cy="1463040"/>
          </a:xfrm>
          <a:prstGeom prst="rect">
            <a:avLst/>
          </a:prstGeom>
          <a:noFill/>
          <a:ln/>
        </p:spPr>
        <p:txBody>
          <a:bodyPr wrap="square" lIns="0" tIns="0" rIns="0" bIns="0" rtlCol="0" anchor="ctr"/>
          <a:lstStyle/>
          <a:p>
            <a:pPr indent="0" marL="0">
              <a:buNone/>
            </a:pPr>
            <a:r>
              <a:rPr lang="en-US" sz="12000" dirty="0">
                <a:solidFill>
                  <a:srgbClr val="00D4AA"/>
                </a:solidFill>
                <a:latin typeface="Inter Tight Black" pitchFamily="34" charset="0"/>
                <a:ea typeface="Inter Tight Black" pitchFamily="34" charset="-122"/>
                <a:cs typeface="Inter Tight Black" pitchFamily="34" charset="-120"/>
              </a:rPr>
              <a:t>02</a:t>
            </a:r>
            <a:endParaRPr lang="en-US" sz="12000" dirty="0"/>
          </a:p>
        </p:txBody>
      </p:sp>
      <p:sp>
        <p:nvSpPr>
          <p:cNvPr id="6" name="Text 3"/>
          <p:cNvSpPr/>
          <p:nvPr/>
        </p:nvSpPr>
        <p:spPr>
          <a:xfrm>
            <a:off x="658368" y="2788920"/>
            <a:ext cx="7315200" cy="274320"/>
          </a:xfrm>
          <a:prstGeom prst="rect">
            <a:avLst/>
          </a:prstGeom>
          <a:noFill/>
          <a:ln/>
        </p:spPr>
        <p:txBody>
          <a:bodyPr wrap="square" lIns="0" tIns="0" rIns="0" bIns="0" rtlCol="0" anchor="ctr"/>
          <a:lstStyle/>
          <a:p>
            <a:pPr indent="0" marL="0">
              <a:buNone/>
            </a:pPr>
            <a:r>
              <a:rPr lang="en-US" sz="1200" spc="260" kern="0" dirty="0">
                <a:solidFill>
                  <a:srgbClr val="00D4AA"/>
                </a:solidFill>
                <a:latin typeface="Inter SemiBold" pitchFamily="34" charset="0"/>
                <a:ea typeface="Inter SemiBold" pitchFamily="34" charset="-122"/>
                <a:cs typeface="Inter SemiBold" pitchFamily="34" charset="-120"/>
              </a:rPr>
              <a:t>THE COMMON MISTAKE</a:t>
            </a:r>
            <a:endParaRPr lang="en-US" sz="1200" dirty="0"/>
          </a:p>
        </p:txBody>
      </p:sp>
      <p:sp>
        <p:nvSpPr>
          <p:cNvPr id="7" name="Text 4"/>
          <p:cNvSpPr/>
          <p:nvPr/>
        </p:nvSpPr>
        <p:spPr>
          <a:xfrm>
            <a:off x="603504" y="3108960"/>
            <a:ext cx="7680960" cy="822960"/>
          </a:xfrm>
          <a:prstGeom prst="rect">
            <a:avLst/>
          </a:prstGeom>
          <a:noFill/>
          <a:ln/>
        </p:spPr>
        <p:txBody>
          <a:bodyPr wrap="square" lIns="0" tIns="0" rIns="0" bIns="0" rtlCol="0" anchor="ctr"/>
          <a:lstStyle/>
          <a:p>
            <a:pPr indent="0" marL="0">
              <a:buNone/>
            </a:pPr>
            <a:r>
              <a:rPr lang="en-US" sz="4600" dirty="0">
                <a:solidFill>
                  <a:srgbClr val="FFFFFF"/>
                </a:solidFill>
                <a:latin typeface="Inter Tight Black" pitchFamily="34" charset="0"/>
                <a:ea typeface="Inter Tight Black" pitchFamily="34" charset="-122"/>
                <a:cs typeface="Inter Tight Black" pitchFamily="34" charset="-120"/>
              </a:rPr>
              <a:t>Why most AI projects stall</a:t>
            </a:r>
            <a:endParaRPr lang="en-US" sz="4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3504" y="603504"/>
            <a:ext cx="146304" cy="146304"/>
          </a:xfrm>
          <a:prstGeom prst="rect">
            <a:avLst/>
          </a:prstGeom>
          <a:solidFill>
            <a:srgbClr val="00D4AA"/>
          </a:solidFill>
          <a:ln/>
        </p:spPr>
      </p:sp>
      <p:sp>
        <p:nvSpPr>
          <p:cNvPr id="3" name="Text 1"/>
          <p:cNvSpPr/>
          <p:nvPr/>
        </p:nvSpPr>
        <p:spPr>
          <a:xfrm>
            <a:off x="877824" y="548640"/>
            <a:ext cx="7315200" cy="274320"/>
          </a:xfrm>
          <a:prstGeom prst="rect">
            <a:avLst/>
          </a:prstGeom>
          <a:noFill/>
          <a:ln/>
        </p:spPr>
        <p:txBody>
          <a:bodyPr wrap="square" lIns="0" tIns="0" rIns="0" bIns="0" rtlCol="0" anchor="ctr"/>
          <a:lstStyle/>
          <a:p>
            <a:pPr indent="0" marL="0">
              <a:buNone/>
            </a:pPr>
            <a:r>
              <a:rPr lang="en-US" sz="1200" spc="260" kern="0" dirty="0">
                <a:solidFill>
                  <a:srgbClr val="64748B"/>
                </a:solidFill>
                <a:latin typeface="Inter SemiBold" pitchFamily="34" charset="0"/>
                <a:ea typeface="Inter SemiBold" pitchFamily="34" charset="-122"/>
                <a:cs typeface="Inter SemiBold" pitchFamily="34" charset="-120"/>
              </a:rPr>
              <a:t>BOLT-ON OR REDESIGN</a:t>
            </a:r>
            <a:endParaRPr lang="en-US" sz="1200" dirty="0"/>
          </a:p>
        </p:txBody>
      </p:sp>
      <p:sp>
        <p:nvSpPr>
          <p:cNvPr id="4" name="Text 2"/>
          <p:cNvSpPr/>
          <p:nvPr/>
        </p:nvSpPr>
        <p:spPr>
          <a:xfrm>
            <a:off x="603504" y="896112"/>
            <a:ext cx="7955280" cy="603504"/>
          </a:xfrm>
          <a:prstGeom prst="rect">
            <a:avLst/>
          </a:prstGeom>
          <a:noFill/>
          <a:ln/>
        </p:spPr>
        <p:txBody>
          <a:bodyPr wrap="square" lIns="0" tIns="0" rIns="0" bIns="0" rtlCol="0" anchor="ctr"/>
          <a:lstStyle/>
          <a:p>
            <a:pPr indent="0" marL="0">
              <a:buNone/>
            </a:pPr>
            <a:r>
              <a:rPr lang="en-US" sz="2800" dirty="0">
                <a:solidFill>
                  <a:srgbClr val="0A1628"/>
                </a:solidFill>
                <a:latin typeface="Inter Tight ExtraBold" pitchFamily="34" charset="0"/>
                <a:ea typeface="Inter Tight ExtraBold" pitchFamily="34" charset="-122"/>
                <a:cs typeface="Inter Tight ExtraBold" pitchFamily="34" charset="-120"/>
              </a:rPr>
              <a:t>Adding AI to old steps saves minutes</a:t>
            </a:r>
            <a:endParaRPr lang="en-US" sz="2800" dirty="0"/>
          </a:p>
        </p:txBody>
      </p:sp>
      <p:sp>
        <p:nvSpPr>
          <p:cNvPr id="5" name="Text 3"/>
          <p:cNvSpPr/>
          <p:nvPr/>
        </p:nvSpPr>
        <p:spPr>
          <a:xfrm>
            <a:off x="640080" y="1536192"/>
            <a:ext cx="7772400" cy="457200"/>
          </a:xfrm>
          <a:prstGeom prst="rect">
            <a:avLst/>
          </a:prstGeom>
          <a:noFill/>
          <a:ln/>
        </p:spPr>
        <p:txBody>
          <a:bodyPr wrap="square" lIns="0" tIns="0" rIns="0" bIns="0" rtlCol="0" anchor="ctr"/>
          <a:lstStyle/>
          <a:p>
            <a:pPr indent="0" marL="0">
              <a:buNone/>
            </a:pPr>
            <a:r>
              <a:rPr lang="en-US" sz="1400" dirty="0">
                <a:solidFill>
                  <a:srgbClr val="64748B"/>
                </a:solidFill>
                <a:latin typeface="Inter" pitchFamily="34" charset="0"/>
                <a:ea typeface="Inter" pitchFamily="34" charset="-122"/>
                <a:cs typeface="Inter" pitchFamily="34" charset="-120"/>
              </a:rPr>
              <a:t>Illustrative process: a loan or claims approval</a:t>
            </a:r>
            <a:endParaRPr lang="en-US" sz="1400" dirty="0"/>
          </a:p>
        </p:txBody>
      </p:sp>
      <p:pic>
        <p:nvPicPr>
          <p:cNvPr id="6" name="Image 0" descr="/home/claude/deck/diagrams/bolt_on_vs_redesign.png">    </p:cNvPr>
          <p:cNvPicPr>
            <a:picLocks noChangeAspect="1"/>
          </p:cNvPicPr>
          <p:nvPr/>
        </p:nvPicPr>
        <p:blipFill>
          <a:blip r:embed="rId1"/>
          <a:stretch>
            <a:fillRect/>
          </a:stretch>
        </p:blipFill>
        <p:spPr>
          <a:xfrm>
            <a:off x="603504" y="2029968"/>
            <a:ext cx="6172200" cy="2468880"/>
          </a:xfrm>
          <a:prstGeom prst="rect">
            <a:avLst/>
          </a:prstGeom>
        </p:spPr>
      </p:pic>
      <p:sp>
        <p:nvSpPr>
          <p:cNvPr id="7" name="Text 4"/>
          <p:cNvSpPr/>
          <p:nvPr/>
        </p:nvSpPr>
        <p:spPr>
          <a:xfrm>
            <a:off x="603504" y="4828032"/>
            <a:ext cx="3657600" cy="228600"/>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BRDG Studio</a:t>
            </a:r>
            <a:endParaRPr lang="en-US" sz="900" dirty="0"/>
          </a:p>
        </p:txBody>
      </p:sp>
      <p:sp>
        <p:nvSpPr>
          <p:cNvPr id="8" name="Text 5"/>
          <p:cNvSpPr/>
          <p:nvPr/>
        </p:nvSpPr>
        <p:spPr>
          <a:xfrm>
            <a:off x="4882896" y="4828032"/>
            <a:ext cx="3657600" cy="228600"/>
          </a:xfrm>
          <a:prstGeom prst="rect">
            <a:avLst/>
          </a:prstGeom>
          <a:noFill/>
          <a:ln/>
        </p:spPr>
        <p:txBody>
          <a:bodyPr wrap="square" lIns="0" tIns="0" rIns="0" bIns="0" rtlCol="0" anchor="ctr"/>
          <a:lstStyle/>
          <a:p>
            <a:pPr algn="r" indent="0" marL="0">
              <a:buNone/>
            </a:pPr>
            <a:r>
              <a:rPr lang="en-US" sz="900" dirty="0">
                <a:solidFill>
                  <a:srgbClr val="94A3B8"/>
                </a:solidFill>
                <a:latin typeface="Inter" pitchFamily="34" charset="0"/>
                <a:ea typeface="Inter" pitchFamily="34" charset="-122"/>
                <a:cs typeface="Inter" pitchFamily="34" charset="-120"/>
              </a:rPr>
              <a:t>ITAIF 2026  ·  The power of AI in business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3504" y="603504"/>
            <a:ext cx="146304" cy="146304"/>
          </a:xfrm>
          <a:prstGeom prst="rect">
            <a:avLst/>
          </a:prstGeom>
          <a:solidFill>
            <a:srgbClr val="00D4AA"/>
          </a:solidFill>
          <a:ln/>
        </p:spPr>
      </p:sp>
      <p:sp>
        <p:nvSpPr>
          <p:cNvPr id="3" name="Text 1"/>
          <p:cNvSpPr/>
          <p:nvPr/>
        </p:nvSpPr>
        <p:spPr>
          <a:xfrm>
            <a:off x="877824" y="548640"/>
            <a:ext cx="7315200" cy="274320"/>
          </a:xfrm>
          <a:prstGeom prst="rect">
            <a:avLst/>
          </a:prstGeom>
          <a:noFill/>
          <a:ln/>
        </p:spPr>
        <p:txBody>
          <a:bodyPr wrap="square" lIns="0" tIns="0" rIns="0" bIns="0" rtlCol="0" anchor="ctr"/>
          <a:lstStyle/>
          <a:p>
            <a:pPr indent="0" marL="0">
              <a:buNone/>
            </a:pPr>
            <a:r>
              <a:rPr lang="en-US" sz="1200" spc="260" kern="0" dirty="0">
                <a:solidFill>
                  <a:srgbClr val="64748B"/>
                </a:solidFill>
                <a:latin typeface="Inter SemiBold" pitchFamily="34" charset="0"/>
                <a:ea typeface="Inter SemiBold" pitchFamily="34" charset="-122"/>
                <a:cs typeface="Inter SemiBold" pitchFamily="34" charset="-120"/>
              </a:rPr>
              <a:t>REGULATED MARKETS</a:t>
            </a:r>
            <a:endParaRPr lang="en-US" sz="1200" dirty="0"/>
          </a:p>
        </p:txBody>
      </p:sp>
      <p:sp>
        <p:nvSpPr>
          <p:cNvPr id="4" name="Text 2"/>
          <p:cNvSpPr/>
          <p:nvPr/>
        </p:nvSpPr>
        <p:spPr>
          <a:xfrm>
            <a:off x="603504" y="896112"/>
            <a:ext cx="5029200" cy="603504"/>
          </a:xfrm>
          <a:prstGeom prst="rect">
            <a:avLst/>
          </a:prstGeom>
          <a:noFill/>
          <a:ln/>
        </p:spPr>
        <p:txBody>
          <a:bodyPr wrap="square" lIns="0" tIns="0" rIns="0" bIns="0" rtlCol="0" anchor="ctr"/>
          <a:lstStyle/>
          <a:p>
            <a:pPr indent="0" marL="0">
              <a:buNone/>
            </a:pPr>
            <a:r>
              <a:rPr lang="en-US" sz="2800" dirty="0">
                <a:solidFill>
                  <a:srgbClr val="0A1628"/>
                </a:solidFill>
                <a:latin typeface="Inter Tight ExtraBold" pitchFamily="34" charset="0"/>
                <a:ea typeface="Inter Tight ExtraBold" pitchFamily="34" charset="-122"/>
                <a:cs typeface="Inter Tight ExtraBold" pitchFamily="34" charset="-120"/>
              </a:rPr>
              <a:t>Trust decides what goes live</a:t>
            </a:r>
            <a:endParaRPr lang="en-US" sz="2800" dirty="0"/>
          </a:p>
        </p:txBody>
      </p:sp>
      <p:sp>
        <p:nvSpPr>
          <p:cNvPr id="5" name="Text 3"/>
          <p:cNvSpPr txBox="1"/>
          <p:nvPr/>
        </p:nvSpPr>
        <p:spPr>
          <a:xfrm>
            <a:off x="603504" y="1600200"/>
            <a:ext cx="4983480" cy="256032"/>
          </a:xfrm>
          <a:prstGeom prst="rect">
            <a:avLst/>
          </a:prstGeom>
          <a:noFill/>
          <a:ln/>
        </p:spPr>
        <p:txBody>
          <a:bodyPr wrap="square" lIns="0" tIns="0" rIns="0" bIns="0" rtlCol="0" anchor="ctr"/>
          <a:lstStyle/>
          <a:p>
            <a:pPr indent="0" marL="0">
              <a:buNone/>
            </a:pPr>
            <a:r>
              <a:rPr lang="en-US" sz="1350" dirty="0">
                <a:solidFill>
                  <a:srgbClr val="0A1628"/>
                </a:solidFill>
                <a:latin typeface="Inter SemiBold" pitchFamily="34" charset="0"/>
                <a:ea typeface="Inter SemiBold" pitchFamily="34" charset="-122"/>
                <a:cs typeface="Inter SemiBold" pitchFamily="34" charset="-120"/>
              </a:rPr>
              <a:t>Central Bank of Jordan, 2025</a:t>
            </a:r>
            <a:endParaRPr lang="en-US" sz="1350" dirty="0"/>
          </a:p>
        </p:txBody>
      </p:sp>
      <p:sp>
        <p:nvSpPr>
          <p:cNvPr id="6" name="Text 4"/>
          <p:cNvSpPr txBox="1"/>
          <p:nvPr/>
        </p:nvSpPr>
        <p:spPr>
          <a:xfrm>
            <a:off x="603504" y="1865376"/>
            <a:ext cx="4983480" cy="502920"/>
          </a:xfrm>
          <a:prstGeom prst="rect">
            <a:avLst/>
          </a:prstGeom>
          <a:noFill/>
          <a:ln/>
        </p:spPr>
        <p:txBody>
          <a:bodyPr wrap="square" lIns="0" tIns="0" rIns="0" bIns="0" rtlCol="0" anchor="t"/>
          <a:lstStyle/>
          <a:p>
            <a:pPr indent="0" marL="0">
              <a:buNone/>
            </a:pPr>
            <a:r>
              <a:rPr lang="en-US" sz="1250" dirty="0">
                <a:solidFill>
                  <a:srgbClr val="1E293B"/>
                </a:solidFill>
                <a:latin typeface="Inter" pitchFamily="34" charset="0"/>
                <a:ea typeface="Inter" pitchFamily="34" charset="-122"/>
                <a:cs typeface="Inter" pitchFamily="34" charset="-120"/>
              </a:rPr>
              <a:t>AI regulatory framework for banks. AI risk sits inside the bank's risk governance, with board and executive accountability.</a:t>
            </a:r>
            <a:endParaRPr lang="en-US" sz="1250" dirty="0"/>
          </a:p>
        </p:txBody>
      </p:sp>
      <p:sp>
        <p:nvSpPr>
          <p:cNvPr id="7" name="Text 5"/>
          <p:cNvSpPr txBox="1"/>
          <p:nvPr/>
        </p:nvSpPr>
        <p:spPr>
          <a:xfrm>
            <a:off x="603504" y="2404872"/>
            <a:ext cx="4983480" cy="256032"/>
          </a:xfrm>
          <a:prstGeom prst="rect">
            <a:avLst/>
          </a:prstGeom>
          <a:noFill/>
          <a:ln/>
        </p:spPr>
        <p:txBody>
          <a:bodyPr wrap="square" lIns="0" tIns="0" rIns="0" bIns="0" rtlCol="0" anchor="ctr"/>
          <a:lstStyle/>
          <a:p>
            <a:pPr indent="0" marL="0">
              <a:buNone/>
            </a:pPr>
            <a:r>
              <a:rPr lang="en-US" sz="1350" dirty="0">
                <a:solidFill>
                  <a:srgbClr val="0A1628"/>
                </a:solidFill>
                <a:latin typeface="Inter SemiBold" pitchFamily="34" charset="0"/>
                <a:ea typeface="Inter SemiBold" pitchFamily="34" charset="-122"/>
                <a:cs typeface="Inter SemiBold" pitchFamily="34" charset="-120"/>
              </a:rPr>
              <a:t>Jordan PDPL, Law No. 24 of 2023</a:t>
            </a:r>
            <a:endParaRPr lang="en-US" sz="1350" dirty="0"/>
          </a:p>
        </p:txBody>
      </p:sp>
      <p:sp>
        <p:nvSpPr>
          <p:cNvPr id="8" name="Text 6"/>
          <p:cNvSpPr txBox="1"/>
          <p:nvPr/>
        </p:nvSpPr>
        <p:spPr>
          <a:xfrm>
            <a:off x="603504" y="2670048"/>
            <a:ext cx="4983480" cy="502920"/>
          </a:xfrm>
          <a:prstGeom prst="rect">
            <a:avLst/>
          </a:prstGeom>
          <a:noFill/>
          <a:ln/>
        </p:spPr>
        <p:txBody>
          <a:bodyPr wrap="square" lIns="0" tIns="0" rIns="0" bIns="0" rtlCol="0" anchor="t"/>
          <a:lstStyle/>
          <a:p>
            <a:pPr indent="0" marL="0">
              <a:buNone/>
            </a:pPr>
            <a:r>
              <a:rPr lang="en-US" sz="1250" dirty="0">
                <a:solidFill>
                  <a:srgbClr val="1E293B"/>
                </a:solidFill>
                <a:latin typeface="Inter" pitchFamily="34" charset="0"/>
                <a:ea typeface="Inter" pitchFamily="34" charset="-122"/>
                <a:cs typeface="Inter" pitchFamily="34" charset="-120"/>
              </a:rPr>
              <a:t>Covers any system that processes customer data. Supervised by MoDEE's data protection directorate.</a:t>
            </a:r>
            <a:endParaRPr lang="en-US" sz="1250" dirty="0"/>
          </a:p>
        </p:txBody>
      </p:sp>
      <p:sp>
        <p:nvSpPr>
          <p:cNvPr id="9" name="Text 7"/>
          <p:cNvSpPr txBox="1"/>
          <p:nvPr/>
        </p:nvSpPr>
        <p:spPr>
          <a:xfrm>
            <a:off x="603504" y="3209544"/>
            <a:ext cx="4983480" cy="256032"/>
          </a:xfrm>
          <a:prstGeom prst="rect">
            <a:avLst/>
          </a:prstGeom>
          <a:noFill/>
          <a:ln/>
        </p:spPr>
        <p:txBody>
          <a:bodyPr wrap="square" lIns="0" tIns="0" rIns="0" bIns="0" rtlCol="0" anchor="ctr"/>
          <a:lstStyle/>
          <a:p>
            <a:pPr indent="0" marL="0">
              <a:buNone/>
            </a:pPr>
            <a:r>
              <a:rPr lang="en-US" sz="1350" dirty="0">
                <a:solidFill>
                  <a:srgbClr val="0A1628"/>
                </a:solidFill>
                <a:latin typeface="Inter SemiBold" pitchFamily="34" charset="0"/>
                <a:ea typeface="Inter SemiBold" pitchFamily="34" charset="-122"/>
                <a:cs typeface="Inter SemiBold" pitchFamily="34" charset="-120"/>
              </a:rPr>
              <a:t>ISO/IEC 42001:2023</a:t>
            </a:r>
            <a:endParaRPr lang="en-US" sz="1350" dirty="0"/>
          </a:p>
        </p:txBody>
      </p:sp>
      <p:sp>
        <p:nvSpPr>
          <p:cNvPr id="10" name="Text 8"/>
          <p:cNvSpPr txBox="1"/>
          <p:nvPr/>
        </p:nvSpPr>
        <p:spPr>
          <a:xfrm>
            <a:off x="603504" y="3474720"/>
            <a:ext cx="4983480" cy="502920"/>
          </a:xfrm>
          <a:prstGeom prst="rect">
            <a:avLst/>
          </a:prstGeom>
          <a:noFill/>
          <a:ln/>
        </p:spPr>
        <p:txBody>
          <a:bodyPr wrap="square" lIns="0" tIns="0" rIns="0" bIns="0" rtlCol="0" anchor="t"/>
          <a:lstStyle/>
          <a:p>
            <a:pPr indent="0" marL="0">
              <a:buNone/>
            </a:pPr>
            <a:r>
              <a:rPr lang="en-US" sz="1250" dirty="0">
                <a:solidFill>
                  <a:srgbClr val="1E293B"/>
                </a:solidFill>
                <a:latin typeface="Inter" pitchFamily="34" charset="0"/>
                <a:ea typeface="Inter" pitchFamily="34" charset="-122"/>
                <a:cs typeface="Inter" pitchFamily="34" charset="-120"/>
              </a:rPr>
              <a:t>The international management-system standard for AI, which auditors certify against.</a:t>
            </a:r>
            <a:endParaRPr lang="en-US" sz="1250" dirty="0"/>
          </a:p>
        </p:txBody>
      </p:sp>
      <p:sp>
        <p:nvSpPr>
          <p:cNvPr id="11" name="Text 9"/>
          <p:cNvSpPr txBox="1"/>
          <p:nvPr/>
        </p:nvSpPr>
        <p:spPr>
          <a:xfrm>
            <a:off x="603504" y="4041648"/>
            <a:ext cx="4983480" cy="457200"/>
          </a:xfrm>
          <a:prstGeom prst="rect">
            <a:avLst/>
          </a:prstGeom>
          <a:noFill/>
          <a:ln/>
        </p:spPr>
        <p:txBody>
          <a:bodyPr wrap="square" lIns="0" tIns="0" rIns="0" bIns="0" rtlCol="0" anchor="ctr"/>
          <a:lstStyle/>
          <a:p>
            <a:pPr indent="0" marL="0">
              <a:buNone/>
            </a:pPr>
            <a:r>
              <a:rPr lang="en-US" sz="1250" b="1" dirty="0">
                <a:solidFill>
                  <a:srgbClr val="0066FF"/>
                </a:solidFill>
                <a:latin typeface="Inter" pitchFamily="34" charset="0"/>
                <a:ea typeface="Inter" pitchFamily="34" charset="-122"/>
                <a:cs typeface="Inter" pitchFamily="34" charset="-120"/>
              </a:rPr>
              <a:t>49th </a:t>
            </a:r>
            <a:pPr indent="0" marL="0">
              <a:buNone/>
            </a:pPr>
            <a:r>
              <a:rPr lang="en-US" sz="1250" dirty="0">
                <a:solidFill>
                  <a:srgbClr val="0A1628"/>
                </a:solidFill>
                <a:latin typeface="Inter" pitchFamily="34" charset="0"/>
                <a:ea typeface="Inter" pitchFamily="34" charset="-122"/>
                <a:cs typeface="Inter" pitchFamily="34" charset="-120"/>
              </a:rPr>
              <a:t>Jordan's global rank, and 2nd in the Middle East, on the Global Index on Responsible AI 2026.</a:t>
            </a:r>
            <a:endParaRPr lang="en-US" sz="1250" dirty="0"/>
          </a:p>
        </p:txBody>
      </p:sp>
      <p:sp>
        <p:nvSpPr>
          <p:cNvPr id="12" name="Shape 10"/>
          <p:cNvSpPr/>
          <p:nvPr/>
        </p:nvSpPr>
        <p:spPr>
          <a:xfrm>
            <a:off x="5897880" y="0"/>
            <a:ext cx="3246120" cy="5143500"/>
          </a:xfrm>
          <a:prstGeom prst="rect">
            <a:avLst/>
          </a:prstGeom>
          <a:solidFill>
            <a:srgbClr val="0A1628"/>
          </a:solidFill>
          <a:ln/>
        </p:spPr>
      </p:sp>
      <p:sp>
        <p:nvSpPr>
          <p:cNvPr id="13" name="Text 11"/>
          <p:cNvSpPr/>
          <p:nvPr/>
        </p:nvSpPr>
        <p:spPr>
          <a:xfrm>
            <a:off x="6263640" y="822960"/>
            <a:ext cx="7315200" cy="274320"/>
          </a:xfrm>
          <a:prstGeom prst="rect">
            <a:avLst/>
          </a:prstGeom>
          <a:noFill/>
          <a:ln/>
        </p:spPr>
        <p:txBody>
          <a:bodyPr wrap="square" lIns="0" tIns="0" rIns="0" bIns="0" rtlCol="0" anchor="ctr"/>
          <a:lstStyle/>
          <a:p>
            <a:pPr indent="0" marL="0">
              <a:buNone/>
            </a:pPr>
            <a:r>
              <a:rPr lang="en-US" sz="1200" spc="260" kern="0" dirty="0">
                <a:solidFill>
                  <a:srgbClr val="00D4AA"/>
                </a:solidFill>
                <a:latin typeface="Inter SemiBold" pitchFamily="34" charset="0"/>
                <a:ea typeface="Inter SemiBold" pitchFamily="34" charset="-122"/>
                <a:cs typeface="Inter SemiBold" pitchFamily="34" charset="-120"/>
              </a:rPr>
              <a:t>THE SECOND QUESTION</a:t>
            </a:r>
            <a:endParaRPr lang="en-US" sz="1200" dirty="0"/>
          </a:p>
        </p:txBody>
      </p:sp>
      <p:sp>
        <p:nvSpPr>
          <p:cNvPr id="14" name="Text 12"/>
          <p:cNvSpPr/>
          <p:nvPr/>
        </p:nvSpPr>
        <p:spPr>
          <a:xfrm>
            <a:off x="6263640" y="1280160"/>
            <a:ext cx="2514600" cy="2468880"/>
          </a:xfrm>
          <a:prstGeom prst="rect">
            <a:avLst/>
          </a:prstGeom>
          <a:noFill/>
          <a:ln/>
        </p:spPr>
        <p:txBody>
          <a:bodyPr wrap="square" lIns="0" tIns="0" rIns="0" bIns="0" rtlCol="0" anchor="ctr"/>
          <a:lstStyle/>
          <a:p>
            <a:pPr indent="0" marL="0">
              <a:lnSpc>
                <a:spcPct val="112000"/>
              </a:lnSpc>
              <a:buNone/>
            </a:pPr>
            <a:r>
              <a:rPr lang="en-US" sz="1400" dirty="0">
                <a:solidFill>
                  <a:srgbClr val="FFFFFF"/>
                </a:solidFill>
                <a:latin typeface="Inter" pitchFamily="34" charset="0"/>
                <a:ea typeface="Inter" pitchFamily="34" charset="-122"/>
                <a:cs typeface="Inter" pitchFamily="34" charset="-120"/>
              </a:rPr>
              <a:t>After “does it work?”, every bank and ministry asks how you will prove it.</a:t>
            </a:r>
            <a:endParaRPr lang="en-US" sz="1400" dirty="0"/>
          </a:p>
          <a:p>
            <a:pPr indent="0" marL="0">
              <a:lnSpc>
                <a:spcPct val="112000"/>
              </a:lnSpc>
              <a:buNone/>
            </a:pPr>
            <a:endParaRPr lang="en-US" sz="1400" dirty="0"/>
          </a:p>
          <a:p>
            <a:pPr indent="0" marL="0">
              <a:lnSpc>
                <a:spcPct val="112000"/>
              </a:lnSpc>
              <a:buNone/>
            </a:pPr>
            <a:r>
              <a:rPr lang="en-US" sz="1400" dirty="0">
                <a:solidFill>
                  <a:srgbClr val="FFFFFF"/>
                </a:solidFill>
                <a:latin typeface="Inter" pitchFamily="34" charset="0"/>
                <a:ea typeface="Inter" pitchFamily="34" charset="-122"/>
                <a:cs typeface="Inter" pitchFamily="34" charset="-120"/>
              </a:rPr>
              <a:t>Teams that log decisions, cite sources and explain outputs get approval to go live.</a:t>
            </a:r>
            <a:endParaRPr lang="en-US" sz="1400" dirty="0"/>
          </a:p>
        </p:txBody>
      </p:sp>
      <p:pic>
        <p:nvPicPr>
          <p:cNvPr id="15" name="Image 0" descr="/home/claude/deck/assets/arc_faint.png">    </p:cNvPr>
          <p:cNvPicPr>
            <a:picLocks noChangeAspect="1"/>
          </p:cNvPicPr>
          <p:nvPr/>
        </p:nvPicPr>
        <p:blipFill>
          <a:blip r:embed="rId1"/>
          <a:stretch>
            <a:fillRect/>
          </a:stretch>
        </p:blipFill>
        <p:spPr>
          <a:xfrm>
            <a:off x="6217920" y="4526280"/>
            <a:ext cx="2606040" cy="384048"/>
          </a:xfrm>
          <a:prstGeom prst="rect">
            <a:avLst/>
          </a:prstGeom>
        </p:spPr>
      </p:pic>
      <p:sp>
        <p:nvSpPr>
          <p:cNvPr id="16" name="Text 13"/>
          <p:cNvSpPr/>
          <p:nvPr/>
        </p:nvSpPr>
        <p:spPr>
          <a:xfrm>
            <a:off x="6263640" y="3931920"/>
            <a:ext cx="2514600" cy="502920"/>
          </a:xfrm>
          <a:prstGeom prst="rect">
            <a:avLst/>
          </a:prstGeom>
          <a:noFill/>
          <a:ln/>
        </p:spPr>
        <p:txBody>
          <a:bodyPr wrap="square" lIns="0" tIns="0" rIns="0" bIns="0" rtlCol="0" anchor="ctr"/>
          <a:lstStyle/>
          <a:p>
            <a:pPr indent="0" marL="0">
              <a:buNone/>
            </a:pPr>
            <a:r>
              <a:rPr lang="en-US" sz="1200" dirty="0">
                <a:solidFill>
                  <a:srgbClr val="CBD5E1"/>
                </a:solidFill>
                <a:latin typeface="Inter" pitchFamily="34" charset="0"/>
                <a:ea typeface="Inter" pitchFamily="34" charset="-122"/>
                <a:cs typeface="Inter" pitchFamily="34" charset="-120"/>
              </a:rPr>
              <a:t>Picked up at 11:00 in “When AI Makes the Call: Who's Responsible?”</a:t>
            </a:r>
            <a:endParaRPr lang="en-US" sz="1200" dirty="0"/>
          </a:p>
        </p:txBody>
      </p:sp>
      <p:sp>
        <p:nvSpPr>
          <p:cNvPr id="17" name="Text 14"/>
          <p:cNvSpPr/>
          <p:nvPr/>
        </p:nvSpPr>
        <p:spPr>
          <a:xfrm>
            <a:off x="603504" y="4828032"/>
            <a:ext cx="3657600" cy="228600"/>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BRDG Studio</a:t>
            </a:r>
            <a:endParaRPr lang="en-US" sz="900" dirty="0"/>
          </a:p>
        </p:txBody>
      </p:sp>
      <p:sp>
        <p:nvSpPr>
          <p:cNvPr id="18" name="Text 15"/>
          <p:cNvSpPr/>
          <p:nvPr/>
        </p:nvSpPr>
        <p:spPr>
          <a:xfrm>
            <a:off x="4882896" y="4828032"/>
            <a:ext cx="3657600" cy="228600"/>
          </a:xfrm>
          <a:prstGeom prst="rect">
            <a:avLst/>
          </a:prstGeom>
          <a:noFill/>
          <a:ln/>
        </p:spPr>
        <p:txBody>
          <a:bodyPr wrap="square" lIns="0" tIns="0" rIns="0" bIns="0" rtlCol="0" anchor="ctr"/>
          <a:lstStyle/>
          <a:p>
            <a:pPr algn="r" indent="0" marL="0">
              <a:buNone/>
            </a:pPr>
            <a:r>
              <a:rPr lang="en-US" sz="900" dirty="0">
                <a:solidFill>
                  <a:srgbClr val="94A3B8"/>
                </a:solidFill>
                <a:latin typeface="Inter" pitchFamily="34" charset="0"/>
                <a:ea typeface="Inter" pitchFamily="34" charset="-122"/>
                <a:cs typeface="Inter" pitchFamily="34" charset="-120"/>
              </a:rPr>
              <a:t>ITAIF 2026  ·  The power of AI in business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assets/arc_bright.png">    </p:cNvPr>
          <p:cNvPicPr>
            <a:picLocks noChangeAspect="1"/>
          </p:cNvPicPr>
          <p:nvPr/>
        </p:nvPicPr>
        <p:blipFill>
          <a:blip r:embed="rId2"/>
          <a:stretch>
            <a:fillRect/>
          </a:stretch>
        </p:blipFill>
        <p:spPr>
          <a:xfrm>
            <a:off x="4937760" y="3520440"/>
            <a:ext cx="4023360" cy="1517904"/>
          </a:xfrm>
          <a:prstGeom prst="rect">
            <a:avLst/>
          </a:prstGeom>
        </p:spPr>
      </p:pic>
      <p:sp>
        <p:nvSpPr>
          <p:cNvPr id="3" name="Text 0"/>
          <p:cNvSpPr/>
          <p:nvPr/>
        </p:nvSpPr>
        <p:spPr>
          <a:xfrm>
            <a:off x="640080" y="384048"/>
            <a:ext cx="2743200" cy="365760"/>
          </a:xfrm>
          <a:prstGeom prst="rect">
            <a:avLst/>
          </a:prstGeom>
          <a:noFill/>
          <a:ln/>
        </p:spPr>
        <p:txBody>
          <a:bodyPr wrap="square" lIns="0" tIns="0" rIns="0" bIns="0" rtlCol="0" anchor="ctr"/>
          <a:lstStyle/>
          <a:p>
            <a:pPr indent="0" marL="0">
              <a:buNone/>
            </a:pPr>
            <a:r>
              <a:rPr lang="en-US" sz="2400" b="1" dirty="0">
                <a:solidFill>
                  <a:srgbClr val="FFFFFF"/>
                </a:solidFill>
                <a:latin typeface="Inter" pitchFamily="34" charset="0"/>
                <a:ea typeface="Inter" pitchFamily="34" charset="-122"/>
                <a:cs typeface="Inter" pitchFamily="34" charset="-120"/>
              </a:rPr>
              <a:t>BRDG</a:t>
            </a:r>
            <a:endParaRPr lang="en-US" sz="2400" dirty="0"/>
          </a:p>
        </p:txBody>
      </p:sp>
      <p:sp>
        <p:nvSpPr>
          <p:cNvPr id="4" name="Text 1"/>
          <p:cNvSpPr/>
          <p:nvPr/>
        </p:nvSpPr>
        <p:spPr>
          <a:xfrm>
            <a:off x="640080" y="722376"/>
            <a:ext cx="2743200" cy="256032"/>
          </a:xfrm>
          <a:prstGeom prst="rect">
            <a:avLst/>
          </a:prstGeom>
          <a:noFill/>
          <a:ln/>
        </p:spPr>
        <p:txBody>
          <a:bodyPr wrap="square" lIns="0" tIns="0" rIns="0" bIns="0" rtlCol="0" anchor="ctr"/>
          <a:lstStyle/>
          <a:p>
            <a:pPr indent="0" marL="0">
              <a:buNone/>
            </a:pPr>
            <a:r>
              <a:rPr lang="en-US" sz="1200" spc="100" kern="0" dirty="0">
                <a:solidFill>
                  <a:srgbClr val="94A3B8"/>
                </a:solidFill>
                <a:latin typeface="Inter" pitchFamily="34" charset="0"/>
                <a:ea typeface="Inter" pitchFamily="34" charset="-122"/>
                <a:cs typeface="Inter" pitchFamily="34" charset="-120"/>
              </a:rPr>
              <a:t>Studio</a:t>
            </a:r>
            <a:endParaRPr lang="en-US" sz="1200" dirty="0"/>
          </a:p>
        </p:txBody>
      </p:sp>
      <p:sp>
        <p:nvSpPr>
          <p:cNvPr id="5" name="Text 2"/>
          <p:cNvSpPr/>
          <p:nvPr/>
        </p:nvSpPr>
        <p:spPr>
          <a:xfrm>
            <a:off x="603504" y="1417320"/>
            <a:ext cx="3657600" cy="1463040"/>
          </a:xfrm>
          <a:prstGeom prst="rect">
            <a:avLst/>
          </a:prstGeom>
          <a:noFill/>
          <a:ln/>
        </p:spPr>
        <p:txBody>
          <a:bodyPr wrap="square" lIns="0" tIns="0" rIns="0" bIns="0" rtlCol="0" anchor="ctr"/>
          <a:lstStyle/>
          <a:p>
            <a:pPr indent="0" marL="0">
              <a:buNone/>
            </a:pPr>
            <a:r>
              <a:rPr lang="en-US" sz="12000" dirty="0">
                <a:solidFill>
                  <a:srgbClr val="00D4AA"/>
                </a:solidFill>
                <a:latin typeface="Inter Tight Black" pitchFamily="34" charset="0"/>
                <a:ea typeface="Inter Tight Black" pitchFamily="34" charset="-122"/>
                <a:cs typeface="Inter Tight Black" pitchFamily="34" charset="-120"/>
              </a:rPr>
              <a:t>03</a:t>
            </a:r>
            <a:endParaRPr lang="en-US" sz="12000" dirty="0"/>
          </a:p>
        </p:txBody>
      </p:sp>
      <p:sp>
        <p:nvSpPr>
          <p:cNvPr id="6" name="Text 3"/>
          <p:cNvSpPr/>
          <p:nvPr/>
        </p:nvSpPr>
        <p:spPr>
          <a:xfrm>
            <a:off x="658368" y="2788920"/>
            <a:ext cx="7315200" cy="274320"/>
          </a:xfrm>
          <a:prstGeom prst="rect">
            <a:avLst/>
          </a:prstGeom>
          <a:noFill/>
          <a:ln/>
        </p:spPr>
        <p:txBody>
          <a:bodyPr wrap="square" lIns="0" tIns="0" rIns="0" bIns="0" rtlCol="0" anchor="ctr"/>
          <a:lstStyle/>
          <a:p>
            <a:pPr indent="0" marL="0">
              <a:buNone/>
            </a:pPr>
            <a:r>
              <a:rPr lang="en-US" sz="1200" spc="260" kern="0" dirty="0">
                <a:solidFill>
                  <a:srgbClr val="00D4AA"/>
                </a:solidFill>
                <a:latin typeface="Inter SemiBold" pitchFamily="34" charset="0"/>
                <a:ea typeface="Inter SemiBold" pitchFamily="34" charset="-122"/>
                <a:cs typeface="Inter SemiBold" pitchFamily="34" charset="-120"/>
              </a:rPr>
              <a:t>FOR THE PEOPLE IN THIS ROOM</a:t>
            </a:r>
            <a:endParaRPr lang="en-US" sz="1200" dirty="0"/>
          </a:p>
        </p:txBody>
      </p:sp>
      <p:sp>
        <p:nvSpPr>
          <p:cNvPr id="7" name="Text 4"/>
          <p:cNvSpPr/>
          <p:nvPr/>
        </p:nvSpPr>
        <p:spPr>
          <a:xfrm>
            <a:off x="603504" y="3108960"/>
            <a:ext cx="7680960" cy="822960"/>
          </a:xfrm>
          <a:prstGeom prst="rect">
            <a:avLst/>
          </a:prstGeom>
          <a:noFill/>
          <a:ln/>
        </p:spPr>
        <p:txBody>
          <a:bodyPr wrap="square" lIns="0" tIns="0" rIns="0" bIns="0" rtlCol="0" anchor="ctr"/>
          <a:lstStyle/>
          <a:p>
            <a:pPr indent="0" marL="0">
              <a:buNone/>
            </a:pPr>
            <a:r>
              <a:rPr lang="en-US" sz="4600" dirty="0">
                <a:solidFill>
                  <a:srgbClr val="FFFFFF"/>
                </a:solidFill>
                <a:latin typeface="Inter Tight Black" pitchFamily="34" charset="0"/>
                <a:ea typeface="Inter Tight Black" pitchFamily="34" charset="-122"/>
                <a:cs typeface="Inter Tight Black" pitchFamily="34" charset="-120"/>
              </a:rPr>
              <a:t>What this means for you</a:t>
            </a:r>
            <a:endParaRPr lang="en-US" sz="4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3504" y="603504"/>
            <a:ext cx="146304" cy="146304"/>
          </a:xfrm>
          <a:prstGeom prst="rect">
            <a:avLst/>
          </a:prstGeom>
          <a:solidFill>
            <a:srgbClr val="00D4AA"/>
          </a:solidFill>
          <a:ln/>
        </p:spPr>
      </p:sp>
      <p:sp>
        <p:nvSpPr>
          <p:cNvPr id="3" name="Text 1"/>
          <p:cNvSpPr/>
          <p:nvPr/>
        </p:nvSpPr>
        <p:spPr>
          <a:xfrm>
            <a:off x="877824" y="548640"/>
            <a:ext cx="7315200" cy="274320"/>
          </a:xfrm>
          <a:prstGeom prst="rect">
            <a:avLst/>
          </a:prstGeom>
          <a:noFill/>
          <a:ln/>
        </p:spPr>
        <p:txBody>
          <a:bodyPr wrap="square" lIns="0" tIns="0" rIns="0" bIns="0" rtlCol="0" anchor="ctr"/>
          <a:lstStyle/>
          <a:p>
            <a:pPr indent="0" marL="0">
              <a:buNone/>
            </a:pPr>
            <a:r>
              <a:rPr lang="en-US" sz="1200" spc="260" kern="0" dirty="0">
                <a:solidFill>
                  <a:srgbClr val="64748B"/>
                </a:solidFill>
                <a:latin typeface="Inter SemiBold" pitchFamily="34" charset="0"/>
                <a:ea typeface="Inter SemiBold" pitchFamily="34" charset="-122"/>
                <a:cs typeface="Inter SemiBold" pitchFamily="34" charset="-120"/>
              </a:rPr>
              <a:t>THE JOB MARKET TO 2030</a:t>
            </a:r>
            <a:endParaRPr lang="en-US" sz="1200" dirty="0"/>
          </a:p>
        </p:txBody>
      </p:sp>
      <p:sp>
        <p:nvSpPr>
          <p:cNvPr id="4" name="Text 2"/>
          <p:cNvSpPr/>
          <p:nvPr/>
        </p:nvSpPr>
        <p:spPr>
          <a:xfrm>
            <a:off x="603504" y="896112"/>
            <a:ext cx="7955280" cy="603504"/>
          </a:xfrm>
          <a:prstGeom prst="rect">
            <a:avLst/>
          </a:prstGeom>
          <a:noFill/>
          <a:ln/>
        </p:spPr>
        <p:txBody>
          <a:bodyPr wrap="square" lIns="0" tIns="0" rIns="0" bIns="0" rtlCol="0" anchor="ctr"/>
          <a:lstStyle/>
          <a:p>
            <a:pPr indent="0" marL="0">
              <a:buNone/>
            </a:pPr>
            <a:r>
              <a:rPr lang="en-US" sz="2800" dirty="0">
                <a:solidFill>
                  <a:srgbClr val="0A1628"/>
                </a:solidFill>
                <a:latin typeface="Inter Tight ExtraBold" pitchFamily="34" charset="0"/>
                <a:ea typeface="Inter Tight ExtraBold" pitchFamily="34" charset="-122"/>
                <a:cs typeface="Inter Tight ExtraBold" pitchFamily="34" charset="-120"/>
              </a:rPr>
              <a:t>Net job growth, with new skills required</a:t>
            </a:r>
            <a:endParaRPr lang="en-US" sz="2800" dirty="0"/>
          </a:p>
        </p:txBody>
      </p:sp>
      <p:sp>
        <p:nvSpPr>
          <p:cNvPr id="5" name="Text 3"/>
          <p:cNvSpPr/>
          <p:nvPr/>
        </p:nvSpPr>
        <p:spPr>
          <a:xfrm>
            <a:off x="640080" y="1536192"/>
            <a:ext cx="7772400" cy="457200"/>
          </a:xfrm>
          <a:prstGeom prst="rect">
            <a:avLst/>
          </a:prstGeom>
          <a:noFill/>
          <a:ln/>
        </p:spPr>
        <p:txBody>
          <a:bodyPr wrap="square" lIns="0" tIns="0" rIns="0" bIns="0" rtlCol="0" anchor="ctr"/>
          <a:lstStyle/>
          <a:p>
            <a:pPr indent="0" marL="0">
              <a:buNone/>
            </a:pPr>
            <a:r>
              <a:rPr lang="en-US" sz="1400" dirty="0">
                <a:solidFill>
                  <a:srgbClr val="64748B"/>
                </a:solidFill>
                <a:latin typeface="Inter" pitchFamily="34" charset="0"/>
                <a:ea typeface="Inter" pitchFamily="34" charset="-122"/>
                <a:cs typeface="Inter" pitchFamily="34" charset="-120"/>
              </a:rPr>
              <a:t>World Economic Forum, Future of Jobs Report 2025, covering 2025 to 2030</a:t>
            </a:r>
            <a:endParaRPr lang="en-US" sz="1400" dirty="0"/>
          </a:p>
        </p:txBody>
      </p:sp>
      <p:sp>
        <p:nvSpPr>
          <p:cNvPr id="6" name="Text 4"/>
          <p:cNvSpPr/>
          <p:nvPr/>
        </p:nvSpPr>
        <p:spPr>
          <a:xfrm>
            <a:off x="603504" y="2286000"/>
            <a:ext cx="2401824" cy="914400"/>
          </a:xfrm>
          <a:prstGeom prst="rect">
            <a:avLst/>
          </a:prstGeom>
          <a:noFill/>
          <a:ln/>
        </p:spPr>
        <p:txBody>
          <a:bodyPr wrap="square" lIns="0" tIns="0" rIns="0" bIns="0" rtlCol="0" anchor="ctr"/>
          <a:lstStyle/>
          <a:p>
            <a:pPr indent="0" marL="0">
              <a:buNone/>
            </a:pPr>
            <a:r>
              <a:rPr lang="en-US" sz="5200" dirty="0">
                <a:solidFill>
                  <a:srgbClr val="0066FF"/>
                </a:solidFill>
                <a:latin typeface="Inter Tight Black" pitchFamily="34" charset="0"/>
                <a:ea typeface="Inter Tight Black" pitchFamily="34" charset="-122"/>
                <a:cs typeface="Inter Tight Black" pitchFamily="34" charset="-120"/>
              </a:rPr>
              <a:t>170M</a:t>
            </a:r>
            <a:endParaRPr lang="en-US" sz="5200" dirty="0"/>
          </a:p>
        </p:txBody>
      </p:sp>
      <p:sp>
        <p:nvSpPr>
          <p:cNvPr id="7" name="Text 5"/>
          <p:cNvSpPr/>
          <p:nvPr/>
        </p:nvSpPr>
        <p:spPr>
          <a:xfrm>
            <a:off x="603504" y="3310128"/>
            <a:ext cx="2401824" cy="822960"/>
          </a:xfrm>
          <a:prstGeom prst="rect">
            <a:avLst/>
          </a:prstGeom>
          <a:noFill/>
          <a:ln/>
        </p:spPr>
        <p:txBody>
          <a:bodyPr wrap="square" lIns="0" tIns="0" rIns="0" bIns="0" rtlCol="0" anchor="ctr"/>
          <a:lstStyle/>
          <a:p>
            <a:pPr indent="0" marL="0">
              <a:buNone/>
            </a:pPr>
            <a:r>
              <a:rPr lang="en-US" sz="1350" dirty="0">
                <a:solidFill>
                  <a:srgbClr val="1E293B"/>
                </a:solidFill>
                <a:latin typeface="Inter" pitchFamily="34" charset="0"/>
                <a:ea typeface="Inter" pitchFamily="34" charset="-122"/>
                <a:cs typeface="Inter" pitchFamily="34" charset="-120"/>
              </a:rPr>
              <a:t>jobs expected to be created worldwide</a:t>
            </a:r>
            <a:endParaRPr lang="en-US" sz="1350" dirty="0"/>
          </a:p>
        </p:txBody>
      </p:sp>
      <p:sp>
        <p:nvSpPr>
          <p:cNvPr id="8" name="Text 6"/>
          <p:cNvSpPr/>
          <p:nvPr/>
        </p:nvSpPr>
        <p:spPr>
          <a:xfrm>
            <a:off x="3371088" y="2286000"/>
            <a:ext cx="2401824" cy="914400"/>
          </a:xfrm>
          <a:prstGeom prst="rect">
            <a:avLst/>
          </a:prstGeom>
          <a:noFill/>
          <a:ln/>
        </p:spPr>
        <p:txBody>
          <a:bodyPr wrap="square" lIns="0" tIns="0" rIns="0" bIns="0" rtlCol="0" anchor="ctr"/>
          <a:lstStyle/>
          <a:p>
            <a:pPr indent="0" marL="0">
              <a:buNone/>
            </a:pPr>
            <a:r>
              <a:rPr lang="en-US" sz="5200" dirty="0">
                <a:solidFill>
                  <a:srgbClr val="00D4AA"/>
                </a:solidFill>
                <a:latin typeface="Inter Tight Black" pitchFamily="34" charset="0"/>
                <a:ea typeface="Inter Tight Black" pitchFamily="34" charset="-122"/>
                <a:cs typeface="Inter Tight Black" pitchFamily="34" charset="-120"/>
              </a:rPr>
              <a:t>92M</a:t>
            </a:r>
            <a:endParaRPr lang="en-US" sz="5200" dirty="0"/>
          </a:p>
        </p:txBody>
      </p:sp>
      <p:sp>
        <p:nvSpPr>
          <p:cNvPr id="9" name="Text 7"/>
          <p:cNvSpPr/>
          <p:nvPr/>
        </p:nvSpPr>
        <p:spPr>
          <a:xfrm>
            <a:off x="3371088" y="3310128"/>
            <a:ext cx="2401824" cy="822960"/>
          </a:xfrm>
          <a:prstGeom prst="rect">
            <a:avLst/>
          </a:prstGeom>
          <a:noFill/>
          <a:ln/>
        </p:spPr>
        <p:txBody>
          <a:bodyPr wrap="square" lIns="0" tIns="0" rIns="0" bIns="0" rtlCol="0" anchor="ctr"/>
          <a:lstStyle/>
          <a:p>
            <a:pPr indent="0" marL="0">
              <a:buNone/>
            </a:pPr>
            <a:r>
              <a:rPr lang="en-US" sz="1350" dirty="0">
                <a:solidFill>
                  <a:srgbClr val="1E293B"/>
                </a:solidFill>
                <a:latin typeface="Inter" pitchFamily="34" charset="0"/>
                <a:ea typeface="Inter" pitchFamily="34" charset="-122"/>
                <a:cs typeface="Inter" pitchFamily="34" charset="-120"/>
              </a:rPr>
              <a:t>jobs expected to be displaced in the same period</a:t>
            </a:r>
            <a:endParaRPr lang="en-US" sz="1350" dirty="0"/>
          </a:p>
        </p:txBody>
      </p:sp>
      <p:sp>
        <p:nvSpPr>
          <p:cNvPr id="10" name="Text 8"/>
          <p:cNvSpPr/>
          <p:nvPr/>
        </p:nvSpPr>
        <p:spPr>
          <a:xfrm>
            <a:off x="6138672" y="2286000"/>
            <a:ext cx="2401824" cy="914400"/>
          </a:xfrm>
          <a:prstGeom prst="rect">
            <a:avLst/>
          </a:prstGeom>
          <a:noFill/>
          <a:ln/>
        </p:spPr>
        <p:txBody>
          <a:bodyPr wrap="square" lIns="0" tIns="0" rIns="0" bIns="0" rtlCol="0" anchor="ctr"/>
          <a:lstStyle/>
          <a:p>
            <a:pPr indent="0" marL="0">
              <a:buNone/>
            </a:pPr>
            <a:r>
              <a:rPr lang="en-US" sz="5200" dirty="0">
                <a:solidFill>
                  <a:srgbClr val="0A1628"/>
                </a:solidFill>
                <a:latin typeface="Inter Tight Black" pitchFamily="34" charset="0"/>
                <a:ea typeface="Inter Tight Black" pitchFamily="34" charset="-122"/>
                <a:cs typeface="Inter Tight Black" pitchFamily="34" charset="-120"/>
              </a:rPr>
              <a:t>39%</a:t>
            </a:r>
            <a:endParaRPr lang="en-US" sz="5200" dirty="0"/>
          </a:p>
        </p:txBody>
      </p:sp>
      <p:sp>
        <p:nvSpPr>
          <p:cNvPr id="11" name="Text 9"/>
          <p:cNvSpPr/>
          <p:nvPr/>
        </p:nvSpPr>
        <p:spPr>
          <a:xfrm>
            <a:off x="6138672" y="3310128"/>
            <a:ext cx="2401824" cy="822960"/>
          </a:xfrm>
          <a:prstGeom prst="rect">
            <a:avLst/>
          </a:prstGeom>
          <a:noFill/>
          <a:ln/>
        </p:spPr>
        <p:txBody>
          <a:bodyPr wrap="square" lIns="0" tIns="0" rIns="0" bIns="0" rtlCol="0" anchor="ctr"/>
          <a:lstStyle/>
          <a:p>
            <a:pPr indent="0" marL="0">
              <a:buNone/>
            </a:pPr>
            <a:r>
              <a:rPr lang="en-US" sz="1350" dirty="0">
                <a:solidFill>
                  <a:srgbClr val="1E293B"/>
                </a:solidFill>
                <a:latin typeface="Inter" pitchFamily="34" charset="0"/>
                <a:ea typeface="Inter" pitchFamily="34" charset="-122"/>
                <a:cs typeface="Inter" pitchFamily="34" charset="-120"/>
              </a:rPr>
              <a:t>of core skills employers expect to change</a:t>
            </a:r>
            <a:endParaRPr lang="en-US" sz="1350" dirty="0"/>
          </a:p>
        </p:txBody>
      </p:sp>
      <p:sp>
        <p:nvSpPr>
          <p:cNvPr id="12" name="Text 10"/>
          <p:cNvSpPr txBox="1"/>
          <p:nvPr/>
        </p:nvSpPr>
        <p:spPr>
          <a:xfrm>
            <a:off x="603504" y="4069080"/>
            <a:ext cx="7955280" cy="548640"/>
          </a:xfrm>
          <a:prstGeom prst="rect">
            <a:avLst/>
          </a:prstGeom>
          <a:noFill/>
          <a:ln/>
        </p:spPr>
        <p:txBody>
          <a:bodyPr wrap="square" lIns="0" tIns="0" rIns="0" bIns="0" rtlCol="0" anchor="ctr"/>
          <a:lstStyle/>
          <a:p>
            <a:pPr indent="0" marL="0">
              <a:buNone/>
            </a:pPr>
            <a:r>
              <a:rPr lang="en-US" sz="1250" dirty="0">
                <a:solidFill>
                  <a:srgbClr val="0A1628"/>
                </a:solidFill>
                <a:latin typeface="Inter" pitchFamily="34" charset="0"/>
                <a:ea typeface="Inter" pitchFamily="34" charset="-122"/>
                <a:cs typeface="Inter" pitchFamily="34" charset="-120"/>
              </a:rPr>
              <a:t>AI and big data top the employers' list of fastest-growing skills. In McKinsey's 2026 survey, nearly a third of organizations dropped a software purchase because they expect to build it with AI.</a:t>
            </a:r>
            <a:endParaRPr lang="en-US" sz="1250" dirty="0"/>
          </a:p>
        </p:txBody>
      </p:sp>
      <p:sp>
        <p:nvSpPr>
          <p:cNvPr id="13" name="Text 11"/>
          <p:cNvSpPr/>
          <p:nvPr/>
        </p:nvSpPr>
        <p:spPr>
          <a:xfrm>
            <a:off x="603504" y="4828032"/>
            <a:ext cx="3657600" cy="228600"/>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BRDG Studio</a:t>
            </a:r>
            <a:endParaRPr lang="en-US" sz="900" dirty="0"/>
          </a:p>
        </p:txBody>
      </p:sp>
      <p:sp>
        <p:nvSpPr>
          <p:cNvPr id="14" name="Text 12"/>
          <p:cNvSpPr/>
          <p:nvPr/>
        </p:nvSpPr>
        <p:spPr>
          <a:xfrm>
            <a:off x="4882896" y="4828032"/>
            <a:ext cx="3657600" cy="228600"/>
          </a:xfrm>
          <a:prstGeom prst="rect">
            <a:avLst/>
          </a:prstGeom>
          <a:noFill/>
          <a:ln/>
        </p:spPr>
        <p:txBody>
          <a:bodyPr wrap="square" lIns="0" tIns="0" rIns="0" bIns="0" rtlCol="0" anchor="ctr"/>
          <a:lstStyle/>
          <a:p>
            <a:pPr algn="r" indent="0" marL="0">
              <a:buNone/>
            </a:pPr>
            <a:r>
              <a:rPr lang="en-US" sz="900" dirty="0">
                <a:solidFill>
                  <a:srgbClr val="94A3B8"/>
                </a:solidFill>
                <a:latin typeface="Inter" pitchFamily="34" charset="0"/>
                <a:ea typeface="Inter" pitchFamily="34" charset="-122"/>
                <a:cs typeface="Inter" pitchFamily="34" charset="-120"/>
              </a:rPr>
              <a:t>ITAIF 2026  ·  The power of AI in business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3504" y="603504"/>
            <a:ext cx="146304" cy="146304"/>
          </a:xfrm>
          <a:prstGeom prst="rect">
            <a:avLst/>
          </a:prstGeom>
          <a:solidFill>
            <a:srgbClr val="00D4AA"/>
          </a:solidFill>
          <a:ln/>
        </p:spPr>
      </p:sp>
      <p:sp>
        <p:nvSpPr>
          <p:cNvPr id="3" name="Text 1"/>
          <p:cNvSpPr/>
          <p:nvPr/>
        </p:nvSpPr>
        <p:spPr>
          <a:xfrm>
            <a:off x="877824" y="548640"/>
            <a:ext cx="7315200" cy="274320"/>
          </a:xfrm>
          <a:prstGeom prst="rect">
            <a:avLst/>
          </a:prstGeom>
          <a:noFill/>
          <a:ln/>
        </p:spPr>
        <p:txBody>
          <a:bodyPr wrap="square" lIns="0" tIns="0" rIns="0" bIns="0" rtlCol="0" anchor="ctr"/>
          <a:lstStyle/>
          <a:p>
            <a:pPr indent="0" marL="0">
              <a:buNone/>
            </a:pPr>
            <a:r>
              <a:rPr lang="en-US" sz="1200" spc="260" kern="0" dirty="0">
                <a:solidFill>
                  <a:srgbClr val="64748B"/>
                </a:solidFill>
                <a:latin typeface="Inter SemiBold" pitchFamily="34" charset="0"/>
                <a:ea typeface="Inter SemiBold" pitchFamily="34" charset="-122"/>
                <a:cs typeface="Inter SemiBold" pitchFamily="34" charset="-120"/>
              </a:rPr>
              <a:t>WHERE VALUE MOVES</a:t>
            </a:r>
            <a:endParaRPr lang="en-US" sz="1200" dirty="0"/>
          </a:p>
        </p:txBody>
      </p:sp>
      <p:sp>
        <p:nvSpPr>
          <p:cNvPr id="4" name="Text 2"/>
          <p:cNvSpPr/>
          <p:nvPr/>
        </p:nvSpPr>
        <p:spPr>
          <a:xfrm>
            <a:off x="603504" y="896112"/>
            <a:ext cx="5029200" cy="603504"/>
          </a:xfrm>
          <a:prstGeom prst="rect">
            <a:avLst/>
          </a:prstGeom>
          <a:noFill/>
          <a:ln/>
        </p:spPr>
        <p:txBody>
          <a:bodyPr wrap="square" lIns="0" tIns="0" rIns="0" bIns="0" rtlCol="0" anchor="ctr"/>
          <a:lstStyle/>
          <a:p>
            <a:pPr indent="0" marL="0">
              <a:buNone/>
            </a:pPr>
            <a:r>
              <a:rPr lang="en-US" sz="2800" dirty="0">
                <a:solidFill>
                  <a:srgbClr val="0A1628"/>
                </a:solidFill>
                <a:latin typeface="Inter Tight ExtraBold" pitchFamily="34" charset="0"/>
                <a:ea typeface="Inter Tight ExtraBold" pitchFamily="34" charset="-122"/>
                <a:cs typeface="Inter Tight ExtraBold" pitchFamily="34" charset="-120"/>
              </a:rPr>
              <a:t>The work that rises in value</a:t>
            </a:r>
            <a:endParaRPr lang="en-US" sz="2800" dirty="0"/>
          </a:p>
        </p:txBody>
      </p:sp>
      <p:sp>
        <p:nvSpPr>
          <p:cNvPr id="5" name="Text 3"/>
          <p:cNvSpPr txBox="1"/>
          <p:nvPr/>
        </p:nvSpPr>
        <p:spPr>
          <a:xfrm>
            <a:off x="603504" y="1664208"/>
            <a:ext cx="4572000" cy="274320"/>
          </a:xfrm>
          <a:prstGeom prst="rect">
            <a:avLst/>
          </a:prstGeom>
          <a:noFill/>
          <a:ln/>
        </p:spPr>
        <p:txBody>
          <a:bodyPr wrap="square" lIns="0" tIns="0" rIns="0" bIns="0" rtlCol="0" anchor="ctr"/>
          <a:lstStyle/>
          <a:p>
            <a:pPr indent="0" marL="0">
              <a:buNone/>
            </a:pPr>
            <a:r>
              <a:rPr lang="en-US" sz="1100" spc="240" kern="0" dirty="0">
                <a:solidFill>
                  <a:srgbClr val="64748B"/>
                </a:solidFill>
                <a:latin typeface="Inter SemiBold" pitchFamily="34" charset="0"/>
                <a:ea typeface="Inter SemiBold" pitchFamily="34" charset="-122"/>
                <a:cs typeface="Inter SemiBold" pitchFamily="34" charset="-120"/>
              </a:rPr>
              <a:t>GETTING CHEAPER</a:t>
            </a:r>
            <a:endParaRPr lang="en-US" sz="1100" dirty="0"/>
          </a:p>
        </p:txBody>
      </p:sp>
      <p:sp>
        <p:nvSpPr>
          <p:cNvPr id="6" name="Text 4"/>
          <p:cNvSpPr txBox="1"/>
          <p:nvPr/>
        </p:nvSpPr>
        <p:spPr>
          <a:xfrm>
            <a:off x="603504" y="1965960"/>
            <a:ext cx="4846320" cy="15087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1E293B"/>
                </a:solidFill>
                <a:latin typeface="Inter" pitchFamily="34" charset="0"/>
                <a:ea typeface="Inter" pitchFamily="34" charset="-122"/>
                <a:cs typeface="Inter" pitchFamily="34" charset="-120"/>
              </a:rPr>
              <a:t>First drafts of code, emails and slides</a:t>
            </a:r>
            <a:endParaRPr lang="en-US" sz="1400" dirty="0"/>
          </a:p>
          <a:p>
            <a:pPr marL="342900" indent="-342900">
              <a:spcAft>
                <a:spcPts val="600"/>
              </a:spcAft>
              <a:buSzPct val="100000"/>
              <a:buChar char="•"/>
            </a:pPr>
            <a:r>
              <a:rPr lang="en-US" sz="1400" dirty="0">
                <a:solidFill>
                  <a:srgbClr val="1E293B"/>
                </a:solidFill>
                <a:latin typeface="Inter" pitchFamily="34" charset="0"/>
                <a:ea typeface="Inter" pitchFamily="34" charset="-122"/>
                <a:cs typeface="Inter" pitchFamily="34" charset="-120"/>
              </a:rPr>
              <a:t>Summaries and standard translations</a:t>
            </a:r>
            <a:endParaRPr lang="en-US" sz="1400" dirty="0"/>
          </a:p>
          <a:p>
            <a:pPr marL="342900" indent="-342900">
              <a:spcAft>
                <a:spcPts val="600"/>
              </a:spcAft>
              <a:buSzPct val="100000"/>
              <a:buChar char="•"/>
            </a:pPr>
            <a:r>
              <a:rPr lang="en-US" sz="1400" dirty="0">
                <a:solidFill>
                  <a:srgbClr val="1E293B"/>
                </a:solidFill>
                <a:latin typeface="Inter" pitchFamily="34" charset="0"/>
                <a:ea typeface="Inter" pitchFamily="34" charset="-122"/>
                <a:cs typeface="Inter" pitchFamily="34" charset="-120"/>
              </a:rPr>
              <a:t>Searching a thousand pages for one answer</a:t>
            </a:r>
            <a:endParaRPr lang="en-US" sz="1400" dirty="0"/>
          </a:p>
          <a:p>
            <a:pPr marL="342900" indent="-342900">
              <a:spcAft>
                <a:spcPts val="600"/>
              </a:spcAft>
              <a:buSzPct val="100000"/>
              <a:buChar char="•"/>
            </a:pPr>
            <a:r>
              <a:rPr lang="en-US" sz="1400" dirty="0">
                <a:solidFill>
                  <a:srgbClr val="1E293B"/>
                </a:solidFill>
                <a:latin typeface="Inter" pitchFamily="34" charset="0"/>
                <a:ea typeface="Inter" pitchFamily="34" charset="-122"/>
                <a:cs typeface="Inter" pitchFamily="34" charset="-120"/>
              </a:rPr>
              <a:t>Data entry</a:t>
            </a:r>
            <a:endParaRPr lang="en-US" sz="1400" dirty="0"/>
          </a:p>
        </p:txBody>
      </p:sp>
      <p:sp>
        <p:nvSpPr>
          <p:cNvPr id="7" name="Text 5"/>
          <p:cNvSpPr txBox="1"/>
          <p:nvPr/>
        </p:nvSpPr>
        <p:spPr>
          <a:xfrm>
            <a:off x="603504" y="3493008"/>
            <a:ext cx="4937760" cy="960120"/>
          </a:xfrm>
          <a:prstGeom prst="rect">
            <a:avLst/>
          </a:prstGeom>
          <a:noFill/>
          <a:ln/>
        </p:spPr>
        <p:txBody>
          <a:bodyPr wrap="square" lIns="0" tIns="0" rIns="0" bIns="0" rtlCol="0" anchor="ctr"/>
          <a:lstStyle/>
          <a:p>
            <a:pPr indent="0" marL="0">
              <a:buNone/>
            </a:pPr>
            <a:r>
              <a:rPr lang="en-US" sz="1200" i="1" dirty="0">
                <a:solidFill>
                  <a:srgbClr val="64748B"/>
                </a:solidFill>
                <a:latin typeface="Inter" pitchFamily="34" charset="0"/>
                <a:ea typeface="Inter" pitchFamily="34" charset="-122"/>
                <a:cs typeface="Inter" pitchFamily="34" charset="-120"/>
              </a:rPr>
              <a:t>In the US, employment of software developers aged 22 to 25 is nearly 20% below its 2022 peak (Stanford AI Index 2026). AI now does the first-draft work that trained juniors, and employers, mine included, have not worked out how graduates will learn on the job.</a:t>
            </a:r>
            <a:endParaRPr lang="en-US" sz="1200" dirty="0"/>
          </a:p>
        </p:txBody>
      </p:sp>
      <p:sp>
        <p:nvSpPr>
          <p:cNvPr id="8" name="Shape 6"/>
          <p:cNvSpPr/>
          <p:nvPr/>
        </p:nvSpPr>
        <p:spPr>
          <a:xfrm>
            <a:off x="5897880" y="0"/>
            <a:ext cx="3246120" cy="5143500"/>
          </a:xfrm>
          <a:prstGeom prst="rect">
            <a:avLst/>
          </a:prstGeom>
          <a:solidFill>
            <a:srgbClr val="0A1628"/>
          </a:solidFill>
          <a:ln/>
        </p:spPr>
      </p:sp>
      <p:sp>
        <p:nvSpPr>
          <p:cNvPr id="9" name="Text 7"/>
          <p:cNvSpPr/>
          <p:nvPr/>
        </p:nvSpPr>
        <p:spPr>
          <a:xfrm>
            <a:off x="6263640" y="822960"/>
            <a:ext cx="7315200" cy="274320"/>
          </a:xfrm>
          <a:prstGeom prst="rect">
            <a:avLst/>
          </a:prstGeom>
          <a:noFill/>
          <a:ln/>
        </p:spPr>
        <p:txBody>
          <a:bodyPr wrap="square" lIns="0" tIns="0" rIns="0" bIns="0" rtlCol="0" anchor="ctr"/>
          <a:lstStyle/>
          <a:p>
            <a:pPr indent="0" marL="0">
              <a:buNone/>
            </a:pPr>
            <a:r>
              <a:rPr lang="en-US" sz="1200" spc="260" kern="0" dirty="0">
                <a:solidFill>
                  <a:srgbClr val="00D4AA"/>
                </a:solidFill>
                <a:latin typeface="Inter SemiBold" pitchFamily="34" charset="0"/>
                <a:ea typeface="Inter SemiBold" pitchFamily="34" charset="-122"/>
                <a:cs typeface="Inter SemiBold" pitchFamily="34" charset="-120"/>
              </a:rPr>
              <a:t>RISING IN VALUE</a:t>
            </a:r>
            <a:endParaRPr lang="en-US" sz="1200" dirty="0"/>
          </a:p>
        </p:txBody>
      </p:sp>
      <p:sp>
        <p:nvSpPr>
          <p:cNvPr id="10" name="Text 8"/>
          <p:cNvSpPr/>
          <p:nvPr/>
        </p:nvSpPr>
        <p:spPr>
          <a:xfrm>
            <a:off x="6263640" y="1280160"/>
            <a:ext cx="2514600" cy="246888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Inter" pitchFamily="34" charset="0"/>
                <a:ea typeface="Inter" pitchFamily="34" charset="-122"/>
                <a:cs typeface="Inter" pitchFamily="34" charset="-120"/>
              </a:rPr>
              <a:t>Defining the problem and writing the specification</a:t>
            </a:r>
            <a:endParaRPr lang="en-US" sz="1350" dirty="0"/>
          </a:p>
          <a:p>
            <a:pPr indent="0" marL="0">
              <a:lnSpc>
                <a:spcPct val="112000"/>
              </a:lnSpc>
              <a:buNone/>
            </a:pPr>
            <a:endParaRPr lang="en-US" sz="1350" dirty="0"/>
          </a:p>
          <a:p>
            <a:pPr indent="0" marL="0">
              <a:lnSpc>
                <a:spcPct val="112000"/>
              </a:lnSpc>
              <a:buNone/>
            </a:pPr>
            <a:r>
              <a:rPr lang="en-US" sz="1350" dirty="0">
                <a:solidFill>
                  <a:srgbClr val="FFFFFF"/>
                </a:solidFill>
                <a:latin typeface="Inter" pitchFamily="34" charset="0"/>
                <a:ea typeface="Inter" pitchFamily="34" charset="-122"/>
                <a:cs typeface="Inter" pitchFamily="34" charset="-120"/>
              </a:rPr>
              <a:t>Judging output, and building tests that catch errors</a:t>
            </a:r>
            <a:endParaRPr lang="en-US" sz="1350" dirty="0"/>
          </a:p>
          <a:p>
            <a:pPr indent="0" marL="0">
              <a:lnSpc>
                <a:spcPct val="112000"/>
              </a:lnSpc>
              <a:buNone/>
            </a:pPr>
            <a:endParaRPr lang="en-US" sz="1350" dirty="0"/>
          </a:p>
          <a:p>
            <a:pPr indent="0" marL="0">
              <a:lnSpc>
                <a:spcPct val="112000"/>
              </a:lnSpc>
              <a:buNone/>
            </a:pPr>
            <a:r>
              <a:rPr lang="en-US" sz="1350" dirty="0">
                <a:solidFill>
                  <a:srgbClr val="FFFFFF"/>
                </a:solidFill>
                <a:latin typeface="Inter" pitchFamily="34" charset="0"/>
                <a:ea typeface="Inter" pitchFamily="34" charset="-122"/>
                <a:cs typeface="Inter" pitchFamily="34" charset="-120"/>
              </a:rPr>
              <a:t>Domain knowledge: how a bank, a hospital or a port works</a:t>
            </a:r>
            <a:endParaRPr lang="en-US" sz="1350" dirty="0"/>
          </a:p>
          <a:p>
            <a:pPr indent="0" marL="0">
              <a:lnSpc>
                <a:spcPct val="112000"/>
              </a:lnSpc>
              <a:buNone/>
            </a:pPr>
            <a:endParaRPr lang="en-US" sz="1350" dirty="0"/>
          </a:p>
          <a:p>
            <a:pPr indent="0" marL="0">
              <a:lnSpc>
                <a:spcPct val="112000"/>
              </a:lnSpc>
              <a:buNone/>
            </a:pPr>
            <a:r>
              <a:rPr lang="en-US" sz="1350" dirty="0">
                <a:solidFill>
                  <a:srgbClr val="FFFFFF"/>
                </a:solidFill>
                <a:latin typeface="Inter" pitchFamily="34" charset="0"/>
                <a:ea typeface="Inter" pitchFamily="34" charset="-122"/>
                <a:cs typeface="Inter" pitchFamily="34" charset="-120"/>
              </a:rPr>
              <a:t>Owning the result when the model is wrong</a:t>
            </a:r>
            <a:endParaRPr lang="en-US" sz="1350" dirty="0"/>
          </a:p>
        </p:txBody>
      </p:sp>
      <p:pic>
        <p:nvPicPr>
          <p:cNvPr id="11" name="Image 0" descr="/home/claude/deck/assets/arc_faint.png">    </p:cNvPr>
          <p:cNvPicPr>
            <a:picLocks noChangeAspect="1"/>
          </p:cNvPicPr>
          <p:nvPr/>
        </p:nvPicPr>
        <p:blipFill>
          <a:blip r:embed="rId1"/>
          <a:stretch>
            <a:fillRect/>
          </a:stretch>
        </p:blipFill>
        <p:spPr>
          <a:xfrm>
            <a:off x="6217920" y="4526280"/>
            <a:ext cx="2606040" cy="384048"/>
          </a:xfrm>
          <a:prstGeom prst="rect">
            <a:avLst/>
          </a:prstGeom>
        </p:spPr>
      </p:pic>
      <p:sp>
        <p:nvSpPr>
          <p:cNvPr id="12" name="Text 9"/>
          <p:cNvSpPr/>
          <p:nvPr/>
        </p:nvSpPr>
        <p:spPr>
          <a:xfrm>
            <a:off x="603504" y="4828032"/>
            <a:ext cx="3657600" cy="228600"/>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BRDG Studio</a:t>
            </a:r>
            <a:endParaRPr lang="en-US" sz="900" dirty="0"/>
          </a:p>
        </p:txBody>
      </p:sp>
      <p:sp>
        <p:nvSpPr>
          <p:cNvPr id="13" name="Text 10"/>
          <p:cNvSpPr/>
          <p:nvPr/>
        </p:nvSpPr>
        <p:spPr>
          <a:xfrm>
            <a:off x="4882896" y="4828032"/>
            <a:ext cx="3657600" cy="228600"/>
          </a:xfrm>
          <a:prstGeom prst="rect">
            <a:avLst/>
          </a:prstGeom>
          <a:noFill/>
          <a:ln/>
        </p:spPr>
        <p:txBody>
          <a:bodyPr wrap="square" lIns="0" tIns="0" rIns="0" bIns="0" rtlCol="0" anchor="ctr"/>
          <a:lstStyle/>
          <a:p>
            <a:pPr algn="r" indent="0" marL="0">
              <a:buNone/>
            </a:pPr>
            <a:r>
              <a:rPr lang="en-US" sz="900" dirty="0">
                <a:solidFill>
                  <a:srgbClr val="94A3B8"/>
                </a:solidFill>
                <a:latin typeface="Inter" pitchFamily="34" charset="0"/>
                <a:ea typeface="Inter" pitchFamily="34" charset="-122"/>
                <a:cs typeface="Inter" pitchFamily="34" charset="-120"/>
              </a:rPr>
              <a:t>ITAIF 2026  ·  The power of AI in business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3504" y="603504"/>
            <a:ext cx="146304" cy="146304"/>
          </a:xfrm>
          <a:prstGeom prst="rect">
            <a:avLst/>
          </a:prstGeom>
          <a:solidFill>
            <a:srgbClr val="00D4AA"/>
          </a:solidFill>
          <a:ln/>
        </p:spPr>
      </p:sp>
      <p:sp>
        <p:nvSpPr>
          <p:cNvPr id="3" name="Text 1"/>
          <p:cNvSpPr/>
          <p:nvPr/>
        </p:nvSpPr>
        <p:spPr>
          <a:xfrm>
            <a:off x="877824" y="548640"/>
            <a:ext cx="7315200" cy="274320"/>
          </a:xfrm>
          <a:prstGeom prst="rect">
            <a:avLst/>
          </a:prstGeom>
          <a:noFill/>
          <a:ln/>
        </p:spPr>
        <p:txBody>
          <a:bodyPr wrap="square" lIns="0" tIns="0" rIns="0" bIns="0" rtlCol="0" anchor="ctr"/>
          <a:lstStyle/>
          <a:p>
            <a:pPr indent="0" marL="0">
              <a:buNone/>
            </a:pPr>
            <a:r>
              <a:rPr lang="en-US" sz="1200" spc="260" kern="0" dirty="0">
                <a:solidFill>
                  <a:srgbClr val="64748B"/>
                </a:solidFill>
                <a:latin typeface="Inter SemiBold" pitchFamily="34" charset="0"/>
                <a:ea typeface="Inter SemiBold" pitchFamily="34" charset="-122"/>
                <a:cs typeface="Inter SemiBold" pitchFamily="34" charset="-120"/>
              </a:rPr>
              <a:t>START THIS WEEK</a:t>
            </a:r>
            <a:endParaRPr lang="en-US" sz="1200" dirty="0"/>
          </a:p>
        </p:txBody>
      </p:sp>
      <p:sp>
        <p:nvSpPr>
          <p:cNvPr id="4" name="Text 2"/>
          <p:cNvSpPr/>
          <p:nvPr/>
        </p:nvSpPr>
        <p:spPr>
          <a:xfrm>
            <a:off x="603504" y="896112"/>
            <a:ext cx="7955280" cy="603504"/>
          </a:xfrm>
          <a:prstGeom prst="rect">
            <a:avLst/>
          </a:prstGeom>
          <a:noFill/>
          <a:ln/>
        </p:spPr>
        <p:txBody>
          <a:bodyPr wrap="square" lIns="0" tIns="0" rIns="0" bIns="0" rtlCol="0" anchor="ctr"/>
          <a:lstStyle/>
          <a:p>
            <a:pPr indent="0" marL="0">
              <a:buNone/>
            </a:pPr>
            <a:r>
              <a:rPr lang="en-US" sz="2800" dirty="0">
                <a:solidFill>
                  <a:srgbClr val="0A1628"/>
                </a:solidFill>
                <a:latin typeface="Inter Tight ExtraBold" pitchFamily="34" charset="0"/>
                <a:ea typeface="Inter Tight ExtraBold" pitchFamily="34" charset="-122"/>
                <a:cs typeface="Inter Tight ExtraBold" pitchFamily="34" charset="-120"/>
              </a:rPr>
              <a:t>What I would do in your position</a:t>
            </a:r>
            <a:endParaRPr lang="en-US" sz="2800" dirty="0"/>
          </a:p>
        </p:txBody>
      </p:sp>
      <p:sp>
        <p:nvSpPr>
          <p:cNvPr id="5" name="Shape 3"/>
          <p:cNvSpPr/>
          <p:nvPr/>
        </p:nvSpPr>
        <p:spPr>
          <a:xfrm>
            <a:off x="603504" y="1728216"/>
            <a:ext cx="118872" cy="118872"/>
          </a:xfrm>
          <a:prstGeom prst="rect">
            <a:avLst/>
          </a:prstGeom>
          <a:solidFill>
            <a:srgbClr val="0066FF"/>
          </a:solidFill>
          <a:ln/>
        </p:spPr>
      </p:sp>
      <p:sp>
        <p:nvSpPr>
          <p:cNvPr id="6" name="Text 4"/>
          <p:cNvSpPr txBox="1"/>
          <p:nvPr/>
        </p:nvSpPr>
        <p:spPr>
          <a:xfrm>
            <a:off x="877824" y="1664208"/>
            <a:ext cx="3383280" cy="274320"/>
          </a:xfrm>
          <a:prstGeom prst="rect">
            <a:avLst/>
          </a:prstGeom>
          <a:noFill/>
          <a:ln/>
        </p:spPr>
        <p:txBody>
          <a:bodyPr wrap="square" lIns="0" tIns="0" rIns="0" bIns="0" rtlCol="0" anchor="ctr"/>
          <a:lstStyle/>
          <a:p>
            <a:pPr indent="0" marL="0">
              <a:buNone/>
            </a:pPr>
            <a:r>
              <a:rPr lang="en-US" sz="1400" dirty="0">
                <a:solidFill>
                  <a:srgbClr val="0A1628"/>
                </a:solidFill>
                <a:latin typeface="Inter SemiBold" pitchFamily="34" charset="0"/>
                <a:ea typeface="Inter SemiBold" pitchFamily="34" charset="-122"/>
                <a:cs typeface="Inter SemiBold" pitchFamily="34" charset="-120"/>
              </a:rPr>
              <a:t>Ship one complete thing</a:t>
            </a:r>
            <a:endParaRPr lang="en-US" sz="1400" dirty="0"/>
          </a:p>
        </p:txBody>
      </p:sp>
      <p:sp>
        <p:nvSpPr>
          <p:cNvPr id="7" name="Text 5"/>
          <p:cNvSpPr txBox="1"/>
          <p:nvPr/>
        </p:nvSpPr>
        <p:spPr>
          <a:xfrm>
            <a:off x="4160520" y="1664208"/>
            <a:ext cx="4389120" cy="457200"/>
          </a:xfrm>
          <a:prstGeom prst="rect">
            <a:avLst/>
          </a:prstGeom>
          <a:noFill/>
          <a:ln/>
        </p:spPr>
        <p:txBody>
          <a:bodyPr wrap="square" lIns="0" tIns="0" rIns="0" bIns="0" rtlCol="0" anchor="t"/>
          <a:lstStyle/>
          <a:p>
            <a:pPr indent="0" marL="0">
              <a:buNone/>
            </a:pPr>
            <a:r>
              <a:rPr lang="en-US" sz="1250" dirty="0">
                <a:solidFill>
                  <a:srgbClr val="1E293B"/>
                </a:solidFill>
                <a:latin typeface="Inter" pitchFamily="34" charset="0"/>
                <a:ea typeface="Inter" pitchFamily="34" charset="-122"/>
                <a:cs typeface="Inter" pitchFamily="34" charset="-120"/>
              </a:rPr>
              <a:t>A working tool with real users, in a portfolio an employer can open.</a:t>
            </a:r>
            <a:endParaRPr lang="en-US" sz="1250" dirty="0"/>
          </a:p>
        </p:txBody>
      </p:sp>
      <p:sp>
        <p:nvSpPr>
          <p:cNvPr id="8" name="Shape 6"/>
          <p:cNvSpPr/>
          <p:nvPr/>
        </p:nvSpPr>
        <p:spPr>
          <a:xfrm>
            <a:off x="603504" y="2313432"/>
            <a:ext cx="118872" cy="118872"/>
          </a:xfrm>
          <a:prstGeom prst="rect">
            <a:avLst/>
          </a:prstGeom>
          <a:solidFill>
            <a:srgbClr val="0066FF"/>
          </a:solidFill>
          <a:ln/>
        </p:spPr>
      </p:sp>
      <p:sp>
        <p:nvSpPr>
          <p:cNvPr id="9" name="Text 7"/>
          <p:cNvSpPr txBox="1"/>
          <p:nvPr/>
        </p:nvSpPr>
        <p:spPr>
          <a:xfrm>
            <a:off x="877824" y="2249424"/>
            <a:ext cx="3383280" cy="274320"/>
          </a:xfrm>
          <a:prstGeom prst="rect">
            <a:avLst/>
          </a:prstGeom>
          <a:noFill/>
          <a:ln/>
        </p:spPr>
        <p:txBody>
          <a:bodyPr wrap="square" lIns="0" tIns="0" rIns="0" bIns="0" rtlCol="0" anchor="ctr"/>
          <a:lstStyle/>
          <a:p>
            <a:pPr indent="0" marL="0">
              <a:buNone/>
            </a:pPr>
            <a:r>
              <a:rPr lang="en-US" sz="1400" dirty="0">
                <a:solidFill>
                  <a:srgbClr val="0A1628"/>
                </a:solidFill>
                <a:latin typeface="Inter SemiBold" pitchFamily="34" charset="0"/>
                <a:ea typeface="Inter SemiBold" pitchFamily="34" charset="-122"/>
                <a:cs typeface="Inter SemiBold" pitchFamily="34" charset="-120"/>
              </a:rPr>
              <a:t>Learn one domain's rules</a:t>
            </a:r>
            <a:endParaRPr lang="en-US" sz="1400" dirty="0"/>
          </a:p>
        </p:txBody>
      </p:sp>
      <p:sp>
        <p:nvSpPr>
          <p:cNvPr id="10" name="Text 8"/>
          <p:cNvSpPr txBox="1"/>
          <p:nvPr/>
        </p:nvSpPr>
        <p:spPr>
          <a:xfrm>
            <a:off x="4160520" y="2249424"/>
            <a:ext cx="4389120" cy="457200"/>
          </a:xfrm>
          <a:prstGeom prst="rect">
            <a:avLst/>
          </a:prstGeom>
          <a:noFill/>
          <a:ln/>
        </p:spPr>
        <p:txBody>
          <a:bodyPr wrap="square" lIns="0" tIns="0" rIns="0" bIns="0" rtlCol="0" anchor="t"/>
          <a:lstStyle/>
          <a:p>
            <a:pPr indent="0" marL="0">
              <a:buNone/>
            </a:pPr>
            <a:r>
              <a:rPr lang="en-US" sz="1250" dirty="0">
                <a:solidFill>
                  <a:srgbClr val="1E293B"/>
                </a:solidFill>
                <a:latin typeface="Inter" pitchFamily="34" charset="0"/>
                <a:ea typeface="Inter" pitchFamily="34" charset="-122"/>
                <a:cs typeface="Inter" pitchFamily="34" charset="-120"/>
              </a:rPr>
              <a:t>AI skill plus banking, health or logistics knowledge is the profile I hire for.</a:t>
            </a:r>
            <a:endParaRPr lang="en-US" sz="1250" dirty="0"/>
          </a:p>
        </p:txBody>
      </p:sp>
      <p:sp>
        <p:nvSpPr>
          <p:cNvPr id="11" name="Shape 9"/>
          <p:cNvSpPr/>
          <p:nvPr/>
        </p:nvSpPr>
        <p:spPr>
          <a:xfrm>
            <a:off x="603504" y="2898648"/>
            <a:ext cx="118872" cy="118872"/>
          </a:xfrm>
          <a:prstGeom prst="rect">
            <a:avLst/>
          </a:prstGeom>
          <a:solidFill>
            <a:srgbClr val="0066FF"/>
          </a:solidFill>
          <a:ln/>
        </p:spPr>
      </p:sp>
      <p:sp>
        <p:nvSpPr>
          <p:cNvPr id="12" name="Text 10"/>
          <p:cNvSpPr txBox="1"/>
          <p:nvPr/>
        </p:nvSpPr>
        <p:spPr>
          <a:xfrm>
            <a:off x="877824" y="2834640"/>
            <a:ext cx="3383280" cy="274320"/>
          </a:xfrm>
          <a:prstGeom prst="rect">
            <a:avLst/>
          </a:prstGeom>
          <a:noFill/>
          <a:ln/>
        </p:spPr>
        <p:txBody>
          <a:bodyPr wrap="square" lIns="0" tIns="0" rIns="0" bIns="0" rtlCol="0" anchor="ctr"/>
          <a:lstStyle/>
          <a:p>
            <a:pPr indent="0" marL="0">
              <a:buNone/>
            </a:pPr>
            <a:r>
              <a:rPr lang="en-US" sz="1400" dirty="0">
                <a:solidFill>
                  <a:srgbClr val="0A1628"/>
                </a:solidFill>
                <a:latin typeface="Inter SemiBold" pitchFamily="34" charset="0"/>
                <a:ea typeface="Inter SemiBold" pitchFamily="34" charset="-122"/>
                <a:cs typeface="Inter SemiBold" pitchFamily="34" charset="-120"/>
              </a:rPr>
              <a:t>Write the spec before the prompt</a:t>
            </a:r>
            <a:endParaRPr lang="en-US" sz="1400" dirty="0"/>
          </a:p>
        </p:txBody>
      </p:sp>
      <p:sp>
        <p:nvSpPr>
          <p:cNvPr id="13" name="Text 11"/>
          <p:cNvSpPr txBox="1"/>
          <p:nvPr/>
        </p:nvSpPr>
        <p:spPr>
          <a:xfrm>
            <a:off x="4160520" y="2834640"/>
            <a:ext cx="4389120" cy="457200"/>
          </a:xfrm>
          <a:prstGeom prst="rect">
            <a:avLst/>
          </a:prstGeom>
          <a:noFill/>
          <a:ln/>
        </p:spPr>
        <p:txBody>
          <a:bodyPr wrap="square" lIns="0" tIns="0" rIns="0" bIns="0" rtlCol="0" anchor="t"/>
          <a:lstStyle/>
          <a:p>
            <a:pPr indent="0" marL="0">
              <a:buNone/>
            </a:pPr>
            <a:r>
              <a:rPr lang="en-US" sz="1250" dirty="0">
                <a:solidFill>
                  <a:srgbClr val="1E293B"/>
                </a:solidFill>
                <a:latin typeface="Inter" pitchFamily="34" charset="0"/>
                <a:ea typeface="Inter" pitchFamily="34" charset="-122"/>
                <a:cs typeface="Inter" pitchFamily="34" charset="-120"/>
              </a:rPr>
              <a:t>State the user, the input, the expected output and how you will test it.</a:t>
            </a:r>
            <a:endParaRPr lang="en-US" sz="1250" dirty="0"/>
          </a:p>
        </p:txBody>
      </p:sp>
      <p:sp>
        <p:nvSpPr>
          <p:cNvPr id="14" name="Shape 12"/>
          <p:cNvSpPr/>
          <p:nvPr/>
        </p:nvSpPr>
        <p:spPr>
          <a:xfrm>
            <a:off x="603504" y="3483864"/>
            <a:ext cx="118872" cy="118872"/>
          </a:xfrm>
          <a:prstGeom prst="rect">
            <a:avLst/>
          </a:prstGeom>
          <a:solidFill>
            <a:srgbClr val="0066FF"/>
          </a:solidFill>
          <a:ln/>
        </p:spPr>
      </p:sp>
      <p:sp>
        <p:nvSpPr>
          <p:cNvPr id="15" name="Text 13"/>
          <p:cNvSpPr txBox="1"/>
          <p:nvPr/>
        </p:nvSpPr>
        <p:spPr>
          <a:xfrm>
            <a:off x="877824" y="3419856"/>
            <a:ext cx="3383280" cy="274320"/>
          </a:xfrm>
          <a:prstGeom prst="rect">
            <a:avLst/>
          </a:prstGeom>
          <a:noFill/>
          <a:ln/>
        </p:spPr>
        <p:txBody>
          <a:bodyPr wrap="square" lIns="0" tIns="0" rIns="0" bIns="0" rtlCol="0" anchor="ctr"/>
          <a:lstStyle/>
          <a:p>
            <a:pPr indent="0" marL="0">
              <a:buNone/>
            </a:pPr>
            <a:r>
              <a:rPr lang="en-US" sz="1400" dirty="0">
                <a:solidFill>
                  <a:srgbClr val="0A1628"/>
                </a:solidFill>
                <a:latin typeface="Inter SemiBold" pitchFamily="34" charset="0"/>
                <a:ea typeface="Inter SemiBold" pitchFamily="34" charset="-122"/>
                <a:cs typeface="Inter SemiBold" pitchFamily="34" charset="-120"/>
              </a:rPr>
              <a:t>Build a test set</a:t>
            </a:r>
            <a:endParaRPr lang="en-US" sz="1400" dirty="0"/>
          </a:p>
        </p:txBody>
      </p:sp>
      <p:sp>
        <p:nvSpPr>
          <p:cNvPr id="16" name="Text 14"/>
          <p:cNvSpPr txBox="1"/>
          <p:nvPr/>
        </p:nvSpPr>
        <p:spPr>
          <a:xfrm>
            <a:off x="4160520" y="3419856"/>
            <a:ext cx="4389120" cy="457200"/>
          </a:xfrm>
          <a:prstGeom prst="rect">
            <a:avLst/>
          </a:prstGeom>
          <a:noFill/>
          <a:ln/>
        </p:spPr>
        <p:txBody>
          <a:bodyPr wrap="square" lIns="0" tIns="0" rIns="0" bIns="0" rtlCol="0" anchor="t"/>
          <a:lstStyle/>
          <a:p>
            <a:pPr indent="0" marL="0">
              <a:buNone/>
            </a:pPr>
            <a:r>
              <a:rPr lang="en-US" sz="1250" dirty="0">
                <a:solidFill>
                  <a:srgbClr val="1E293B"/>
                </a:solidFill>
                <a:latin typeface="Inter" pitchFamily="34" charset="0"/>
                <a:ea typeface="Inter" pitchFamily="34" charset="-122"/>
                <a:cs typeface="Inter" pitchFamily="34" charset="-120"/>
              </a:rPr>
              <a:t>Thirty real examples with known answers, rerun every time you change the prompt.</a:t>
            </a:r>
            <a:endParaRPr lang="en-US" sz="1250" dirty="0"/>
          </a:p>
        </p:txBody>
      </p:sp>
      <p:sp>
        <p:nvSpPr>
          <p:cNvPr id="17" name="Shape 15"/>
          <p:cNvSpPr/>
          <p:nvPr/>
        </p:nvSpPr>
        <p:spPr>
          <a:xfrm>
            <a:off x="603504" y="4069080"/>
            <a:ext cx="118872" cy="118872"/>
          </a:xfrm>
          <a:prstGeom prst="rect">
            <a:avLst/>
          </a:prstGeom>
          <a:solidFill>
            <a:srgbClr val="00D4AA"/>
          </a:solidFill>
          <a:ln/>
        </p:spPr>
      </p:sp>
      <p:sp>
        <p:nvSpPr>
          <p:cNvPr id="18" name="Text 16"/>
          <p:cNvSpPr txBox="1"/>
          <p:nvPr/>
        </p:nvSpPr>
        <p:spPr>
          <a:xfrm>
            <a:off x="877824" y="4005072"/>
            <a:ext cx="3383280" cy="274320"/>
          </a:xfrm>
          <a:prstGeom prst="rect">
            <a:avLst/>
          </a:prstGeom>
          <a:noFill/>
          <a:ln/>
        </p:spPr>
        <p:txBody>
          <a:bodyPr wrap="square" lIns="0" tIns="0" rIns="0" bIns="0" rtlCol="0" anchor="ctr"/>
          <a:lstStyle/>
          <a:p>
            <a:pPr indent="0" marL="0">
              <a:buNone/>
            </a:pPr>
            <a:r>
              <a:rPr lang="en-US" sz="1400" dirty="0">
                <a:solidFill>
                  <a:srgbClr val="0A1628"/>
                </a:solidFill>
                <a:latin typeface="Inter SemiBold" pitchFamily="34" charset="0"/>
                <a:ea typeface="Inter SemiBold" pitchFamily="34" charset="-122"/>
                <a:cs typeface="Inter SemiBold" pitchFamily="34" charset="-120"/>
              </a:rPr>
              <a:t>Enter the Solutions Competition</a:t>
            </a:r>
            <a:endParaRPr lang="en-US" sz="1400" dirty="0"/>
          </a:p>
        </p:txBody>
      </p:sp>
      <p:sp>
        <p:nvSpPr>
          <p:cNvPr id="19" name="Text 17"/>
          <p:cNvSpPr txBox="1"/>
          <p:nvPr/>
        </p:nvSpPr>
        <p:spPr>
          <a:xfrm>
            <a:off x="4160520" y="4005072"/>
            <a:ext cx="4389120" cy="457200"/>
          </a:xfrm>
          <a:prstGeom prst="rect">
            <a:avLst/>
          </a:prstGeom>
          <a:noFill/>
          <a:ln/>
        </p:spPr>
        <p:txBody>
          <a:bodyPr wrap="square" lIns="0" tIns="0" rIns="0" bIns="0" rtlCol="0" anchor="t"/>
          <a:lstStyle/>
          <a:p>
            <a:pPr indent="0" marL="0">
              <a:buNone/>
            </a:pPr>
            <a:r>
              <a:rPr lang="en-US" sz="1250" dirty="0">
                <a:solidFill>
                  <a:srgbClr val="1E293B"/>
                </a:solidFill>
                <a:latin typeface="Inter" pitchFamily="34" charset="0"/>
                <a:ea typeface="Inter" pitchFamily="34" charset="-122"/>
                <a:cs typeface="Inter" pitchFamily="34" charset="-120"/>
              </a:rPr>
              <a:t>ITAIF's February 2027 track gives you a real challenge, mentors and an audience.</a:t>
            </a:r>
            <a:endParaRPr lang="en-US" sz="1250" dirty="0"/>
          </a:p>
        </p:txBody>
      </p:sp>
      <p:sp>
        <p:nvSpPr>
          <p:cNvPr id="20" name="Text 18"/>
          <p:cNvSpPr/>
          <p:nvPr/>
        </p:nvSpPr>
        <p:spPr>
          <a:xfrm>
            <a:off x="603504" y="4828032"/>
            <a:ext cx="3657600" cy="228600"/>
          </a:xfrm>
          <a:prstGeom prst="rect">
            <a:avLst/>
          </a:prstGeom>
          <a:noFill/>
          <a:ln/>
        </p:spPr>
        <p:txBody>
          <a:bodyPr wrap="square" lIns="0" tIns="0" rIns="0" bIns="0" rtlCol="0" anchor="ctr"/>
          <a:lstStyle/>
          <a:p>
            <a:pPr indent="0" marL="0">
              <a:buNone/>
            </a:pPr>
            <a:r>
              <a:rPr lang="en-US" sz="900" dirty="0">
                <a:solidFill>
                  <a:srgbClr val="94A3B8"/>
                </a:solidFill>
                <a:latin typeface="Inter" pitchFamily="34" charset="0"/>
                <a:ea typeface="Inter" pitchFamily="34" charset="-122"/>
                <a:cs typeface="Inter" pitchFamily="34" charset="-120"/>
              </a:rPr>
              <a:t>BRDG Studio</a:t>
            </a:r>
            <a:endParaRPr lang="en-US" sz="900" dirty="0"/>
          </a:p>
        </p:txBody>
      </p:sp>
      <p:sp>
        <p:nvSpPr>
          <p:cNvPr id="21" name="Text 19"/>
          <p:cNvSpPr/>
          <p:nvPr/>
        </p:nvSpPr>
        <p:spPr>
          <a:xfrm>
            <a:off x="4882896" y="4828032"/>
            <a:ext cx="3657600" cy="228600"/>
          </a:xfrm>
          <a:prstGeom prst="rect">
            <a:avLst/>
          </a:prstGeom>
          <a:noFill/>
          <a:ln/>
        </p:spPr>
        <p:txBody>
          <a:bodyPr wrap="square" lIns="0" tIns="0" rIns="0" bIns="0" rtlCol="0" anchor="ctr"/>
          <a:lstStyle/>
          <a:p>
            <a:pPr algn="r" indent="0" marL="0">
              <a:buNone/>
            </a:pPr>
            <a:r>
              <a:rPr lang="en-US" sz="900" dirty="0">
                <a:solidFill>
                  <a:srgbClr val="94A3B8"/>
                </a:solidFill>
                <a:latin typeface="Inter" pitchFamily="34" charset="0"/>
                <a:ea typeface="Inter" pitchFamily="34" charset="-122"/>
                <a:cs typeface="Inter" pitchFamily="34" charset="-120"/>
              </a:rPr>
              <a:t>ITAIF 2026  ·  The power of AI in business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assets/arc_bright.png">    </p:cNvPr>
          <p:cNvPicPr>
            <a:picLocks noChangeAspect="1"/>
          </p:cNvPicPr>
          <p:nvPr/>
        </p:nvPicPr>
        <p:blipFill>
          <a:blip r:embed="rId2"/>
          <a:stretch>
            <a:fillRect/>
          </a:stretch>
        </p:blipFill>
        <p:spPr>
          <a:xfrm>
            <a:off x="4846320" y="3429000"/>
            <a:ext cx="4114800" cy="1554480"/>
          </a:xfrm>
          <a:prstGeom prst="rect">
            <a:avLst/>
          </a:prstGeom>
        </p:spPr>
      </p:pic>
      <p:sp>
        <p:nvSpPr>
          <p:cNvPr id="3" name="Text 0"/>
          <p:cNvSpPr/>
          <p:nvPr/>
        </p:nvSpPr>
        <p:spPr>
          <a:xfrm>
            <a:off x="640080" y="384048"/>
            <a:ext cx="2743200" cy="365760"/>
          </a:xfrm>
          <a:prstGeom prst="rect">
            <a:avLst/>
          </a:prstGeom>
          <a:noFill/>
          <a:ln/>
        </p:spPr>
        <p:txBody>
          <a:bodyPr wrap="square" lIns="0" tIns="0" rIns="0" bIns="0" rtlCol="0" anchor="ctr"/>
          <a:lstStyle/>
          <a:p>
            <a:pPr indent="0" marL="0">
              <a:buNone/>
            </a:pPr>
            <a:r>
              <a:rPr lang="en-US" sz="2400" b="1" dirty="0">
                <a:solidFill>
                  <a:srgbClr val="FFFFFF"/>
                </a:solidFill>
                <a:latin typeface="Inter" pitchFamily="34" charset="0"/>
                <a:ea typeface="Inter" pitchFamily="34" charset="-122"/>
                <a:cs typeface="Inter" pitchFamily="34" charset="-120"/>
              </a:rPr>
              <a:t>BRDG</a:t>
            </a:r>
            <a:endParaRPr lang="en-US" sz="2400" dirty="0"/>
          </a:p>
        </p:txBody>
      </p:sp>
      <p:sp>
        <p:nvSpPr>
          <p:cNvPr id="4" name="Text 1"/>
          <p:cNvSpPr/>
          <p:nvPr/>
        </p:nvSpPr>
        <p:spPr>
          <a:xfrm>
            <a:off x="640080" y="722376"/>
            <a:ext cx="2743200" cy="256032"/>
          </a:xfrm>
          <a:prstGeom prst="rect">
            <a:avLst/>
          </a:prstGeom>
          <a:noFill/>
          <a:ln/>
        </p:spPr>
        <p:txBody>
          <a:bodyPr wrap="square" lIns="0" tIns="0" rIns="0" bIns="0" rtlCol="0" anchor="ctr"/>
          <a:lstStyle/>
          <a:p>
            <a:pPr indent="0" marL="0">
              <a:buNone/>
            </a:pPr>
            <a:r>
              <a:rPr lang="en-US" sz="1200" spc="100" kern="0" dirty="0">
                <a:solidFill>
                  <a:srgbClr val="94A3B8"/>
                </a:solidFill>
                <a:latin typeface="Inter" pitchFamily="34" charset="0"/>
                <a:ea typeface="Inter" pitchFamily="34" charset="-122"/>
                <a:cs typeface="Inter" pitchFamily="34" charset="-120"/>
              </a:rPr>
              <a:t>Studio</a:t>
            </a:r>
            <a:endParaRPr lang="en-US" sz="1200" dirty="0"/>
          </a:p>
        </p:txBody>
      </p:sp>
      <p:sp>
        <p:nvSpPr>
          <p:cNvPr id="5" name="Text 2"/>
          <p:cNvSpPr/>
          <p:nvPr/>
        </p:nvSpPr>
        <p:spPr>
          <a:xfrm>
            <a:off x="658368" y="1481328"/>
            <a:ext cx="7315200" cy="274320"/>
          </a:xfrm>
          <a:prstGeom prst="rect">
            <a:avLst/>
          </a:prstGeom>
          <a:noFill/>
          <a:ln/>
        </p:spPr>
        <p:txBody>
          <a:bodyPr wrap="square" lIns="0" tIns="0" rIns="0" bIns="0" rtlCol="0" anchor="ctr"/>
          <a:lstStyle/>
          <a:p>
            <a:pPr indent="0" marL="0">
              <a:buNone/>
            </a:pPr>
            <a:r>
              <a:rPr lang="en-US" sz="1200" spc="260" kern="0" dirty="0">
                <a:solidFill>
                  <a:srgbClr val="00D4AA"/>
                </a:solidFill>
                <a:latin typeface="Inter SemiBold" pitchFamily="34" charset="0"/>
                <a:ea typeface="Inter SemiBold" pitchFamily="34" charset="-122"/>
                <a:cs typeface="Inter SemiBold" pitchFamily="34" charset="-120"/>
              </a:rPr>
              <a:t>THANK YOU</a:t>
            </a:r>
            <a:endParaRPr lang="en-US" sz="1200" dirty="0"/>
          </a:p>
        </p:txBody>
      </p:sp>
      <p:sp>
        <p:nvSpPr>
          <p:cNvPr id="6" name="Text 3"/>
          <p:cNvSpPr txBox="1"/>
          <p:nvPr/>
        </p:nvSpPr>
        <p:spPr>
          <a:xfrm>
            <a:off x="603504" y="1810512"/>
            <a:ext cx="7863840" cy="1325880"/>
          </a:xfrm>
          <a:prstGeom prst="rect">
            <a:avLst/>
          </a:prstGeom>
          <a:noFill/>
          <a:ln/>
        </p:spPr>
        <p:txBody>
          <a:bodyPr wrap="square" lIns="0" tIns="0" rIns="0" bIns="0" rtlCol="0" anchor="t"/>
          <a:lstStyle/>
          <a:p>
            <a:pPr indent="0" marL="0">
              <a:lnSpc>
                <a:spcPct val="92000"/>
              </a:lnSpc>
              <a:buNone/>
            </a:pPr>
            <a:r>
              <a:rPr lang="en-US" sz="4600" dirty="0">
                <a:solidFill>
                  <a:srgbClr val="FFFFFF"/>
                </a:solidFill>
                <a:latin typeface="Inter Tight Black" pitchFamily="34" charset="0"/>
                <a:ea typeface="Inter Tight Black" pitchFamily="34" charset="-122"/>
                <a:cs typeface="Inter Tight Black" pitchFamily="34" charset="-120"/>
              </a:rPr>
              <a:t>Build something</a:t>
            </a:r>
            <a:endParaRPr lang="en-US" sz="4600" dirty="0"/>
          </a:p>
          <a:p>
            <a:pPr indent="0" marL="0">
              <a:lnSpc>
                <a:spcPct val="92000"/>
              </a:lnSpc>
              <a:buNone/>
            </a:pPr>
            <a:r>
              <a:rPr lang="en-US" sz="4600" dirty="0">
                <a:solidFill>
                  <a:srgbClr val="FFFFFF"/>
                </a:solidFill>
                <a:latin typeface="Inter Tight Black" pitchFamily="34" charset="0"/>
                <a:ea typeface="Inter Tight Black" pitchFamily="34" charset="-122"/>
                <a:cs typeface="Inter Tight Black" pitchFamily="34" charset="-120"/>
              </a:rPr>
              <a:t>real this term</a:t>
            </a:r>
            <a:endParaRPr lang="en-US" sz="4600" dirty="0"/>
          </a:p>
        </p:txBody>
      </p:sp>
      <p:sp>
        <p:nvSpPr>
          <p:cNvPr id="7" name="Text 4"/>
          <p:cNvSpPr txBox="1"/>
          <p:nvPr/>
        </p:nvSpPr>
        <p:spPr>
          <a:xfrm>
            <a:off x="658368" y="3291840"/>
            <a:ext cx="5486400" cy="365760"/>
          </a:xfrm>
          <a:prstGeom prst="rect">
            <a:avLst/>
          </a:prstGeom>
          <a:noFill/>
          <a:ln/>
        </p:spPr>
        <p:txBody>
          <a:bodyPr wrap="square" lIns="0" tIns="0" rIns="0" bIns="0" rtlCol="0" anchor="ctr"/>
          <a:lstStyle/>
          <a:p>
            <a:pPr indent="0" marL="0">
              <a:buNone/>
            </a:pPr>
            <a:r>
              <a:rPr lang="en-US" sz="1600" dirty="0">
                <a:solidFill>
                  <a:srgbClr val="00D4AA"/>
                </a:solidFill>
                <a:latin typeface="Inter" pitchFamily="34" charset="0"/>
                <a:ea typeface="Inter" pitchFamily="34" charset="-122"/>
                <a:cs typeface="Inter" pitchFamily="34" charset="-120"/>
              </a:rPr>
              <a:t>nidal@brdg.studio  ·  brdg.studio</a:t>
            </a:r>
            <a:endParaRPr lang="en-US" sz="1600" dirty="0"/>
          </a:p>
        </p:txBody>
      </p:sp>
      <p:sp>
        <p:nvSpPr>
          <p:cNvPr id="8" name="Text 5"/>
          <p:cNvSpPr txBox="1"/>
          <p:nvPr/>
        </p:nvSpPr>
        <p:spPr>
          <a:xfrm>
            <a:off x="658368" y="3703320"/>
            <a:ext cx="4114800" cy="320040"/>
          </a:xfrm>
          <a:prstGeom prst="rect">
            <a:avLst/>
          </a:prstGeom>
          <a:noFill/>
          <a:ln/>
        </p:spPr>
        <p:txBody>
          <a:bodyPr wrap="square" lIns="0" tIns="0" rIns="0" bIns="0" rtlCol="0" anchor="ctr"/>
          <a:lstStyle/>
          <a:p>
            <a:pPr indent="0" marL="0">
              <a:buNone/>
            </a:pPr>
            <a:r>
              <a:rPr lang="en-US" sz="1300" dirty="0">
                <a:solidFill>
                  <a:srgbClr val="CBD5E1"/>
                </a:solidFill>
                <a:latin typeface="Inter" pitchFamily="34" charset="0"/>
                <a:ea typeface="Inter" pitchFamily="34" charset="-122"/>
                <a:cs typeface="Inter" pitchFamily="34" charset="-120"/>
              </a:rPr>
              <a:t>Questions now, or find me after the session.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power of AI in business</dc:title>
  <dc:subject>PptxGenJS Presentation</dc:subject>
  <dc:creator>BRDG Studio</dc:creator>
  <cp:lastModifiedBy>BRDG Studio</cp:lastModifiedBy>
  <cp:revision>1</cp:revision>
  <dcterms:created xsi:type="dcterms:W3CDTF">2026-10-12T09:17:31Z</dcterms:created>
  <dcterms:modified xsi:type="dcterms:W3CDTF">2026-10-12T09:17:31Z</dcterms:modified>
</cp:coreProperties>
</file>