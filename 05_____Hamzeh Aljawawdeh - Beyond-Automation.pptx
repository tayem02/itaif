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29f3862bc784430" /><Relationship Type="http://schemas.openxmlformats.org/officeDocument/2006/relationships/extended-properties" Target="/docProps/app.xml" Id="Rbb0d7279358f4bb7" /><Relationship Type="http://schemas.openxmlformats.org/officeDocument/2006/relationships/officeDocument" Target="/ppt/presentation.xml" Id="Re005b0073ce04096" /></Relationships>
</file>

<file path=ppt/presentation.xml><?xml version="1.0" encoding="utf-8"?>
<p:presentation xmlns:p="http://schemas.openxmlformats.org/presentationml/2006/main">
  <p:sldMasterIdLst>
    <p:sldMasterId xmlns:r="http://schemas.openxmlformats.org/officeDocument/2006/relationships" id="2147483648" r:id="Re705253a32844234"/>
  </p:sldMasterIdLst>
  <p:notesMasterIdLst>
    <p:notesMasterId xmlns:r="http://schemas.openxmlformats.org/officeDocument/2006/relationships" r:id="R5bcdf1eba0e24577"/>
  </p:notesMasterIdLst>
  <p:sldIdLst>
    <p:sldId xmlns:r="http://schemas.openxmlformats.org/officeDocument/2006/relationships" id="256" r:id="R5fb440573d124953"/>
    <p:sldId xmlns:r="http://schemas.openxmlformats.org/officeDocument/2006/relationships" id="257" r:id="R6973a6d6b1ef48cf"/>
    <p:sldId xmlns:r="http://schemas.openxmlformats.org/officeDocument/2006/relationships" id="258" r:id="R3fa9dc3275fb49ee"/>
    <p:sldId xmlns:r="http://schemas.openxmlformats.org/officeDocument/2006/relationships" id="259" r:id="R433194d91bcf4ef8"/>
    <p:sldId xmlns:r="http://schemas.openxmlformats.org/officeDocument/2006/relationships" id="260" r:id="Rd48c4d297b834f22"/>
    <p:sldId xmlns:r="http://schemas.openxmlformats.org/officeDocument/2006/relationships" id="261" r:id="R46b8e9b04415486e"/>
    <p:sldId xmlns:r="http://schemas.openxmlformats.org/officeDocument/2006/relationships" id="262" r:id="Rb836baeba35145ae"/>
    <p:sldId xmlns:r="http://schemas.openxmlformats.org/officeDocument/2006/relationships" id="263" r:id="Ra828f2cec6ba42e0"/>
    <p:sldId xmlns:r="http://schemas.openxmlformats.org/officeDocument/2006/relationships" id="264" r:id="R1bf85fa332184069"/>
    <p:sldId xmlns:r="http://schemas.openxmlformats.org/officeDocument/2006/relationships" id="265" r:id="Ra3760a759e744e68"/>
    <p:sldId xmlns:r="http://schemas.openxmlformats.org/officeDocument/2006/relationships" id="266" r:id="R7ebb9042bd434e26"/>
    <p:sldId xmlns:r="http://schemas.openxmlformats.org/officeDocument/2006/relationships" id="267" r:id="Rd2521ff59d124817"/>
    <p:sldId xmlns:r="http://schemas.openxmlformats.org/officeDocument/2006/relationships" id="268" r:id="R4f21a2c495644a34"/>
    <p:sldId xmlns:r="http://schemas.openxmlformats.org/officeDocument/2006/relationships" id="269" r:id="R235adf201c364d40"/>
    <p:sldId xmlns:r="http://schemas.openxmlformats.org/officeDocument/2006/relationships" id="270" r:id="R52a304de92ff49d0"/>
    <p:sldId xmlns:r="http://schemas.openxmlformats.org/officeDocument/2006/relationships" id="271" r:id="R746a2a150176496a"/>
    <p:sldId xmlns:r="http://schemas.openxmlformats.org/officeDocument/2006/relationships" id="272" r:id="Rdb5c5ce3a0da4855"/>
    <p:sldId xmlns:r="http://schemas.openxmlformats.org/officeDocument/2006/relationships" id="273" r:id="R8d6c215652844de7"/>
    <p:sldId xmlns:r="http://schemas.openxmlformats.org/officeDocument/2006/relationships" id="274" r:id="R84a67a39b41e468a"/>
    <p:sldId xmlns:r="http://schemas.openxmlformats.org/officeDocument/2006/relationships" id="275" r:id="R4e0360521efa43e5"/>
    <p:sldId xmlns:r="http://schemas.openxmlformats.org/officeDocument/2006/relationships" id="276" r:id="R8d22c14699de45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f32841a84e4947" /><Relationship Type="http://schemas.openxmlformats.org/officeDocument/2006/relationships/slideMaster" Target="/ppt/slideMasters/slideMaster1.xml" Id="Re705253a32844234" /><Relationship Type="http://schemas.openxmlformats.org/officeDocument/2006/relationships/notesMaster" Target="/ppt/notesMasters/notesMaster1.xml" Id="R5bcdf1eba0e24577" /><Relationship Type="http://schemas.openxmlformats.org/officeDocument/2006/relationships/presProps" Target="/ppt/presProps.xml" Id="R1287d48ad06d4c12" /><Relationship Type="http://schemas.openxmlformats.org/officeDocument/2006/relationships/tableStyles" Target="/ppt/tableStyles.xml" Id="R41274aff9cdf48ee" /><Relationship Type="http://schemas.openxmlformats.org/officeDocument/2006/relationships/slide" Target="/ppt/slides/slide1.xml" Id="R5fb440573d124953" /><Relationship Type="http://schemas.openxmlformats.org/officeDocument/2006/relationships/slide" Target="/ppt/slides/slide2.xml" Id="R6973a6d6b1ef48cf" /><Relationship Type="http://schemas.openxmlformats.org/officeDocument/2006/relationships/slide" Target="/ppt/slides/slide3.xml" Id="R3fa9dc3275fb49ee" /><Relationship Type="http://schemas.openxmlformats.org/officeDocument/2006/relationships/slide" Target="/ppt/slides/slide4.xml" Id="R433194d91bcf4ef8" /><Relationship Type="http://schemas.openxmlformats.org/officeDocument/2006/relationships/slide" Target="/ppt/slides/slide5.xml" Id="Rd48c4d297b834f22" /><Relationship Type="http://schemas.openxmlformats.org/officeDocument/2006/relationships/slide" Target="/ppt/slides/slide6.xml" Id="R46b8e9b04415486e" /><Relationship Type="http://schemas.openxmlformats.org/officeDocument/2006/relationships/slide" Target="/ppt/slides/slide7.xml" Id="Rb836baeba35145ae" /><Relationship Type="http://schemas.openxmlformats.org/officeDocument/2006/relationships/slide" Target="/ppt/slides/slide8.xml" Id="Ra828f2cec6ba42e0" /><Relationship Type="http://schemas.openxmlformats.org/officeDocument/2006/relationships/slide" Target="/ppt/slides/slide9.xml" Id="R1bf85fa332184069" /><Relationship Type="http://schemas.openxmlformats.org/officeDocument/2006/relationships/slide" Target="/ppt/slides/slide10.xml" Id="Ra3760a759e744e68" /><Relationship Type="http://schemas.openxmlformats.org/officeDocument/2006/relationships/slide" Target="/ppt/slides/slide11.xml" Id="R7ebb9042bd434e26" /><Relationship Type="http://schemas.openxmlformats.org/officeDocument/2006/relationships/slide" Target="/ppt/slides/slide12.xml" Id="Rd2521ff59d124817" /><Relationship Type="http://schemas.openxmlformats.org/officeDocument/2006/relationships/slide" Target="/ppt/slides/slide13.xml" Id="R4f21a2c495644a34" /><Relationship Type="http://schemas.openxmlformats.org/officeDocument/2006/relationships/slide" Target="/ppt/slides/slide14.xml" Id="R235adf201c364d40" /><Relationship Type="http://schemas.openxmlformats.org/officeDocument/2006/relationships/slide" Target="/ppt/slides/slide15.xml" Id="R52a304de92ff49d0" /><Relationship Type="http://schemas.openxmlformats.org/officeDocument/2006/relationships/slide" Target="/ppt/slides/slide16.xml" Id="R746a2a150176496a" /><Relationship Type="http://schemas.openxmlformats.org/officeDocument/2006/relationships/slide" Target="/ppt/slides/slide17.xml" Id="Rdb5c5ce3a0da4855" /><Relationship Type="http://schemas.openxmlformats.org/officeDocument/2006/relationships/slide" Target="/ppt/slides/slide18.xml" Id="R8d6c215652844de7" /><Relationship Type="http://schemas.openxmlformats.org/officeDocument/2006/relationships/slide" Target="/ppt/slides/slide19.xml" Id="R84a67a39b41e468a" /><Relationship Type="http://schemas.openxmlformats.org/officeDocument/2006/relationships/slide" Target="/ppt/slides/slide20.xml" Id="R4e0360521efa43e5" /><Relationship Type="http://schemas.openxmlformats.org/officeDocument/2006/relationships/slide" Target="/ppt/slides/slide21.xml" Id="R8d22c14699de45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82d95aa8e74b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d7de8072c148b5" /><Relationship Type="http://schemas.openxmlformats.org/officeDocument/2006/relationships/notesMaster" Target="/ppt/notesMasters/notesMaster1.xml" Id="R34f95311f1954f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eb0f8762ff4c17" /><Relationship Type="http://schemas.openxmlformats.org/officeDocument/2006/relationships/notesMaster" Target="/ppt/notesMasters/notesMaster1.xml" Id="Rc268d0dddf0949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71b92d6f664c51" /><Relationship Type="http://schemas.openxmlformats.org/officeDocument/2006/relationships/notesMaster" Target="/ppt/notesMasters/notesMaster1.xml" Id="Rd3525525ece64c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6831d32d7044e6" /><Relationship Type="http://schemas.openxmlformats.org/officeDocument/2006/relationships/notesMaster" Target="/ppt/notesMasters/notesMaster1.xml" Id="R8844d2f14d4c48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a6e109d3774a44" /><Relationship Type="http://schemas.openxmlformats.org/officeDocument/2006/relationships/notesMaster" Target="/ppt/notesMasters/notesMaster1.xml" Id="R6bb07de2b2ab4a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c8c8dd9cca4a84" /><Relationship Type="http://schemas.openxmlformats.org/officeDocument/2006/relationships/notesMaster" Target="/ppt/notesMasters/notesMaster1.xml" Id="Rfbbfa76eed4641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e76b0f7acb44a1" /><Relationship Type="http://schemas.openxmlformats.org/officeDocument/2006/relationships/notesMaster" Target="/ppt/notesMasters/notesMaster1.xml" Id="Re3d5a32e51f844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eb763d7eb2402a" /><Relationship Type="http://schemas.openxmlformats.org/officeDocument/2006/relationships/notesMaster" Target="/ppt/notesMasters/notesMaster1.xml" Id="R4ff0004e3b6141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0a66a6b4c74ff8" /><Relationship Type="http://schemas.openxmlformats.org/officeDocument/2006/relationships/notesMaster" Target="/ppt/notesMasters/notesMaster1.xml" Id="Re8959557a90e4b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3cef8899234079" /><Relationship Type="http://schemas.openxmlformats.org/officeDocument/2006/relationships/notesMaster" Target="/ppt/notesMasters/notesMaster1.xml" Id="Rc15dc0ced8ca409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09efd089ad14506" /><Relationship Type="http://schemas.openxmlformats.org/officeDocument/2006/relationships/notesMaster" Target="/ppt/notesMasters/notesMaster1.xml" Id="R08305a2589b5422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8ff6efe0cc74e2c" /><Relationship Type="http://schemas.openxmlformats.org/officeDocument/2006/relationships/notesMaster" Target="/ppt/notesMasters/notesMaster1.xml" Id="Rf68dc7e902434a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4d8af93da3549ab" /><Relationship Type="http://schemas.openxmlformats.org/officeDocument/2006/relationships/notesMaster" Target="/ppt/notesMasters/notesMaster1.xml" Id="R0e78a83170f445e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7caa9393c354c6a" /><Relationship Type="http://schemas.openxmlformats.org/officeDocument/2006/relationships/notesMaster" Target="/ppt/notesMasters/notesMaster1.xml" Id="R02ae9573c3454dc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edfecf529d646d0" /><Relationship Type="http://schemas.openxmlformats.org/officeDocument/2006/relationships/notesMaster" Target="/ppt/notesMasters/notesMaster1.xml" Id="Rfff8005a9839488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e8a2167d3aa411e" /><Relationship Type="http://schemas.openxmlformats.org/officeDocument/2006/relationships/notesMaster" Target="/ppt/notesMasters/notesMaster1.xml" Id="R1da317114010475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592f9aa07f84057" /><Relationship Type="http://schemas.openxmlformats.org/officeDocument/2006/relationships/notesMaster" Target="/ppt/notesMasters/notesMaster1.xml" Id="R2c295f13ba664aa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20668c698e64b92" /><Relationship Type="http://schemas.openxmlformats.org/officeDocument/2006/relationships/notesMaster" Target="/ppt/notesMasters/notesMaster1.xml" Id="Rfc8cc302c6b14cd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21eec711e084cd1" /><Relationship Type="http://schemas.openxmlformats.org/officeDocument/2006/relationships/notesMaster" Target="/ppt/notesMasters/notesMaster1.xml" Id="R20cadaaf296f44e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db9b63234b44d4" /><Relationship Type="http://schemas.openxmlformats.org/officeDocument/2006/relationships/notesMaster" Target="/ppt/notesMasters/notesMaster1.xml" Id="R8a65d19dfd4c4af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ad1fc62e70e46a7" /><Relationship Type="http://schemas.openxmlformats.org/officeDocument/2006/relationships/notesMaster" Target="/ppt/notesMasters/notesMaster1.xml" Id="Ra18bb32309954c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cue: Begin with a 20-second drone-show video before saying anything. Freeze on the final frame, then reveal this slide.</a:t>
            </a:r>
          </a:p>
          <a:p xmlns:a="http://schemas.openxmlformats.org/drawingml/2006/main">
            <a:r>
              <a:t/>
            </a:r>
          </a:p>
          <a:p xmlns:a="http://schemas.openxmlformats.org/drawingml/2006/main">
            <a:r>
              <a:t>Good morning.</a:t>
            </a:r>
          </a:p>
          <a:p xmlns:a="http://schemas.openxmlformats.org/drawingml/2006/main">
            <a:r>
              <a:t/>
            </a:r>
          </a:p>
          <a:p xmlns:a="http://schemas.openxmlformats.org/drawingml/2006/main">
            <a:r>
              <a:t>Before I introduce myself, I want to ask about what you just saw. Thousands of small aircraft flew at night, formed words and pictures, and avoided collisions.</a:t>
            </a:r>
          </a:p>
          <a:p xmlns:a="http://schemas.openxmlformats.org/drawingml/2006/main">
            <a:r>
              <a:t/>
            </a:r>
          </a:p>
          <a:p xmlns:a="http://schemas.openxmlformats.org/drawingml/2006/main">
            <a:r>
              <a:t>Is that artificial intelligence, or automation?</a:t>
            </a:r>
          </a:p>
          <a:p xmlns:a="http://schemas.openxmlformats.org/drawingml/2006/main">
            <a:r>
              <a:t/>
            </a:r>
          </a:p>
          <a:p xmlns:a="http://schemas.openxmlformats.org/drawingml/2006/main">
            <a:r>
              <a:t>My name is Dr. Hamzeh Aljawawdeh. I have spent twenty years building financial, integration, education, and health systems while also working in universities and research. Today I will share three lessons about the boundary between automation and what comes after it. Each lesson ends with a project that a student in this room could begin next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for a show of hands for each answer. Let the room divide. Do not correct anyone yet.</a:t>
            </a:r>
          </a:p>
          <a:p xmlns:a="http://schemas.openxmlformats.org/drawingml/2006/main">
            <a:r>
              <a:t/>
            </a:r>
          </a:p>
          <a:p xmlns:a="http://schemas.openxmlformats.org/drawingml/2006/main">
            <a:r>
              <a:t>Say: “Good. The room is divided, which is exactly what I wanted. I will give you my answer halfway through the talk. The distinction matters because it shapes what we build during the next ten years, and the value of what we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Many people imagine automation as a switch: manual or automatic. In practice, automation comes in degrees.</a:t>
            </a:r>
          </a:p>
          <a:p xmlns:a="http://schemas.openxmlformats.org/drawingml/2006/main">
            <a:r>
              <a:t/>
            </a:r>
          </a:p>
          <a:p xmlns:a="http://schemas.openxmlformats.org/drawingml/2006/main">
            <a:r>
              <a:t>Use driving to make the idea concrete. Cruise control, lane support, and parking assistance automate different parts of the task. SAE J3016 defines six levels, from Level 0 to Level 5. The key question is how much of the dynamic driving task the system performs and what the human must still do.</a:t>
            </a:r>
          </a:p>
          <a:p xmlns:a="http://schemas.openxmlformats.org/drawingml/2006/main">
            <a:r>
              <a:t/>
            </a:r>
          </a:p>
          <a:p xmlns:a="http://schemas.openxmlformats.org/drawingml/2006/main">
            <a:r>
              <a:t>The same logic applies to accounting, banking, hospitals, and university systems. The architectural decision is the mix of human and automated work.</a:t>
            </a:r>
          </a:p>
          <a:p xmlns:a="http://schemas.openxmlformats.org/drawingml/2006/main">
            <a:r>
              <a:t/>
            </a:r>
          </a:p>
          <a:p xmlns:a="http://schemas.openxmlformats.org/drawingml/2006/main">
            <a:r>
              <a:t>Source: SAE International, J3016 Levels of Driving Automation, https://www.sae.org/binaries/content/assets/cm/content/blog/sae-j3016-visual-chart_5.3.21.pdf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1990, Michael Hammer challenged companies with an article titled “Reengineering Work: Don't Automate, Obliterate.” His point was simple: companies were putting old paper processes into computers and getting the same disorder at higher speed.</a:t>
            </a:r>
          </a:p>
          <a:p xmlns:a="http://schemas.openxmlformats.org/drawingml/2006/main">
            <a:r>
              <a:t/>
            </a:r>
          </a:p>
          <a:p xmlns:a="http://schemas.openxmlformats.org/drawingml/2006/main">
            <a:r>
              <a:t>This is the first lesson. Automation amplifies the process that already exists. Before choosing a tool, understand the real work.</a:t>
            </a:r>
          </a:p>
          <a:p xmlns:a="http://schemas.openxmlformats.org/drawingml/2006/main">
            <a:r>
              <a:t/>
            </a:r>
          </a:p>
          <a:p xmlns:a="http://schemas.openxmlformats.org/drawingml/2006/main">
            <a:r>
              <a:t>Source: Michael Hammer, Harvard Business Review, July 1990, https://hbr.org/1990/07/reengineering-work-dont-automate-obliterate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four steps slowly.</a:t>
            </a:r>
          </a:p>
          <a:p xmlns:a="http://schemas.openxmlformats.org/drawingml/2006/main">
            <a:r>
              <a:t/>
            </a:r>
          </a:p>
          <a:p xmlns:a="http://schemas.openxmlformats.org/drawingml/2006/main">
            <a:r>
              <a:t>First, document the process as people actually perform it, rather than how the manual describes it. Second, remove steps that no longer help. Third, improve speed through training, fewer handoffs, and less waiting. Only then should the team automate the clear, stable, repeatable work.</a:t>
            </a:r>
          </a:p>
          <a:p xmlns:a="http://schemas.openxmlformats.org/drawingml/2006/main">
            <a:r>
              <a:t/>
            </a:r>
          </a:p>
          <a:p xmlns:a="http://schemas.openxmlformats.org/drawingml/2006/main">
            <a:r>
              <a:t>Many projects begin at step four. The next story shows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this as a story rather than an explanation.</a:t>
            </a:r>
          </a:p>
          <a:p xmlns:a="http://schemas.openxmlformats.org/drawingml/2006/main">
            <a:r>
              <a:t/>
            </a:r>
          </a:p>
          <a:p xmlns:a="http://schemas.openxmlformats.org/drawingml/2006/main">
            <a:r>
              <a:t>Imagine an online retailer whose sales double each year. Orders begin to disappear. The quick response is an automated apology and an alert to the developers. Three months later, orders still disappear, but apologies arrive with impressive consistency.</a:t>
            </a:r>
          </a:p>
          <a:p xmlns:a="http://schemas.openxmlformats.org/drawingml/2006/main">
            <a:r>
              <a:t/>
            </a:r>
          </a:p>
          <a:p xmlns:a="http://schemas.openxmlformats.org/drawingml/2006/main">
            <a:r>
              <a:t>The organization automated the apology rather than fixing the process.</a:t>
            </a:r>
          </a:p>
          <a:p xmlns:a="http://schemas.openxmlformats.org/drawingml/2006/main">
            <a:r>
              <a:t/>
            </a:r>
          </a:p>
          <a:p xmlns:a="http://schemas.openxmlformats.org/drawingml/2006/main">
            <a:r>
              <a:t>The better response is to trace where orders fail, repair that weakness, automate monitoring so the system detects the issue before the customer, and keep a person who can call the customer with a clear promise and personal responsibility.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two quick polls.</a:t>
            </a:r>
          </a:p>
          <a:p xmlns:a="http://schemas.openxmlformats.org/drawingml/2006/main">
            <a:r>
              <a:t/>
            </a:r>
          </a:p>
          <a:p xmlns:a="http://schemas.openxmlformats.org/drawingml/2006/main">
            <a:r>
              <a:t>First: “Your bank card stops working at eleven at night. The bank offers a smart automated agent or an employee. Who chooses the automated agent? Who chooses the employee?”</a:t>
            </a:r>
          </a:p>
          <a:p xmlns:a="http://schemas.openxmlformats.org/drawingml/2006/main">
            <a:r>
              <a:t/>
            </a:r>
          </a:p>
          <a:p xmlns:a="http://schemas.openxmlformats.org/drawingml/2006/main">
            <a:r>
              <a:t>Second: “There is a medical emergency at home. Who prefers a human physician? Who prefers an AI system?”</a:t>
            </a:r>
          </a:p>
          <a:p xmlns:a="http://schemas.openxmlformats.org/drawingml/2006/main">
            <a:r>
              <a:t/>
            </a:r>
          </a:p>
          <a:p xmlns:a="http://schemas.openxmlformats.org/drawingml/2006/main">
            <a:r>
              <a:t>Point out the change in behavior. A technology audience may be enthusiastic about AI, yet many people choose a human when the cost of error becomes high. The conclusion is not that AI is weak. The conclusion is that tool choice depends on the problem and its consequences.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two begins with a change in question. Instead of asking which AI tool is most popular, identify the structure of the problem.</a:t>
            </a:r>
          </a:p>
          <a:p xmlns:a="http://schemas.openxmlformats.org/drawingml/2006/main">
            <a:r>
              <a:t/>
            </a:r>
          </a:p>
          <a:p xmlns:a="http://schemas.openxmlformats.org/drawingml/2006/main">
            <a:r>
              <a:t>Language models handle language and can help write code. Constraint solvers enforce rules that cannot be broken. Evolutionary algorithms explore large search spaces where many objectives compete.</a:t>
            </a:r>
          </a:p>
          <a:p xmlns:a="http://schemas.openxmlformats.org/drawingml/2006/main">
            <a:r>
              <a:t/>
            </a:r>
          </a:p>
          <a:p xmlns:a="http://schemas.openxmlformats.org/drawingml/2006/main">
            <a:r>
              <a:t>The engineer's job is to choose the method that fits the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whether a chat model can build the exam timetable. Then explain the category error.</a:t>
            </a:r>
          </a:p>
          <a:p xmlns:a="http://schemas.openxmlformats.org/drawingml/2006/main">
            <a:r>
              <a:t/>
            </a:r>
          </a:p>
          <a:p xmlns:a="http://schemas.openxmlformats.org/drawingml/2006/main">
            <a:r>
              <a:t>This is not primarily a language problem. It is a constraint optimization problem with millions of possibilities, hard constraints that cannot be broken, and soft constraints that should be satisfied when possible.</a:t>
            </a:r>
          </a:p>
          <a:p xmlns:a="http://schemas.openxmlformats.org/drawingml/2006/main">
            <a:r>
              <a:t/>
            </a:r>
          </a:p>
          <a:p xmlns:a="http://schemas.openxmlformats.org/drawingml/2006/main">
            <a:r>
              <a:t>Genetic algorithms, simulated annealing, and constraint solvers fit this class of problem. A language model can help a developer write code for the solver, explain the model, or create a user interface. The solver remains responsible for the mathematical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phrase “artificial intelligence” hides many different tools. Engineers need a toolbox rather than one favorite method.</a:t>
            </a:r>
          </a:p>
          <a:p xmlns:a="http://schemas.openxmlformats.org/drawingml/2006/main">
            <a:r>
              <a:t/>
            </a:r>
          </a:p>
          <a:p xmlns:a="http://schemas.openxmlformats.org/drawingml/2006/main">
            <a:r>
              <a:t>Language models work well with language and code assistance. Constraint solvers protect hard rules. Evolutionary algorithms explore large search spaces. Simulation lets us test behavior before we build expensive physical systems.</a:t>
            </a:r>
          </a:p>
          <a:p xmlns:a="http://schemas.openxmlformats.org/drawingml/2006/main">
            <a:r>
              <a:t/>
            </a:r>
          </a:p>
          <a:p xmlns:a="http://schemas.openxmlformats.org/drawingml/2006/main">
            <a:r>
              <a:t>The important skill is recognizing the structure of the problem before choosing the 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one drawer from the toolbox: Ant Colony Optimization.</a:t>
            </a:r>
          </a:p>
          <a:p xmlns:a="http://schemas.openxmlformats.org/drawingml/2006/main">
            <a:r>
              <a:t/>
            </a:r>
          </a:p>
          <a:p xmlns:a="http://schemas.openxmlformats.org/drawingml/2006/main">
            <a:r>
              <a:t>An ant has no global map and no manager. It follows a simple local rule, leaves a pheromone trace, and tends to follow stronger traces. An ant using the shorter route returns sooner, so that route gains reinforcement sooner. More ants select it, and the colony converges on the short route even though no ant understands the whole problem.</a:t>
            </a:r>
          </a:p>
          <a:p xmlns:a="http://schemas.openxmlformats.org/drawingml/2006/main">
            <a:r>
              <a:t/>
            </a:r>
          </a:p>
          <a:p xmlns:a="http://schemas.openxmlformats.org/drawingml/2006/main">
            <a:r>
              <a:t>Marco Dorigo translated this behavior into an optimization method in the early 1990s. Researchers and practitioners have applied related algorithms to routing, scheduling, and network design.</a:t>
            </a:r>
          </a:p>
          <a:p xmlns:a="http://schemas.openxmlformats.org/drawingml/2006/main">
            <a:r>
              <a:t/>
            </a:r>
          </a:p>
          <a:p xmlns:a="http://schemas.openxmlformats.org/drawingml/2006/main">
            <a:r>
              <a:t>Source: Marco Dorigo, Optimization, Learning and Natural Algorithms, doctoral dissertation, 1992.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opening question.</a:t>
            </a:r>
          </a:p>
          <a:p xmlns:a="http://schemas.openxmlformats.org/drawingml/2006/main">
            <a:r>
              <a:t/>
            </a:r>
          </a:p>
          <a:p xmlns:a="http://schemas.openxmlformats.org/drawingml/2006/main">
            <a:r>
              <a:t>A choreographed drone show is highly precise automation. A computer calculates trajectories before the event, and each drone follows its assigned path. If one drone stops, neighboring drones usually continue their own paths, leaving a hole in the picture.</a:t>
            </a:r>
          </a:p>
          <a:p xmlns:a="http://schemas.openxmlformats.org/drawingml/2006/main">
            <a:r>
              <a:t/>
            </a:r>
          </a:p>
          <a:p xmlns:a="http://schemas.openxmlformats.org/drawingml/2006/main">
            <a:r>
              <a:t>Swarm intelligence works differently. Each unit makes decisions from local information, and the group-level pattern emerges from those interactions.</a:t>
            </a:r>
          </a:p>
          <a:p xmlns:a="http://schemas.openxmlformats.org/drawingml/2006/main">
            <a:r>
              <a:t/>
            </a:r>
          </a:p>
          <a:p xmlns:a="http://schemas.openxmlformats.org/drawingml/2006/main">
            <a:r>
              <a:t>In 2014, Harvard researchers demonstrated programmable self-assembly with 1,024 Kilobots. Each robot used local information while the group formed shapes.</a:t>
            </a:r>
          </a:p>
          <a:p xmlns:a="http://schemas.openxmlformats.org/drawingml/2006/main">
            <a:r>
              <a:t/>
            </a:r>
          </a:p>
          <a:p xmlns:a="http://schemas.openxmlformats.org/drawingml/2006/main">
            <a:r>
              <a:t>Source: Rubenstein, Cornejo, and Nagpal, “Programmable self-assembly in a thousand-robot swarm,” Science, 2014, https://www.science.org/doi/10.1126/science.1254295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Move from nature to a practical project.</a:t>
            </a:r>
          </a:p>
          <a:p xmlns:a="http://schemas.openxmlformats.org/drawingml/2006/main">
            <a:r>
              <a:t/>
            </a:r>
          </a:p>
          <a:p xmlns:a="http://schemas.openxmlformats.org/drawingml/2006/main">
            <a:r>
              <a:t>Imagine vehicles sharing local information as ants share pheromone signals. Each vehicle or signal makes a local decision, while the city gains smoother flow, fewer conflicts, and more accurate arrival estimates.</a:t>
            </a:r>
          </a:p>
          <a:p xmlns:a="http://schemas.openxmlformats.org/drawingml/2006/main">
            <a:r>
              <a:t/>
            </a:r>
          </a:p>
          <a:p xmlns:a="http://schemas.openxmlformats.org/drawingml/2006/main">
            <a:r>
              <a:t>This field does not begin with a car factory. It begins with algorithms and simulation. Students can use an open-source traffic simulator such as SUMO on ordinary laptops and start with one real intersection they know well.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my doctoral research in Bristol, I asked whether people and AI could produce something stronger together than either could produce alone.</a:t>
            </a:r>
          </a:p>
          <a:p xmlns:a="http://schemas.openxmlformats.org/drawingml/2006/main">
            <a:r>
              <a:t/>
            </a:r>
          </a:p>
          <a:p xmlns:a="http://schemas.openxmlformats.org/drawingml/2006/main">
            <a:r>
              <a:t>We designed three conditions. In the first, human experts built the model. In the second, an evolutionary algorithm built a solution without human intervention. In the third, the algorithm proposed a solution, the expert changed it, and the algorithm learned from those changes across repeated rounds.</a:t>
            </a:r>
          </a:p>
          <a:p xmlns:a="http://schemas.openxmlformats.org/drawingml/2006/main">
            <a:r>
              <a:t/>
            </a:r>
          </a:p>
          <a:p xmlns:a="http://schemas.openxmlformats.org/drawingml/2006/main">
            <a:r>
              <a:t>We then scored every result with a mathematical fitness function out of 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scores one at a time if presenting live.</a:t>
            </a:r>
          </a:p>
          <a:p xmlns:a="http://schemas.openxmlformats.org/drawingml/2006/main">
            <a:r>
              <a:t/>
            </a:r>
          </a:p>
          <a:p xmlns:a="http://schemas.openxmlformats.org/drawingml/2006/main">
            <a:r>
              <a:t>Human only scored 65. AI only scored 92. Ask the audience to predict the hybrid result, then reveal 85.</a:t>
            </a:r>
          </a:p>
          <a:p xmlns:a="http://schemas.openxmlformats.org/drawingml/2006/main">
            <a:r>
              <a:t/>
            </a:r>
          </a:p>
          <a:p xmlns:a="http://schemas.openxmlformats.org/drawingml/2006/main">
            <a:r>
              <a:t>The mathematical score suggested that the human weakened the result. We continued one step further. Independent experts reviewed the AI-only and hybrid outputs without knowing their origin. Every expert chose the hybrid.</a:t>
            </a:r>
          </a:p>
          <a:p xmlns:a="http://schemas.openxmlformats.org/drawingml/2006/main">
            <a:r>
              <a:t/>
            </a:r>
          </a:p>
          <a:p xmlns:a="http://schemas.openxmlformats.org/drawingml/2006/main">
            <a:r>
              <a:t>Their explanation was practical: the AI-only solutions were mathematically strong but sharp at the edges, unrealistic in places, and difficult to apply. The hybrid solution fitted the real world better.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insight of the lecture.</a:t>
            </a:r>
          </a:p>
          <a:p xmlns:a="http://schemas.openxmlformats.org/drawingml/2006/main">
            <a:r>
              <a:t/>
            </a:r>
          </a:p>
          <a:p xmlns:a="http://schemas.openxmlformats.org/drawingml/2006/main">
            <a:r>
              <a:t>The fitness function measured exactly what we had written into it. The AI optimized that score with discipline. The experts evaluated additional qualities that we could not express well in the equation: realism, feasibility, and tacit knowledge built through years of field experience.</a:t>
            </a:r>
          </a:p>
          <a:p xmlns:a="http://schemas.openxmlformats.org/drawingml/2006/main">
            <a:r>
              <a:t/>
            </a:r>
          </a:p>
          <a:p xmlns:a="http://schemas.openxmlformats.org/drawingml/2006/main">
            <a:r>
              <a:t>The human in the loop does not merely add precision. The human notices the difference between the objective we encoded and the outcome we actually wanted.</a:t>
            </a:r>
          </a:p>
          <a:p xmlns:a="http://schemas.openxmlformats.org/drawingml/2006/main">
            <a:r>
              <a:t/>
            </a:r>
          </a:p>
          <a:p xmlns:a="http://schemas.openxmlformats.org/drawingml/2006/main">
            <a:r>
              <a:t>Whenever you define a metric, success measure, or key performance indicator, remember that it measures what you wrote down.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Apply the research lesson to SmartXam.</a:t>
            </a:r>
          </a:p>
          <a:p xmlns:a="http://schemas.openxmlformats.org/drawingml/2006/main">
            <a:r>
              <a:t/>
            </a:r>
          </a:p>
          <a:p xmlns:a="http://schemas.openxmlformats.org/drawingml/2006/main">
            <a:r>
              <a:t>The AI reads a book or lecture and drafts learning objectives and questions. It does not make the final decision. Every suggestion goes to the teacher, who accepts, rejects, or edits it. The system can learn from those decisions, while the teacher remains accountable for the students and the assessment.</a:t>
            </a:r>
          </a:p>
          <a:p xmlns:a="http://schemas.openxmlformats.org/drawingml/2006/main">
            <a:r>
              <a:t/>
            </a:r>
          </a:p>
          <a:p xmlns:a="http://schemas.openxmlformats.org/drawingml/2006/main">
            <a:r>
              <a:t>Time-critical domains also use hybrid patterns. Automated insulin delivery systems often depend on patient input for meals. Financial markets use circuit breakers and trading pauses to create review time during extreme volatility.</a:t>
            </a:r>
          </a:p>
          <a:p xmlns:a="http://schemas.openxmlformats.org/drawingml/2006/main">
            <a:r>
              <a:t/>
            </a:r>
          </a:p>
          <a:p xmlns:a="http://schemas.openxmlformats.org/drawingml/2006/main">
            <a:r>
              <a:t>Sources: U.S. FDA, Artificial Pancreas Device System, https://www.fda.gov/medical-devices/consumer-products/artificial-pancreas-device-system; U.S. SEC, Market-Wide Circuit Breakers, https://www.investor.gov/introduction-investing/investing-basics/glossary/stock-market-circuit-breakers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closing, acknowledge the costs that company demonstrations often omit.</a:t>
            </a:r>
          </a:p>
          <a:p xmlns:a="http://schemas.openxmlformats.org/drawingml/2006/main">
            <a:r>
              <a:t/>
            </a:r>
          </a:p>
          <a:p xmlns:a="http://schemas.openxmlformats.org/drawingml/2006/main">
            <a:r>
              <a:t>Responsibility: when a system makes a harmful decision, who is accountable? Privacy: institutions are placing customer, patient, and student data into AI tools. Engineers must understand where the data goes and who can access it. Energy: the IEA projects that global data-center electricity consumption will roughly double by 2030, with AI as a major driver.</a:t>
            </a:r>
          </a:p>
          <a:p xmlns:a="http://schemas.openxmlformats.org/drawingml/2006/main">
            <a:r>
              <a:t/>
            </a:r>
          </a:p>
          <a:p xmlns:a="http://schemas.openxmlformats.org/drawingml/2006/main">
            <a:r>
              <a:t>These points are not only warnings. Each is an open research problem and a possible master's thesis.</a:t>
            </a:r>
          </a:p>
          <a:p xmlns:a="http://schemas.openxmlformats.org/drawingml/2006/main">
            <a:r>
              <a:t/>
            </a:r>
          </a:p>
          <a:p xmlns:a="http://schemas.openxmlformats.org/drawingml/2006/main">
            <a:r>
              <a:t>Source: International Energy Agency, Energy and AI, https://www.iea.org/reports/energy-and-ai/energy-demand-from-ai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each lesson with a practical direction, then gather all five projects here.</a:t>
            </a:r>
          </a:p>
          <a:p xmlns:a="http://schemas.openxmlformats.org/drawingml/2006/main">
            <a:r>
              <a:t/>
            </a:r>
          </a:p>
          <a:p xmlns:a="http://schemas.openxmlformats.org/drawingml/2006/main">
            <a:r>
              <a:t>1. Build a university exam scheduler with a real registration office as the user.</a:t>
            </a:r>
          </a:p>
          <a:p xmlns:a="http://schemas.openxmlformats.org/drawingml/2006/main">
            <a:r>
              <a:t>2. Optimize waste collection or bus routes with Ant Colony Optimization.</a:t>
            </a:r>
          </a:p>
          <a:p xmlns:a="http://schemas.openxmlformats.org/drawingml/2006/main">
            <a:r>
              <a:t>3. Simulate a known congested intersection with SUMO.</a:t>
            </a:r>
          </a:p>
          <a:p xmlns:a="http://schemas.openxmlformats.org/drawingml/2006/main">
            <a:r>
              <a:t>4. Simulate robots that coordinate without a central leader.</a:t>
            </a:r>
          </a:p>
          <a:p xmlns:a="http://schemas.openxmlformats.org/drawingml/2006/main">
            <a:r>
              <a:t>5. Build an AI question generator with a teacher review interface.</a:t>
            </a:r>
          </a:p>
          <a:p xmlns:a="http://schemas.openxmlformats.org/drawingml/2006/main">
            <a:r>
              <a:t/>
            </a:r>
          </a:p>
          <a:p xmlns:a="http://schemas.openxmlformats.org/drawingml/2006/main">
            <a:r>
              <a:t>Invite people from industry, education, and public institutions to bring students real problems rather than artificial exercises. The combination of real users, real constraints, and real feedback changes the quality of student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the talk in three sentences.</a:t>
            </a:r>
          </a:p>
          <a:p xmlns:a="http://schemas.openxmlformats.org/drawingml/2006/main">
            <a:r>
              <a:t/>
            </a:r>
          </a:p>
          <a:p xmlns:a="http://schemas.openxmlformats.org/drawingml/2006/main">
            <a:r>
              <a:t>First, understand the process before automating it. Otherwise, the team automates confusion.</a:t>
            </a:r>
          </a:p>
          <a:p xmlns:a="http://schemas.openxmlformats.org/drawingml/2006/main">
            <a:r>
              <a:t/>
            </a:r>
          </a:p>
          <a:p xmlns:a="http://schemas.openxmlformats.org/drawingml/2006/main">
            <a:r>
              <a:t>Second, choose the method that fits the problem. A chat window is one tool, not the whole toolbox.</a:t>
            </a:r>
          </a:p>
          <a:p xmlns:a="http://schemas.openxmlformats.org/drawingml/2006/main">
            <a:r>
              <a:t/>
            </a:r>
          </a:p>
          <a:p xmlns:a="http://schemas.openxmlformats.org/drawingml/2006/main">
            <a:r>
              <a:t>Third, keep the human in the loop because people can evaluate qualities that the objective function does not capture.</a:t>
            </a:r>
          </a:p>
          <a:p xmlns:a="http://schemas.openxmlformats.org/drawingml/2006/main">
            <a:r>
              <a:t/>
            </a:r>
          </a:p>
          <a:p xmlns:a="http://schemas.openxmlformats.org/drawingml/2006/main">
            <a:r>
              <a:t>For further study, recommend A. E. Eiben and J. E. Smith's Introduction to Evolutionary Computing, Mark Harman's work on search-based software engineering, and Chris Simons's research in interactive evolutionary computation.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Leave this slide visible during questions.</a:t>
            </a:r>
          </a:p>
          <a:p xmlns:a="http://schemas.openxmlformats.org/drawingml/2006/main">
            <a:r>
              <a:t/>
            </a:r>
          </a:p>
          <a:p xmlns:a="http://schemas.openxmlformats.org/drawingml/2006/main">
            <a:r>
              <a:t>Ask the room: “Where could AI expand human capability in your university, company, or community?”</a:t>
            </a:r>
          </a:p>
          <a:p xmlns:a="http://schemas.openxmlformats.org/drawingml/2006/main">
            <a:r>
              <a:t/>
            </a:r>
          </a:p>
          <a:p xmlns:a="http://schemas.openxmlformats.org/drawingml/2006/main">
            <a:r>
              <a:t>Invite a few answers, then open the floor. If the discussion stalls, ask who would use the system and which decisions still need human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b401a482d940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3ec5f1ab37a4d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48d13b06cc4ab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f81bf0984f449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3e49ae942c6473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06427f8f2e4b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7AC6BD-E7A1-47E0-8C1D-31EF420D4D8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AD46AEE-F1AA-4B69-B300-E9DDFBA391E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E4D3421-5906-464E-A971-4FC1FDDFD03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D5F93A-2494-4BE0-A06C-222225136B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3CC7DDF-7F58-4297-A9C4-2A6F39915B0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EFB4E55-3A21-438D-B102-160AF31C6D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0EFFB7-83C7-4710-8257-DA1097197F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3443FAC-98AA-461B-955F-F7B46DD42B0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A9F33E-13C6-4151-8993-FC8A7D9689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6E1615-5F53-45F6-ADCD-06CCC28C82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024ebc3b0848e0" /><Relationship Type="http://schemas.openxmlformats.org/officeDocument/2006/relationships/slideLayout" Target="/ppt/slideLayouts/slideLayout1.xml" Id="R7821f04e43614fd8" /><Relationship Type="http://schemas.openxmlformats.org/officeDocument/2006/relationships/slideLayout" Target="/ppt/slideLayouts/slideLayout2.xml" Id="R97d5d0dee6ab42bf" /><Relationship Type="http://schemas.openxmlformats.org/officeDocument/2006/relationships/slideLayout" Target="/ppt/slideLayouts/slideLayout3.xml" Id="R941195b7f6f047e8" /><Relationship Type="http://schemas.openxmlformats.org/officeDocument/2006/relationships/slideLayout" Target="/ppt/slideLayouts/slideLayout4.xml" Id="R354b18f71fb14ee8" /><Relationship Type="http://schemas.openxmlformats.org/officeDocument/2006/relationships/slideLayout" Target="/ppt/slideLayouts/slideLayout5.xml" Id="Ra92ba1a01a054551" /><Relationship Type="http://schemas.openxmlformats.org/officeDocument/2006/relationships/slideLayout" Target="/ppt/slideLayouts/slideLayout6.xml" Id="R8f6a185d843b47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21f04e43614fd8"/>
    <p:sldLayoutId xmlns:r="http://schemas.openxmlformats.org/officeDocument/2006/relationships" id="2147483650" r:id="R97d5d0dee6ab42bf"/>
    <p:sldLayoutId xmlns:r="http://schemas.openxmlformats.org/officeDocument/2006/relationships" id="2147483651" r:id="R941195b7f6f047e8"/>
    <p:sldLayoutId xmlns:r="http://schemas.openxmlformats.org/officeDocument/2006/relationships" id="2147483652" r:id="R354b18f71fb14ee8"/>
    <p:sldLayoutId xmlns:r="http://schemas.openxmlformats.org/officeDocument/2006/relationships" id="2147483653" r:id="Ra92ba1a01a054551"/>
    <p:sldLayoutId xmlns:r="http://schemas.openxmlformats.org/officeDocument/2006/relationships" id="2147483654" r:id="R8f6a185d843b47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b4bd27e5f2c4e33" /><Relationship Type="http://schemas.openxmlformats.org/officeDocument/2006/relationships/notesSlide" Target="/ppt/notesSlides/notesSlide1.xml" Id="R699c1dfd575845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ae5913de730426f" /><Relationship Type="http://schemas.openxmlformats.org/officeDocument/2006/relationships/notesSlide" Target="/ppt/notesSlides/notesSlide2.xml" Id="R77f03819a21844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753957e42e440d" /><Relationship Type="http://schemas.openxmlformats.org/officeDocument/2006/relationships/notesSlide" Target="/ppt/notesSlides/notesSlide3.xml" Id="Rd2d815d5d1314d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ecee59099b14d81" /><Relationship Type="http://schemas.openxmlformats.org/officeDocument/2006/relationships/notesSlide" Target="/ppt/notesSlides/notesSlide4.xml" Id="R5cda5f52876c46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ab237aa772949fb" /><Relationship Type="http://schemas.openxmlformats.org/officeDocument/2006/relationships/notesSlide" Target="/ppt/notesSlides/notesSlide5.xml" Id="R7293647a1bee41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2ec0274da8c42ad" /><Relationship Type="http://schemas.openxmlformats.org/officeDocument/2006/relationships/notesSlide" Target="/ppt/notesSlides/notesSlide6.xml" Id="R9935f9e1107c43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962695d2fe94605" /><Relationship Type="http://schemas.openxmlformats.org/officeDocument/2006/relationships/notesSlide" Target="/ppt/notesSlides/notesSlide7.xml" Id="R532160c7b33444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e8c4b5af9e4445a" /><Relationship Type="http://schemas.openxmlformats.org/officeDocument/2006/relationships/notesSlide" Target="/ppt/notesSlides/notesSlide8.xml" Id="Rf04c8cf7e33c4f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abef4a0e17c4e46" /><Relationship Type="http://schemas.openxmlformats.org/officeDocument/2006/relationships/notesSlide" Target="/ppt/notesSlides/notesSlide9.xml" Id="Ra073059935b34bc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25d391a7dee4deb" /><Relationship Type="http://schemas.openxmlformats.org/officeDocument/2006/relationships/notesSlide" Target="/ppt/notesSlides/notesSlide10.xml" Id="R176786ed21d0478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e8287135355456b" /><Relationship Type="http://schemas.openxmlformats.org/officeDocument/2006/relationships/notesSlide" Target="/ppt/notesSlides/notesSlide11.xml" Id="Rf9495f445f3f4e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7c6acb67f3e42fe" /><Relationship Type="http://schemas.openxmlformats.org/officeDocument/2006/relationships/notesSlide" Target="/ppt/notesSlides/notesSlide12.xml" Id="R84ee4b68c18142f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94b24d49fb64b9f" /><Relationship Type="http://schemas.openxmlformats.org/officeDocument/2006/relationships/notesSlide" Target="/ppt/notesSlides/notesSlide13.xml" Id="Rfaf8f45b17204b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511ffd600324d57" /><Relationship Type="http://schemas.openxmlformats.org/officeDocument/2006/relationships/notesSlide" Target="/ppt/notesSlides/notesSlide14.xml" Id="R82293dfccdc043c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129baf43a784d18" /><Relationship Type="http://schemas.openxmlformats.org/officeDocument/2006/relationships/chart" Target="/ppt/slides/charts/chart1.xml" Id="R082cf624393c42e4" /><Relationship Type="http://schemas.openxmlformats.org/officeDocument/2006/relationships/notesSlide" Target="/ppt/notesSlides/notesSlide15.xml" Id="R871044c3c9394f7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dea2e23de8f488d" /><Relationship Type="http://schemas.openxmlformats.org/officeDocument/2006/relationships/notesSlide" Target="/ppt/notesSlides/notesSlide16.xml" Id="R9a383c31af50404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7c6b1bc6bf54e8b" /><Relationship Type="http://schemas.openxmlformats.org/officeDocument/2006/relationships/notesSlide" Target="/ppt/notesSlides/notesSlide17.xml" Id="Rf8bf7ee52c3c452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561a9e33ae649c3" /><Relationship Type="http://schemas.openxmlformats.org/officeDocument/2006/relationships/notesSlide" Target="/ppt/notesSlides/notesSlide18.xml" Id="R23b3b86fb6e54c5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143fd6990174190" /><Relationship Type="http://schemas.openxmlformats.org/officeDocument/2006/relationships/notesSlide" Target="/ppt/notesSlides/notesSlide19.xml" Id="R65dc14005fa64ea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131071e3fcf4905" /><Relationship Type="http://schemas.openxmlformats.org/officeDocument/2006/relationships/notesSlide" Target="/ppt/notesSlides/notesSlide20.xml" Id="Rb4b990a26484467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f58c867cc804f9f" /><Relationship Type="http://schemas.openxmlformats.org/officeDocument/2006/relationships/notesSlide" Target="/ppt/notesSlides/notesSlide21.xml" Id="R44249be4c71e4c4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Fitness score</c:v>
          </c:tx>
          <c:spPr>
            <a:solidFill xmlns:a="http://schemas.openxmlformats.org/drawingml/2006/main">
              <a:srgbClr val="5B8CFF"/>
            </a:solidFill>
          </c:spPr>
          <c:invertIfNegative val="0"/>
          <c:dPt>
            <c:idx val="0"/>
            <c:invertIfNegative val="0"/>
            <c:spPr>
              <a:solidFill xmlns:a="http://schemas.openxmlformats.org/drawingml/2006/main">
                <a:srgbClr val="A8BAC8"/>
              </a:solidFill>
            </c:spPr>
          </c:dPt>
          <c:dPt>
            <c:idx val="1"/>
            <c:invertIfNegative val="0"/>
            <c:spPr>
              <a:solidFill xmlns:a="http://schemas.openxmlformats.org/drawingml/2006/main">
                <a:srgbClr val="5B8CFF"/>
              </a:solidFill>
            </c:spPr>
          </c:dPt>
          <c:dPt>
            <c:idx val="2"/>
            <c:invertIfNegative val="0"/>
            <c:spPr>
              <a:solidFill xmlns:a="http://schemas.openxmlformats.org/drawingml/2006/main">
                <a:srgbClr val="FFB454"/>
              </a:solidFill>
            </c:spPr>
          </c:dPt>
          <c:cat>
            <c:strRef>
              <c:f>'Chart Data'!$A$2:$A$4</c:f>
              <c:strCache>
                <c:ptCount val="3"/>
                <c:pt idx="0">
                  <c:v>Human only</c:v>
                </c:pt>
                <c:pt idx="1">
                  <c:v>AI only</c:v>
                </c:pt>
                <c:pt idx="2">
                  <c:v>Human + AI</c:v>
                </c:pt>
              </c:strCache>
            </c:strRef>
          </c:cat>
          <c:val>
            <c:numRef>
              <c:f>'Chart Data'!$B$2:$B$4</c:f>
              <c:numCache>
                <c:formatCode>General</c:formatCode>
                <c:ptCount val="3"/>
                <c:pt idx="0">
                  <c:v>65</c:v>
                </c:pt>
                <c:pt idx="1">
                  <c:v>92</c:v>
                </c:pt>
                <c:pt idx="2">
                  <c:v>85</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F4F1E8"/>
                  </a:solidFill>
                  <a:latin typeface="Avenir Next"/>
                  <a:ea typeface="Avenir Next"/>
                  <a:cs typeface="Avenir Next"/>
                </a:defRPr>
              </a:pPr>
            </a:p>
          </c:txPr>
          <c:dLblPos val="outEnd"/>
          <c:showLegendKey val="0"/>
          <c:showVal val="1"/>
          <c:showCatName val="0"/>
          <c:showSerName val="0"/>
          <c:showPercent val="0"/>
          <c:showBubbleSize val="0"/>
          <c:showLeaderLines val="0"/>
        </c:dLbls>
        <c:gapWidth val="46"/>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24405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4F1E8"/>
                </a:solidFill>
                <a:latin typeface="Avenir Next"/>
                <a:ea typeface="Avenir Next"/>
                <a:cs typeface="Avenir Next"/>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A8BAC8"/>
                </a:solidFill>
                <a:latin typeface="Avenir Next"/>
                <a:ea typeface="Avenir Next"/>
                <a:cs typeface="Avenir Next"/>
              </a:defRPr>
            </a:pPr>
          </a:p>
        </c:txPr>
        <c:crossAx val="48650112"/>
        <c:crossBetween val="between"/>
      </c:valAx>
      <c:spPr>
        <a:solidFill xmlns:a="http://schemas.openxmlformats.org/drawingml/2006/main">
          <a:srgbClr val="07131F"/>
        </a:solidFill>
        <a:ln xmlns:a="http://schemas.openxmlformats.org/drawingml/2006/main" w="0">
          <a:noFill/>
          <a:prstDash val="solid"/>
        </a:ln>
      </c:spPr>
    </c:plotArea>
    <c:plotVisOnly val="1"/>
  </c:chart>
  <c:spPr>
    <a:solidFill xmlns:a="http://schemas.openxmlformats.org/drawingml/2006/main">
      <a:srgbClr val="07131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E81B03-FE06-46D6-8346-5D859A57FCBC}"/>
              </a:ext>
            </a:extLst>
          </p:cNvPr>
          <p:cNvSpPr>
            <a:spLocks xmlns:a="http://schemas.openxmlformats.org/drawingml/2006/main" noGrp="1"/>
          </p:cNvSpPr>
          <p:nvPr/>
        </p:nvSpPr>
        <p:spPr>
          <a:xfrm xmlns:a="http://schemas.openxmlformats.org/drawingml/2006/main">
            <a:off x="704850" y="1428750"/>
            <a:ext cx="571500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100" b="1" i="0">
                <a:solidFill>
                  <a:srgbClr val="FFFFFF"/>
                </a:solidFill>
                <a:latin typeface="Avenir Next"/>
                <a:ea typeface="Avenir Next"/>
                <a:cs typeface="Avenir Next"/>
              </a:defRPr>
            </a:defPPr>
          </a:lstStyle>
          <a:p xmlns:a="http://schemas.openxmlformats.org/drawingml/2006/main">
            <a:pPr algn="l">
              <a:lnSpc>
                <a:spcPct val="88000"/>
              </a:lnSpc>
              <a:buNone/>
              <a:defRPr sz="5100" b="1" i="0">
                <a:solidFill>
                  <a:srgbClr val="FFFFFF"/>
                </a:solidFill>
                <a:latin typeface="Avenir Next"/>
                <a:ea typeface="Avenir Next"/>
                <a:cs typeface="Avenir Next"/>
              </a:defRPr>
            </a:pPr>
            <a:r>
              <a:rPr sz="5100" b="1" i="0">
                <a:solidFill>
                  <a:srgbClr val="FFFFFF"/>
                </a:solidFill>
                <a:latin typeface="Avenir Next"/>
                <a:ea typeface="Avenir Next"/>
                <a:cs typeface="Avenir Next"/>
              </a:rPr>
              <a:t>BEYOND</a:t>
            </a:r>
          </a:p>
          <a:p xmlns:a="http://schemas.openxmlformats.org/drawingml/2006/main">
            <a:pPr algn="l">
              <a:lnSpc>
                <a:spcPct val="88000"/>
              </a:lnSpc>
              <a:buNone/>
              <a:defRPr sz="5100" b="1" i="0">
                <a:solidFill>
                  <a:srgbClr val="FFFFFF"/>
                </a:solidFill>
                <a:latin typeface="Avenir Next"/>
                <a:ea typeface="Avenir Next"/>
                <a:cs typeface="Avenir Next"/>
              </a:defRPr>
            </a:pPr>
            <a:r>
              <a:rPr sz="5100" b="1" i="0">
                <a:solidFill>
                  <a:srgbClr val="FFFFFF"/>
                </a:solidFill>
                <a:latin typeface="Avenir Next"/>
                <a:ea typeface="Avenir Next"/>
                <a:cs typeface="Avenir Next"/>
              </a:rPr>
              <a:t>AUTOMATION</a:t>
            </a:r>
          </a:p>
        </p:txBody>
      </p:sp>
      <p:sp>
        <p:nvSpPr>
          <p:cNvPr id="2" name="">
            <a:extLst xmlns:a="http://schemas.openxmlformats.org/drawingml/2006/main">
              <a:ext uri="{FF2B5EF4-FFF2-40B4-BE49-F238E27FC236}">
                <a16:creationId xmlns:a16="http://schemas.microsoft.com/office/drawing/2014/main" id="{4ADC284B-B575-41FA-9D89-471ED7695F7C}"/>
              </a:ext>
            </a:extLst>
          </p:cNvPr>
          <p:cNvSpPr>
            <a:spLocks xmlns:a="http://schemas.openxmlformats.org/drawingml/2006/main" noGrp="1"/>
          </p:cNvSpPr>
          <p:nvPr/>
        </p:nvSpPr>
        <p:spPr>
          <a:xfrm xmlns:a="http://schemas.openxmlformats.org/drawingml/2006/main">
            <a:off x="742950" y="339090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i="0">
                <a:solidFill>
                  <a:srgbClr val="55D6D2"/>
                </a:solidFill>
                <a:latin typeface="Avenir Next"/>
                <a:ea typeface="Avenir Next"/>
                <a:cs typeface="Avenir Next"/>
              </a:defRPr>
            </a:defPPr>
          </a:lstStyle>
          <a:p xmlns:a="http://schemas.openxmlformats.org/drawingml/2006/main">
            <a:pPr algn="l">
              <a:lnSpc>
                <a:spcPct val="100000"/>
              </a:lnSpc>
              <a:buNone/>
              <a:defRPr sz="2100" b="1" i="0">
                <a:solidFill>
                  <a:srgbClr val="55D6D2"/>
                </a:solidFill>
                <a:latin typeface="Avenir Next"/>
                <a:ea typeface="Avenir Next"/>
                <a:cs typeface="Avenir Next"/>
              </a:defRPr>
            </a:pPr>
            <a:r>
              <a:rPr sz="2100" b="1" i="0">
                <a:solidFill>
                  <a:srgbClr val="55D6D2"/>
                </a:solidFill>
                <a:latin typeface="Avenir Next"/>
                <a:ea typeface="Avenir Next"/>
                <a:cs typeface="Avenir Next"/>
              </a:rPr>
              <a:t>When does AI become intelligence?</a:t>
            </a:r>
          </a:p>
        </p:txBody>
      </p:sp>
      <p:sp>
        <p:nvSpPr>
          <p:cNvPr id="3" name="">
            <a:extLst xmlns:a="http://schemas.openxmlformats.org/drawingml/2006/main">
              <a:ext uri="{FF2B5EF4-FFF2-40B4-BE49-F238E27FC236}">
                <a16:creationId xmlns:a16="http://schemas.microsoft.com/office/drawing/2014/main" id="{407054D7-8771-4A01-BBE7-0B793F8F3523}"/>
              </a:ext>
            </a:extLst>
          </p:cNvPr>
          <p:cNvSpPr>
            <a:spLocks xmlns:a="http://schemas.openxmlformats.org/drawingml/2006/main" noGrp="1"/>
          </p:cNvSpPr>
          <p:nvPr/>
        </p:nvSpPr>
        <p:spPr>
          <a:xfrm xmlns:a="http://schemas.openxmlformats.org/drawingml/2006/main">
            <a:off x="8096250" y="781050"/>
            <a:ext cx="2762250" cy="390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2500" b="1" i="0">
                <a:solidFill>
                  <a:srgbClr val="5B8CFF"/>
                </a:solidFill>
                <a:latin typeface="Avenir Next"/>
                <a:ea typeface="Avenir Next"/>
                <a:cs typeface="Avenir Next"/>
              </a:defRPr>
            </a:defPPr>
          </a:lstStyle>
          <a:p xmlns:a="http://schemas.openxmlformats.org/drawingml/2006/main">
            <a:pPr algn="ctr">
              <a:lnSpc>
                <a:spcPct val="100000"/>
              </a:lnSpc>
              <a:buNone/>
              <a:defRPr sz="22500" b="1" i="0">
                <a:solidFill>
                  <a:srgbClr val="5B8CFF"/>
                </a:solidFill>
                <a:latin typeface="Avenir Next"/>
                <a:ea typeface="Avenir Next"/>
                <a:cs typeface="Avenir Next"/>
              </a:defRPr>
            </a:pPr>
            <a:r>
              <a:rPr sz="22500" b="1" i="0">
                <a:solidFill>
                  <a:srgbClr val="5B8CFF"/>
                </a:solidFill>
                <a:latin typeface="Avenir Next"/>
                <a:ea typeface="Avenir Next"/>
                <a:cs typeface="Avenir Next"/>
              </a:rPr>
              <a:t>?</a:t>
            </a:r>
          </a:p>
        </p:txBody>
      </p:sp>
      <p:sp>
        <p:nvSpPr>
          <p:cNvPr id="4" name="">
            <a:extLst xmlns:a="http://schemas.openxmlformats.org/drawingml/2006/main">
              <a:ext uri="{FF2B5EF4-FFF2-40B4-BE49-F238E27FC236}">
                <a16:creationId xmlns:a16="http://schemas.microsoft.com/office/drawing/2014/main" id="{EF7DB045-7B1C-44B1-AC46-651DD7E15C24}"/>
              </a:ext>
            </a:extLst>
          </p:cNvPr>
          <p:cNvSpPr>
            <a:spLocks xmlns:a="http://schemas.openxmlformats.org/drawingml/2006/main" noGrp="1"/>
          </p:cNvSpPr>
          <p:nvPr/>
        </p:nvSpPr>
        <p:spPr>
          <a:xfrm xmlns:a="http://schemas.openxmlformats.org/drawingml/2006/main">
            <a:off x="8096250" y="4762500"/>
            <a:ext cx="285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i="0">
                <a:solidFill>
                  <a:srgbClr val="A8BAC8"/>
                </a:solidFill>
                <a:latin typeface="Avenir Next"/>
                <a:ea typeface="Avenir Next"/>
                <a:cs typeface="Avenir Next"/>
              </a:defRPr>
            </a:defPPr>
          </a:lstStyle>
          <a:p xmlns:a="http://schemas.openxmlformats.org/drawingml/2006/main">
            <a:pPr algn="ctr">
              <a:lnSpc>
                <a:spcPct val="118000"/>
              </a:lnSpc>
              <a:buNone/>
              <a:defRPr sz="1575" b="0" i="0">
                <a:solidFill>
                  <a:srgbClr val="A8BAC8"/>
                </a:solidFill>
                <a:latin typeface="Avenir Next"/>
                <a:ea typeface="Avenir Next"/>
                <a:cs typeface="Avenir Next"/>
              </a:defRPr>
            </a:pPr>
            <a:r>
              <a:rPr sz="1575" b="0" i="0">
                <a:solidFill>
                  <a:srgbClr val="A8BAC8"/>
                </a:solidFill>
                <a:latin typeface="Avenir Next"/>
                <a:ea typeface="Avenir Next"/>
                <a:cs typeface="Avenir Next"/>
              </a:rPr>
              <a:t>Automation spectrum</a:t>
            </a:r>
          </a:p>
          <a:p xmlns:a="http://schemas.openxmlformats.org/drawingml/2006/main">
            <a:pPr algn="ctr">
              <a:lnSpc>
                <a:spcPct val="118000"/>
              </a:lnSpc>
              <a:buNone/>
              <a:defRPr sz="1575" b="0" i="0">
                <a:solidFill>
                  <a:srgbClr val="A8BAC8"/>
                </a:solidFill>
                <a:latin typeface="Avenir Next"/>
                <a:ea typeface="Avenir Next"/>
                <a:cs typeface="Avenir Next"/>
              </a:defRPr>
            </a:pPr>
            <a:r>
              <a:rPr sz="1575" b="0" i="0">
                <a:solidFill>
                  <a:srgbClr val="A8BAC8"/>
                </a:solidFill>
                <a:latin typeface="Avenir Next"/>
                <a:ea typeface="Avenir Next"/>
                <a:cs typeface="Avenir Next"/>
              </a:rPr>
              <a:t>Tool selection</a:t>
            </a:r>
          </a:p>
          <a:p xmlns:a="http://schemas.openxmlformats.org/drawingml/2006/main">
            <a:pPr algn="ctr">
              <a:lnSpc>
                <a:spcPct val="118000"/>
              </a:lnSpc>
              <a:buNone/>
              <a:defRPr sz="1575" b="0" i="0">
                <a:solidFill>
                  <a:srgbClr val="A8BAC8"/>
                </a:solidFill>
                <a:latin typeface="Avenir Next"/>
                <a:ea typeface="Avenir Next"/>
                <a:cs typeface="Avenir Next"/>
              </a:defRPr>
            </a:pPr>
            <a:r>
              <a:rPr sz="1575" b="0" i="0">
                <a:solidFill>
                  <a:srgbClr val="A8BAC8"/>
                </a:solidFill>
                <a:latin typeface="Avenir Next"/>
                <a:ea typeface="Avenir Next"/>
                <a:cs typeface="Avenir Next"/>
              </a:rPr>
              <a:t>Human judgment</a:t>
            </a:r>
          </a:p>
        </p:txBody>
      </p:sp>
      <p:sp>
        <p:nvSpPr>
          <p:cNvPr id="5" name="">
            <a:extLst xmlns:a="http://schemas.openxmlformats.org/drawingml/2006/main">
              <a:ext uri="{FF2B5EF4-FFF2-40B4-BE49-F238E27FC236}">
                <a16:creationId xmlns:a16="http://schemas.microsoft.com/office/drawing/2014/main" id="{F36F27B6-F078-4EAF-BAFA-0FDDBA3EEBF9}"/>
              </a:ext>
            </a:extLst>
          </p:cNvPr>
          <p:cNvSpPr>
            <a:spLocks xmlns:a="http://schemas.openxmlformats.org/drawingml/2006/main" noGrp="1"/>
          </p:cNvSpPr>
          <p:nvPr/>
        </p:nvSpPr>
        <p:spPr>
          <a:xfrm xmlns:a="http://schemas.openxmlformats.org/drawingml/2006/main">
            <a:off x="742950" y="60769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i="0">
                <a:solidFill>
                  <a:srgbClr val="F4F1E8"/>
                </a:solidFill>
                <a:latin typeface="Avenir Next"/>
                <a:ea typeface="Avenir Next"/>
                <a:cs typeface="Avenir Next"/>
              </a:defRPr>
            </a:defPPr>
          </a:lstStyle>
          <a:p xmlns:a="http://schemas.openxmlformats.org/drawingml/2006/main">
            <a:pPr algn="l">
              <a:lnSpc>
                <a:spcPct val="100000"/>
              </a:lnSpc>
              <a:buNone/>
              <a:defRPr sz="1500" b="1" i="0">
                <a:solidFill>
                  <a:srgbClr val="F4F1E8"/>
                </a:solidFill>
                <a:latin typeface="Avenir Next"/>
                <a:ea typeface="Avenir Next"/>
                <a:cs typeface="Avenir Next"/>
              </a:defRPr>
            </a:pPr>
            <a:r>
              <a:rPr sz="1500" b="1" i="0">
                <a:solidFill>
                  <a:srgbClr val="F4F1E8"/>
                </a:solidFill>
                <a:latin typeface="Avenir Next"/>
                <a:ea typeface="Avenir Next"/>
                <a:cs typeface="Avenir Next"/>
              </a:rPr>
              <a:t>Dr. Hamzeh Aljawawdeh</a:t>
            </a:r>
          </a:p>
        </p:txBody>
      </p:sp>
    </p:spTree>
    <p:extLst>
      <p:ext uri="{BB962C8B-B14F-4D97-AF65-F5344CB8AC3E}">
        <p14:creationId xmlns:p14="http://schemas.microsoft.com/office/powerpoint/2010/main" val="1943928455"/>
      </p:ext>
    </p:extLst>
  </p:cSld>
</p:sld>
</file>

<file path=ppt/slides/slide2.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D1F72B-EF2B-4118-A13F-24639FBDF387}"/>
              </a:ext>
            </a:extLst>
          </p:cNvPr>
          <p:cNvSpPr>
            <a:spLocks xmlns:a="http://schemas.openxmlformats.org/drawingml/2006/main" noGrp="1"/>
          </p:cNvSpPr>
          <p:nvPr/>
        </p:nvSpPr>
        <p:spPr>
          <a:xfrm xmlns:a="http://schemas.openxmlformats.org/drawingml/2006/main">
            <a:off x="685800" y="68580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600" b="1" i="0">
                <a:solidFill>
                  <a:srgbClr val="F4F1E8"/>
                </a:solidFill>
                <a:latin typeface="Avenir Next"/>
                <a:ea typeface="Avenir Next"/>
                <a:cs typeface="Avenir Next"/>
              </a:defRPr>
            </a:defPPr>
          </a:lstStyle>
          <a:p xmlns:a="http://schemas.openxmlformats.org/drawingml/2006/main">
            <a:pPr algn="ctr">
              <a:lnSpc>
                <a:spcPct val="100000"/>
              </a:lnSpc>
              <a:buNone/>
              <a:defRPr sz="3600" b="1" i="0">
                <a:solidFill>
                  <a:srgbClr val="F4F1E8"/>
                </a:solidFill>
                <a:latin typeface="Avenir Next"/>
                <a:ea typeface="Avenir Next"/>
                <a:cs typeface="Avenir Next"/>
              </a:defRPr>
            </a:pPr>
            <a:r>
              <a:rPr sz="3600" b="1" i="0">
                <a:solidFill>
                  <a:srgbClr val="F4F1E8"/>
                </a:solidFill>
                <a:latin typeface="Avenir Next"/>
                <a:ea typeface="Avenir Next"/>
                <a:cs typeface="Avenir Next"/>
              </a:rPr>
              <a:t>What did we just see?</a:t>
            </a:r>
          </a:p>
        </p:txBody>
      </p:sp>
      <p:sp>
        <p:nvSpPr>
          <p:cNvPr id="2" name="">
            <a:extLst xmlns:a="http://schemas.openxmlformats.org/drawingml/2006/main">
              <a:ext uri="{FF2B5EF4-FFF2-40B4-BE49-F238E27FC236}">
                <a16:creationId xmlns:a16="http://schemas.microsoft.com/office/drawing/2014/main" id="{E462C707-839C-4A30-8174-4A02F6B7D262}"/>
              </a:ext>
            </a:extLst>
          </p:cNvPr>
          <p:cNvSpPr>
            <a:spLocks xmlns:a="http://schemas.openxmlformats.org/drawingml/2006/main" noGrp="1"/>
          </p:cNvSpPr>
          <p:nvPr/>
        </p:nvSpPr>
        <p:spPr>
          <a:xfrm xmlns:a="http://schemas.openxmlformats.org/drawingml/2006/main">
            <a:off x="4191000" y="1504950"/>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i="0">
                <a:solidFill>
                  <a:srgbClr val="A8BAC8"/>
                </a:solidFill>
                <a:latin typeface="Avenir Next"/>
                <a:ea typeface="Avenir Next"/>
                <a:cs typeface="Avenir Next"/>
              </a:defRPr>
            </a:defPPr>
          </a:lstStyle>
          <a:p xmlns:a="http://schemas.openxmlformats.org/drawingml/2006/main">
            <a:pPr algn="ctr">
              <a:lnSpc>
                <a:spcPct val="100000"/>
              </a:lnSpc>
              <a:buNone/>
              <a:defRPr sz="1650" b="0" i="0">
                <a:solidFill>
                  <a:srgbClr val="A8BAC8"/>
                </a:solidFill>
                <a:latin typeface="Avenir Next"/>
                <a:ea typeface="Avenir Next"/>
                <a:cs typeface="Avenir Next"/>
              </a:defRPr>
            </a:pPr>
            <a:r>
              <a:rPr sz="1650" b="0" i="0">
                <a:solidFill>
                  <a:srgbClr val="A8BAC8"/>
                </a:solidFill>
                <a:latin typeface="Avenir Next"/>
                <a:ea typeface="Avenir Next"/>
                <a:cs typeface="Avenir Next"/>
              </a:rPr>
              <a:t>Raise your hand</a:t>
            </a:r>
          </a:p>
        </p:txBody>
      </p:sp>
      <p:sp>
        <p:nvSpPr>
          <p:cNvPr id="3" name="">
            <a:extLst xmlns:a="http://schemas.openxmlformats.org/drawingml/2006/main">
              <a:ext uri="{FF2B5EF4-FFF2-40B4-BE49-F238E27FC236}">
                <a16:creationId xmlns:a16="http://schemas.microsoft.com/office/drawing/2014/main" id="{CBA5DA5F-FE48-4BAE-8131-FD64B9D7772E}"/>
              </a:ext>
            </a:extLst>
          </p:cNvPr>
          <p:cNvSpPr>
            <a:spLocks xmlns:a="http://schemas.openxmlformats.org/drawingml/2006/main" noGrp="1"/>
          </p:cNvSpPr>
          <p:nvPr/>
        </p:nvSpPr>
        <p:spPr>
          <a:xfrm xmlns:a="http://schemas.openxmlformats.org/drawingml/2006/main">
            <a:off x="1409700" y="2419350"/>
            <a:ext cx="937260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D96D899-384B-4C66-8562-AFB700D089FD}"/>
              </a:ext>
            </a:extLst>
          </p:cNvPr>
          <p:cNvSpPr>
            <a:spLocks xmlns:a="http://schemas.openxmlformats.org/drawingml/2006/main" noGrp="1"/>
          </p:cNvSpPr>
          <p:nvPr/>
        </p:nvSpPr>
        <p:spPr>
          <a:xfrm xmlns:a="http://schemas.openxmlformats.org/drawingml/2006/main">
            <a:off x="952500" y="27241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900" b="1" i="0">
                <a:solidFill>
                  <a:srgbClr val="55D6D2"/>
                </a:solidFill>
                <a:latin typeface="Avenir Next"/>
                <a:ea typeface="Avenir Next"/>
                <a:cs typeface="Avenir Next"/>
              </a:defRPr>
            </a:defPPr>
          </a:lstStyle>
          <a:p xmlns:a="http://schemas.openxmlformats.org/drawingml/2006/main">
            <a:pPr algn="ctr">
              <a:lnSpc>
                <a:spcPct val="100000"/>
              </a:lnSpc>
              <a:buNone/>
              <a:defRPr sz="3900" b="1" i="0">
                <a:solidFill>
                  <a:srgbClr val="55D6D2"/>
                </a:solidFill>
                <a:latin typeface="Avenir Next"/>
                <a:ea typeface="Avenir Next"/>
                <a:cs typeface="Avenir Next"/>
              </a:defRPr>
            </a:pPr>
            <a:r>
              <a:rPr sz="3900" b="1" i="0">
                <a:solidFill>
                  <a:srgbClr val="55D6D2"/>
                </a:solidFill>
                <a:latin typeface="Avenir Next"/>
                <a:ea typeface="Avenir Next"/>
                <a:cs typeface="Avenir Next"/>
              </a:rPr>
              <a:t>A</a:t>
            </a:r>
          </a:p>
        </p:txBody>
      </p:sp>
      <p:sp>
        <p:nvSpPr>
          <p:cNvPr id="5" name="">
            <a:extLst xmlns:a="http://schemas.openxmlformats.org/drawingml/2006/main">
              <a:ext uri="{FF2B5EF4-FFF2-40B4-BE49-F238E27FC236}">
                <a16:creationId xmlns:a16="http://schemas.microsoft.com/office/drawing/2014/main" id="{876C9A70-2956-4DDF-A834-5E113E3A2CC5}"/>
              </a:ext>
            </a:extLst>
          </p:cNvPr>
          <p:cNvSpPr>
            <a:spLocks xmlns:a="http://schemas.openxmlformats.org/drawingml/2006/main" noGrp="1"/>
          </p:cNvSpPr>
          <p:nvPr/>
        </p:nvSpPr>
        <p:spPr>
          <a:xfrm xmlns:a="http://schemas.openxmlformats.org/drawingml/2006/main">
            <a:off x="952500" y="3524250"/>
            <a:ext cx="2476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i="0">
                <a:solidFill>
                  <a:srgbClr val="F4F1E8"/>
                </a:solidFill>
                <a:latin typeface="Avenir Next"/>
                <a:ea typeface="Avenir Next"/>
                <a:cs typeface="Avenir Next"/>
              </a:defRPr>
            </a:defPPr>
          </a:lstStyle>
          <a:p xmlns:a="http://schemas.openxmlformats.org/drawingml/2006/main">
            <a:pPr algn="ctr">
              <a:lnSpc>
                <a:spcPct val="95000"/>
              </a:lnSpc>
              <a:buNone/>
              <a:defRPr sz="2250" b="1" i="0">
                <a:solidFill>
                  <a:srgbClr val="F4F1E8"/>
                </a:solidFill>
                <a:latin typeface="Avenir Next"/>
                <a:ea typeface="Avenir Next"/>
                <a:cs typeface="Avenir Next"/>
              </a:defRPr>
            </a:pPr>
            <a:r>
              <a:rPr sz="2250" b="1" i="0">
                <a:solidFill>
                  <a:srgbClr val="F4F1E8"/>
                </a:solidFill>
                <a:latin typeface="Avenir Next"/>
                <a:ea typeface="Avenir Next"/>
                <a:cs typeface="Avenir Next"/>
              </a:rPr>
              <a:t>Artificial</a:t>
            </a:r>
          </a:p>
          <a:p xmlns:a="http://schemas.openxmlformats.org/drawingml/2006/main">
            <a:pPr algn="ctr">
              <a:lnSpc>
                <a:spcPct val="95000"/>
              </a:lnSpc>
              <a:buNone/>
              <a:defRPr sz="2250" b="1" i="0">
                <a:solidFill>
                  <a:srgbClr val="F4F1E8"/>
                </a:solidFill>
                <a:latin typeface="Avenir Next"/>
                <a:ea typeface="Avenir Next"/>
                <a:cs typeface="Avenir Next"/>
              </a:defRPr>
            </a:pPr>
            <a:r>
              <a:rPr sz="2250" b="1" i="0">
                <a:solidFill>
                  <a:srgbClr val="F4F1E8"/>
                </a:solidFill>
                <a:latin typeface="Avenir Next"/>
                <a:ea typeface="Avenir Next"/>
                <a:cs typeface="Avenir Next"/>
              </a:rPr>
              <a:t>intelligence</a:t>
            </a:r>
          </a:p>
        </p:txBody>
      </p:sp>
      <p:sp>
        <p:nvSpPr>
          <p:cNvPr id="6" name="">
            <a:extLst xmlns:a="http://schemas.openxmlformats.org/drawingml/2006/main">
              <a:ext uri="{FF2B5EF4-FFF2-40B4-BE49-F238E27FC236}">
                <a16:creationId xmlns:a16="http://schemas.microsoft.com/office/drawing/2014/main" id="{980D7CE2-5B07-4B00-B885-E51C11999500}"/>
              </a:ext>
            </a:extLst>
          </p:cNvPr>
          <p:cNvSpPr>
            <a:spLocks xmlns:a="http://schemas.openxmlformats.org/drawingml/2006/main" noGrp="1"/>
          </p:cNvSpPr>
          <p:nvPr/>
        </p:nvSpPr>
        <p:spPr>
          <a:xfrm xmlns:a="http://schemas.openxmlformats.org/drawingml/2006/main">
            <a:off x="4381500" y="27241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900" b="1" i="0">
                <a:solidFill>
                  <a:srgbClr val="FFB454"/>
                </a:solidFill>
                <a:latin typeface="Avenir Next"/>
                <a:ea typeface="Avenir Next"/>
                <a:cs typeface="Avenir Next"/>
              </a:defRPr>
            </a:defPPr>
          </a:lstStyle>
          <a:p xmlns:a="http://schemas.openxmlformats.org/drawingml/2006/main">
            <a:pPr algn="ctr">
              <a:lnSpc>
                <a:spcPct val="100000"/>
              </a:lnSpc>
              <a:buNone/>
              <a:defRPr sz="3900" b="1" i="0">
                <a:solidFill>
                  <a:srgbClr val="FFB454"/>
                </a:solidFill>
                <a:latin typeface="Avenir Next"/>
                <a:ea typeface="Avenir Next"/>
                <a:cs typeface="Avenir Next"/>
              </a:defRPr>
            </a:pPr>
            <a:r>
              <a:rPr sz="3900" b="1" i="0">
                <a:solidFill>
                  <a:srgbClr val="FFB454"/>
                </a:solidFill>
                <a:latin typeface="Avenir Next"/>
                <a:ea typeface="Avenir Next"/>
                <a:cs typeface="Avenir Next"/>
              </a:rPr>
              <a:t>B</a:t>
            </a:r>
          </a:p>
        </p:txBody>
      </p:sp>
      <p:sp>
        <p:nvSpPr>
          <p:cNvPr id="7" name="">
            <a:extLst xmlns:a="http://schemas.openxmlformats.org/drawingml/2006/main">
              <a:ext uri="{FF2B5EF4-FFF2-40B4-BE49-F238E27FC236}">
                <a16:creationId xmlns:a16="http://schemas.microsoft.com/office/drawing/2014/main" id="{BFCC1EB0-E243-4875-9B2E-652EED9F140F}"/>
              </a:ext>
            </a:extLst>
          </p:cNvPr>
          <p:cNvSpPr>
            <a:spLocks xmlns:a="http://schemas.openxmlformats.org/drawingml/2006/main" noGrp="1"/>
          </p:cNvSpPr>
          <p:nvPr/>
        </p:nvSpPr>
        <p:spPr>
          <a:xfrm xmlns:a="http://schemas.openxmlformats.org/drawingml/2006/main">
            <a:off x="4381500" y="3524250"/>
            <a:ext cx="2476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i="0">
                <a:solidFill>
                  <a:srgbClr val="F4F1E8"/>
                </a:solidFill>
                <a:latin typeface="Avenir Next"/>
                <a:ea typeface="Avenir Next"/>
                <a:cs typeface="Avenir Next"/>
              </a:defRPr>
            </a:defPPr>
          </a:lstStyle>
          <a:p xmlns:a="http://schemas.openxmlformats.org/drawingml/2006/main">
            <a:pPr algn="ctr">
              <a:lnSpc>
                <a:spcPct val="95000"/>
              </a:lnSpc>
              <a:buNone/>
              <a:defRPr sz="2250" b="1" i="0">
                <a:solidFill>
                  <a:srgbClr val="F4F1E8"/>
                </a:solidFill>
                <a:latin typeface="Avenir Next"/>
                <a:ea typeface="Avenir Next"/>
                <a:cs typeface="Avenir Next"/>
              </a:defRPr>
            </a:pPr>
            <a:r>
              <a:rPr sz="2250" b="1" i="0">
                <a:solidFill>
                  <a:srgbClr val="F4F1E8"/>
                </a:solidFill>
                <a:latin typeface="Avenir Next"/>
                <a:ea typeface="Avenir Next"/>
                <a:cs typeface="Avenir Next"/>
              </a:rPr>
              <a:t>Automation</a:t>
            </a:r>
          </a:p>
        </p:txBody>
      </p:sp>
      <p:sp>
        <p:nvSpPr>
          <p:cNvPr id="8" name="">
            <a:extLst xmlns:a="http://schemas.openxmlformats.org/drawingml/2006/main">
              <a:ext uri="{FF2B5EF4-FFF2-40B4-BE49-F238E27FC236}">
                <a16:creationId xmlns:a16="http://schemas.microsoft.com/office/drawing/2014/main" id="{03625A5F-C773-4CFD-8833-C49AF890FC40}"/>
              </a:ext>
            </a:extLst>
          </p:cNvPr>
          <p:cNvSpPr>
            <a:spLocks xmlns:a="http://schemas.openxmlformats.org/drawingml/2006/main" noGrp="1"/>
          </p:cNvSpPr>
          <p:nvPr/>
        </p:nvSpPr>
        <p:spPr>
          <a:xfrm xmlns:a="http://schemas.openxmlformats.org/drawingml/2006/main">
            <a:off x="7810500" y="27241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900" b="1" i="0">
                <a:solidFill>
                  <a:srgbClr val="5B8CFF"/>
                </a:solidFill>
                <a:latin typeface="Avenir Next"/>
                <a:ea typeface="Avenir Next"/>
                <a:cs typeface="Avenir Next"/>
              </a:defRPr>
            </a:defPPr>
          </a:lstStyle>
          <a:p xmlns:a="http://schemas.openxmlformats.org/drawingml/2006/main">
            <a:pPr algn="ctr">
              <a:lnSpc>
                <a:spcPct val="100000"/>
              </a:lnSpc>
              <a:buNone/>
              <a:defRPr sz="3900" b="1" i="0">
                <a:solidFill>
                  <a:srgbClr val="5B8CFF"/>
                </a:solidFill>
                <a:latin typeface="Avenir Next"/>
                <a:ea typeface="Avenir Next"/>
                <a:cs typeface="Avenir Next"/>
              </a:defRPr>
            </a:pPr>
            <a:r>
              <a:rPr sz="3900" b="1" i="0">
                <a:solidFill>
                  <a:srgbClr val="5B8CFF"/>
                </a:solidFill>
                <a:latin typeface="Avenir Next"/>
                <a:ea typeface="Avenir Next"/>
                <a:cs typeface="Avenir Next"/>
              </a:rPr>
              <a:t>C</a:t>
            </a:r>
          </a:p>
        </p:txBody>
      </p:sp>
      <p:sp>
        <p:nvSpPr>
          <p:cNvPr id="9" name="">
            <a:extLst xmlns:a="http://schemas.openxmlformats.org/drawingml/2006/main">
              <a:ext uri="{FF2B5EF4-FFF2-40B4-BE49-F238E27FC236}">
                <a16:creationId xmlns:a16="http://schemas.microsoft.com/office/drawing/2014/main" id="{6451EBC4-53CC-4460-B19B-81FD860C6827}"/>
              </a:ext>
            </a:extLst>
          </p:cNvPr>
          <p:cNvSpPr>
            <a:spLocks xmlns:a="http://schemas.openxmlformats.org/drawingml/2006/main" noGrp="1"/>
          </p:cNvSpPr>
          <p:nvPr/>
        </p:nvSpPr>
        <p:spPr>
          <a:xfrm xmlns:a="http://schemas.openxmlformats.org/drawingml/2006/main">
            <a:off x="7810500" y="3524250"/>
            <a:ext cx="2476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i="0">
                <a:solidFill>
                  <a:srgbClr val="F4F1E8"/>
                </a:solidFill>
                <a:latin typeface="Avenir Next"/>
                <a:ea typeface="Avenir Next"/>
                <a:cs typeface="Avenir Next"/>
              </a:defRPr>
            </a:defPPr>
          </a:lstStyle>
          <a:p xmlns:a="http://schemas.openxmlformats.org/drawingml/2006/main">
            <a:pPr algn="ctr">
              <a:lnSpc>
                <a:spcPct val="95000"/>
              </a:lnSpc>
              <a:buNone/>
              <a:defRPr sz="2250" b="1" i="0">
                <a:solidFill>
                  <a:srgbClr val="F4F1E8"/>
                </a:solidFill>
                <a:latin typeface="Avenir Next"/>
                <a:ea typeface="Avenir Next"/>
                <a:cs typeface="Avenir Next"/>
              </a:defRPr>
            </a:pPr>
            <a:r>
              <a:rPr sz="2250" b="1" i="0">
                <a:solidFill>
                  <a:srgbClr val="F4F1E8"/>
                </a:solidFill>
                <a:latin typeface="Avenir Next"/>
                <a:ea typeface="Avenir Next"/>
                <a:cs typeface="Avenir Next"/>
              </a:rPr>
              <a:t>The distinction</a:t>
            </a:r>
          </a:p>
          <a:p xmlns:a="http://schemas.openxmlformats.org/drawingml/2006/main">
            <a:pPr algn="ctr">
              <a:lnSpc>
                <a:spcPct val="95000"/>
              </a:lnSpc>
              <a:buNone/>
              <a:defRPr sz="2250" b="1" i="0">
                <a:solidFill>
                  <a:srgbClr val="F4F1E8"/>
                </a:solidFill>
                <a:latin typeface="Avenir Next"/>
                <a:ea typeface="Avenir Next"/>
                <a:cs typeface="Avenir Next"/>
              </a:defRPr>
            </a:pPr>
            <a:r>
              <a:rPr sz="2250" b="1" i="0">
                <a:solidFill>
                  <a:srgbClr val="F4F1E8"/>
                </a:solidFill>
                <a:latin typeface="Avenir Next"/>
                <a:ea typeface="Avenir Next"/>
                <a:cs typeface="Avenir Next"/>
              </a:rPr>
              <a:t>does not matter</a:t>
            </a:r>
          </a:p>
        </p:txBody>
      </p:sp>
      <p:sp>
        <p:nvSpPr>
          <p:cNvPr id="10" name="">
            <a:extLst xmlns:a="http://schemas.openxmlformats.org/drawingml/2006/main">
              <a:ext uri="{FF2B5EF4-FFF2-40B4-BE49-F238E27FC236}">
                <a16:creationId xmlns:a16="http://schemas.microsoft.com/office/drawing/2014/main" id="{AC9313BF-16A2-453A-B43E-098C39FEA2E9}"/>
              </a:ext>
            </a:extLst>
          </p:cNvPr>
          <p:cNvSpPr>
            <a:spLocks xmlns:a="http://schemas.openxmlformats.org/drawingml/2006/main" noGrp="1"/>
          </p:cNvSpPr>
          <p:nvPr/>
        </p:nvSpPr>
        <p:spPr>
          <a:xfrm xmlns:a="http://schemas.openxmlformats.org/drawingml/2006/main">
            <a:off x="1943100" y="5734050"/>
            <a:ext cx="830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0" i="0">
                <a:solidFill>
                  <a:srgbClr val="A8BAC8"/>
                </a:solidFill>
                <a:latin typeface="Avenir Next"/>
                <a:ea typeface="Avenir Next"/>
                <a:cs typeface="Avenir Next"/>
              </a:defRPr>
            </a:defPPr>
          </a:lstStyle>
          <a:p xmlns:a="http://schemas.openxmlformats.org/drawingml/2006/main">
            <a:pPr algn="ctr">
              <a:lnSpc>
                <a:spcPct val="100000"/>
              </a:lnSpc>
              <a:buNone/>
              <a:defRPr sz="1800" b="0" i="0">
                <a:solidFill>
                  <a:srgbClr val="A8BAC8"/>
                </a:solidFill>
                <a:latin typeface="Avenir Next"/>
                <a:ea typeface="Avenir Next"/>
                <a:cs typeface="Avenir Next"/>
              </a:defRPr>
            </a:pPr>
            <a:r>
              <a:rPr sz="1800" b="0" i="0">
                <a:solidFill>
                  <a:srgbClr val="A8BAC8"/>
                </a:solidFill>
                <a:latin typeface="Avenir Next"/>
                <a:ea typeface="Avenir Next"/>
                <a:cs typeface="Avenir Next"/>
              </a:rPr>
              <a:t>Keep your answer. We will return to it halfway through.</a:t>
            </a:r>
          </a:p>
        </p:txBody>
      </p:sp>
    </p:spTree>
    <p:extLst>
      <p:ext uri="{BB962C8B-B14F-4D97-AF65-F5344CB8AC3E}">
        <p14:creationId xmlns:p14="http://schemas.microsoft.com/office/powerpoint/2010/main" val="1521914560"/>
      </p:ext>
    </p:extLst>
  </p:cSld>
</p:sld>
</file>

<file path=ppt/slides/slide3.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431B246-C687-494F-B1AB-A350F0B0AF44}"/>
              </a:ext>
            </a:extLst>
          </p:cNvPr>
          <p:cNvSpPr>
            <a:spLocks xmlns:a="http://schemas.openxmlformats.org/drawingml/2006/main" noGrp="1"/>
          </p:cNvSpPr>
          <p:nvPr/>
        </p:nvSpPr>
        <p:spPr>
          <a:xfrm xmlns:a="http://schemas.openxmlformats.org/drawingml/2006/main">
            <a:off x="685800" y="5143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i="0">
                <a:solidFill>
                  <a:srgbClr val="F4F1E8"/>
                </a:solidFill>
                <a:latin typeface="Avenir Next"/>
                <a:ea typeface="Avenir Next"/>
                <a:cs typeface="Avenir Next"/>
              </a:defRPr>
            </a:defPPr>
          </a:lstStyle>
          <a:p xmlns:a="http://schemas.openxmlformats.org/drawingml/2006/main">
            <a:pPr algn="l">
              <a:lnSpc>
                <a:spcPct val="100000"/>
              </a:lnSpc>
              <a:buNone/>
              <a:defRPr sz="3300" b="1" i="0">
                <a:solidFill>
                  <a:srgbClr val="F4F1E8"/>
                </a:solidFill>
                <a:latin typeface="Avenir Next"/>
                <a:ea typeface="Avenir Next"/>
                <a:cs typeface="Avenir Next"/>
              </a:defRPr>
            </a:pPr>
            <a:r>
              <a:rPr sz="3300" b="1" i="0">
                <a:solidFill>
                  <a:srgbClr val="F4F1E8"/>
                </a:solidFill>
                <a:latin typeface="Avenir Next"/>
                <a:ea typeface="Avenir Next"/>
                <a:cs typeface="Avenir Next"/>
              </a:rPr>
              <a:t>Automation is a spectrum</a:t>
            </a:r>
          </a:p>
        </p:txBody>
      </p:sp>
      <p:sp>
        <p:nvSpPr>
          <p:cNvPr id="2" name="">
            <a:extLst xmlns:a="http://schemas.openxmlformats.org/drawingml/2006/main">
              <a:ext uri="{FF2B5EF4-FFF2-40B4-BE49-F238E27FC236}">
                <a16:creationId xmlns:a16="http://schemas.microsoft.com/office/drawing/2014/main" id="{4D47BB90-116C-460B-ADD2-68A530428862}"/>
              </a:ext>
            </a:extLst>
          </p:cNvPr>
          <p:cNvSpPr>
            <a:spLocks xmlns:a="http://schemas.openxmlformats.org/drawingml/2006/main" noGrp="1"/>
          </p:cNvSpPr>
          <p:nvPr/>
        </p:nvSpPr>
        <p:spPr>
          <a:xfrm xmlns:a="http://schemas.openxmlformats.org/drawingml/2006/main">
            <a:off x="685800" y="1257300"/>
            <a:ext cx="857250" cy="38100"/>
          </a:xfrm>
          <a:prstGeom xmlns:a="http://schemas.openxmlformats.org/drawingml/2006/main" prst="rect">
            <a:avLst/>
          </a:prstGeom>
          <a:solidFill xmlns:a="http://schemas.openxmlformats.org/drawingml/2006/main">
            <a:srgbClr val="55D6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975F073-336D-47A7-B63D-9356B0EC83A7}"/>
              </a:ext>
            </a:extLst>
          </p:cNvPr>
          <p:cNvSpPr>
            <a:spLocks xmlns:a="http://schemas.openxmlformats.org/drawingml/2006/main" noGrp="1"/>
          </p:cNvSpPr>
          <p:nvPr/>
        </p:nvSpPr>
        <p:spPr>
          <a:xfrm xmlns:a="http://schemas.openxmlformats.org/drawingml/2006/main">
            <a:off x="1752600" y="1095375"/>
            <a:ext cx="933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A8BAC8"/>
                </a:solidFill>
                <a:latin typeface="Avenir Next"/>
                <a:ea typeface="Avenir Next"/>
                <a:cs typeface="Avenir Next"/>
              </a:defRPr>
            </a:defPPr>
          </a:lstStyle>
          <a:p xmlns:a="http://schemas.openxmlformats.org/drawingml/2006/main">
            <a:pPr algn="l">
              <a:lnSpc>
                <a:spcPct val="100000"/>
              </a:lnSpc>
              <a:buNone/>
              <a:defRPr sz="1500" b="0" i="0">
                <a:solidFill>
                  <a:srgbClr val="A8BAC8"/>
                </a:solidFill>
                <a:latin typeface="Avenir Next"/>
                <a:ea typeface="Avenir Next"/>
                <a:cs typeface="Avenir Next"/>
              </a:defRPr>
            </a:pPr>
            <a:r>
              <a:rPr sz="1500" b="0" i="0">
                <a:solidFill>
                  <a:srgbClr val="A8BAC8"/>
                </a:solidFill>
                <a:latin typeface="Avenir Next"/>
                <a:ea typeface="Avenir Next"/>
                <a:cs typeface="Avenir Next"/>
              </a:rPr>
              <a:t>SAE driving automation provides a familiar example</a:t>
            </a:r>
          </a:p>
        </p:txBody>
      </p:sp>
      <p:sp>
        <p:nvSpPr>
          <p:cNvPr id="4" name="">
            <a:extLst xmlns:a="http://schemas.openxmlformats.org/drawingml/2006/main">
              <a:ext uri="{FF2B5EF4-FFF2-40B4-BE49-F238E27FC236}">
                <a16:creationId xmlns:a16="http://schemas.microsoft.com/office/drawing/2014/main" id="{A6D98202-B48C-45AC-9A1B-4CAE235BCB16}"/>
              </a:ext>
            </a:extLst>
          </p:cNvPr>
          <p:cNvSpPr>
            <a:spLocks xmlns:a="http://schemas.openxmlformats.org/drawingml/2006/main" noGrp="1"/>
          </p:cNvSpPr>
          <p:nvPr/>
        </p:nvSpPr>
        <p:spPr>
          <a:xfrm xmlns:a="http://schemas.openxmlformats.org/drawingml/2006/main">
            <a:off x="723900" y="2057400"/>
            <a:ext cx="1676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350" b="1" i="0">
                <a:solidFill>
                  <a:srgbClr val="FFB454"/>
                </a:solidFill>
                <a:latin typeface="Avenir Next"/>
                <a:ea typeface="Avenir Next"/>
                <a:cs typeface="Avenir Next"/>
              </a:defRPr>
            </a:defPPr>
          </a:lstStyle>
          <a:p xmlns:a="http://schemas.openxmlformats.org/drawingml/2006/main">
            <a:pPr algn="ctr">
              <a:lnSpc>
                <a:spcPct val="100000"/>
              </a:lnSpc>
              <a:buNone/>
              <a:defRPr sz="4350" b="1" i="0">
                <a:solidFill>
                  <a:srgbClr val="FFB454"/>
                </a:solidFill>
                <a:latin typeface="Avenir Next"/>
                <a:ea typeface="Avenir Next"/>
                <a:cs typeface="Avenir Next"/>
              </a:defRPr>
            </a:pPr>
            <a:r>
              <a:rPr sz="4350" b="1" i="0">
                <a:solidFill>
                  <a:srgbClr val="FFB454"/>
                </a:solidFill>
                <a:latin typeface="Avenir Next"/>
                <a:ea typeface="Avenir Next"/>
                <a:cs typeface="Avenir Next"/>
              </a:rPr>
              <a:t>0</a:t>
            </a:r>
          </a:p>
        </p:txBody>
      </p:sp>
      <p:sp>
        <p:nvSpPr>
          <p:cNvPr id="5" name="">
            <a:extLst xmlns:a="http://schemas.openxmlformats.org/drawingml/2006/main">
              <a:ext uri="{FF2B5EF4-FFF2-40B4-BE49-F238E27FC236}">
                <a16:creationId xmlns:a16="http://schemas.microsoft.com/office/drawing/2014/main" id="{0661D136-0758-41DA-9F48-B5FBB4E7D736}"/>
              </a:ext>
            </a:extLst>
          </p:cNvPr>
          <p:cNvSpPr>
            <a:spLocks xmlns:a="http://schemas.openxmlformats.org/drawingml/2006/main" noGrp="1"/>
          </p:cNvSpPr>
          <p:nvPr/>
        </p:nvSpPr>
        <p:spPr>
          <a:xfrm xmlns:a="http://schemas.openxmlformats.org/drawingml/2006/main">
            <a:off x="990600" y="2876550"/>
            <a:ext cx="1143000" cy="38100"/>
          </a:xfrm>
          <a:prstGeom xmlns:a="http://schemas.openxmlformats.org/drawingml/2006/main" prst="rect">
            <a:avLst/>
          </a:prstGeom>
          <a:solidFill xmlns:a="http://schemas.openxmlformats.org/drawingml/2006/main">
            <a:srgbClr val="FFB45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2886C25-371E-4B14-86D8-441FF074DEE2}"/>
              </a:ext>
            </a:extLst>
          </p:cNvPr>
          <p:cNvSpPr>
            <a:spLocks xmlns:a="http://schemas.openxmlformats.org/drawingml/2006/main" noGrp="1"/>
          </p:cNvSpPr>
          <p:nvPr/>
        </p:nvSpPr>
        <p:spPr>
          <a:xfrm xmlns:a="http://schemas.openxmlformats.org/drawingml/2006/main">
            <a:off x="723900" y="3124200"/>
            <a:ext cx="1676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i="0">
                <a:solidFill>
                  <a:srgbClr val="F4F1E8"/>
                </a:solidFill>
                <a:latin typeface="Avenir Next"/>
                <a:ea typeface="Avenir Next"/>
                <a:cs typeface="Avenir Next"/>
              </a:defRPr>
            </a:defPPr>
          </a:lstStyle>
          <a:p xmlns:a="http://schemas.openxmlformats.org/drawingml/2006/main">
            <a:pPr algn="ctr">
              <a:lnSpc>
                <a:spcPct val="95000"/>
              </a:lnSpc>
              <a:buNone/>
              <a:defRPr sz="1650" b="1" i="0">
                <a:solidFill>
                  <a:srgbClr val="F4F1E8"/>
                </a:solidFill>
                <a:latin typeface="Avenir Next"/>
                <a:ea typeface="Avenir Next"/>
                <a:cs typeface="Avenir Next"/>
              </a:defRPr>
            </a:pPr>
            <a:r>
              <a:rPr sz="1650" b="1" i="0">
                <a:solidFill>
                  <a:srgbClr val="F4F1E8"/>
                </a:solidFill>
                <a:latin typeface="Avenir Next"/>
                <a:ea typeface="Avenir Next"/>
                <a:cs typeface="Avenir Next"/>
              </a:rPr>
              <a:t>No automation</a:t>
            </a:r>
          </a:p>
        </p:txBody>
      </p:sp>
      <p:sp>
        <p:nvSpPr>
          <p:cNvPr id="7" name="">
            <a:extLst xmlns:a="http://schemas.openxmlformats.org/drawingml/2006/main">
              <a:ext uri="{FF2B5EF4-FFF2-40B4-BE49-F238E27FC236}">
                <a16:creationId xmlns:a16="http://schemas.microsoft.com/office/drawing/2014/main" id="{698F07E2-B269-4AB2-8CB0-BA41FAAE7EBE}"/>
              </a:ext>
            </a:extLst>
          </p:cNvPr>
          <p:cNvSpPr>
            <a:spLocks xmlns:a="http://schemas.openxmlformats.org/drawingml/2006/main" noGrp="1"/>
          </p:cNvSpPr>
          <p:nvPr/>
        </p:nvSpPr>
        <p:spPr>
          <a:xfrm xmlns:a="http://schemas.openxmlformats.org/drawingml/2006/main">
            <a:off x="723900" y="3905250"/>
            <a:ext cx="1676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50" b="0" i="0">
                <a:solidFill>
                  <a:srgbClr val="A8BAC8"/>
                </a:solidFill>
                <a:latin typeface="Avenir Next"/>
                <a:ea typeface="Avenir Next"/>
                <a:cs typeface="Avenir Next"/>
              </a:defRPr>
            </a:defPPr>
          </a:lstStyle>
          <a:p xmlns:a="http://schemas.openxmlformats.org/drawingml/2006/main">
            <a:pPr algn="ctr">
              <a:lnSpc>
                <a:spcPct val="95000"/>
              </a:lnSpc>
              <a:buNone/>
              <a:defRPr sz="1350" b="0" i="0">
                <a:solidFill>
                  <a:srgbClr val="A8BAC8"/>
                </a:solidFill>
                <a:latin typeface="Avenir Next"/>
                <a:ea typeface="Avenir Next"/>
                <a:cs typeface="Avenir Next"/>
              </a:defRPr>
            </a:pPr>
            <a:r>
              <a:rPr sz="1350" b="0" i="0">
                <a:solidFill>
                  <a:srgbClr val="A8BAC8"/>
                </a:solidFill>
                <a:latin typeface="Avenir Next"/>
                <a:ea typeface="Avenir Next"/>
                <a:cs typeface="Avenir Next"/>
              </a:rPr>
              <a:t>Human drives</a:t>
            </a:r>
          </a:p>
        </p:txBody>
      </p:sp>
      <p:sp>
        <p:nvSpPr>
          <p:cNvPr id="8" name="">
            <a:extLst xmlns:a="http://schemas.openxmlformats.org/drawingml/2006/main">
              <a:ext uri="{FF2B5EF4-FFF2-40B4-BE49-F238E27FC236}">
                <a16:creationId xmlns:a16="http://schemas.microsoft.com/office/drawing/2014/main" id="{28EA2C5B-3469-4874-AE6E-5D6DB2D8D891}"/>
              </a:ext>
            </a:extLst>
          </p:cNvPr>
          <p:cNvSpPr>
            <a:spLocks xmlns:a="http://schemas.openxmlformats.org/drawingml/2006/main" noGrp="1"/>
          </p:cNvSpPr>
          <p:nvPr/>
        </p:nvSpPr>
        <p:spPr>
          <a:xfrm xmlns:a="http://schemas.openxmlformats.org/drawingml/2006/main">
            <a:off x="2552700" y="2057400"/>
            <a:ext cx="1676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350" b="1" i="0">
                <a:solidFill>
                  <a:srgbClr val="FFB454"/>
                </a:solidFill>
                <a:latin typeface="Avenir Next"/>
                <a:ea typeface="Avenir Next"/>
                <a:cs typeface="Avenir Next"/>
              </a:defRPr>
            </a:defPPr>
          </a:lstStyle>
          <a:p xmlns:a="http://schemas.openxmlformats.org/drawingml/2006/main">
            <a:pPr algn="ctr">
              <a:lnSpc>
                <a:spcPct val="100000"/>
              </a:lnSpc>
              <a:buNone/>
              <a:defRPr sz="4350" b="1" i="0">
                <a:solidFill>
                  <a:srgbClr val="FFB454"/>
                </a:solidFill>
                <a:latin typeface="Avenir Next"/>
                <a:ea typeface="Avenir Next"/>
                <a:cs typeface="Avenir Next"/>
              </a:defRPr>
            </a:pPr>
            <a:r>
              <a:rPr sz="4350" b="1" i="0">
                <a:solidFill>
                  <a:srgbClr val="FFB454"/>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7446273C-6A06-4FE8-A3B9-6759034459B3}"/>
              </a:ext>
            </a:extLst>
          </p:cNvPr>
          <p:cNvSpPr>
            <a:spLocks xmlns:a="http://schemas.openxmlformats.org/drawingml/2006/main" noGrp="1"/>
          </p:cNvSpPr>
          <p:nvPr/>
        </p:nvSpPr>
        <p:spPr>
          <a:xfrm xmlns:a="http://schemas.openxmlformats.org/drawingml/2006/main">
            <a:off x="2819400" y="2876550"/>
            <a:ext cx="1143000" cy="38100"/>
          </a:xfrm>
          <a:prstGeom xmlns:a="http://schemas.openxmlformats.org/drawingml/2006/main" prst="rect">
            <a:avLst/>
          </a:prstGeom>
          <a:solidFill xmlns:a="http://schemas.openxmlformats.org/drawingml/2006/main">
            <a:srgbClr val="FFB45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3F89FDF-6AEB-4257-B7CD-709FEC0850F6}"/>
              </a:ext>
            </a:extLst>
          </p:cNvPr>
          <p:cNvSpPr>
            <a:spLocks xmlns:a="http://schemas.openxmlformats.org/drawingml/2006/main" noGrp="1"/>
          </p:cNvSpPr>
          <p:nvPr/>
        </p:nvSpPr>
        <p:spPr>
          <a:xfrm xmlns:a="http://schemas.openxmlformats.org/drawingml/2006/main">
            <a:off x="2552700" y="3124200"/>
            <a:ext cx="1676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i="0">
                <a:solidFill>
                  <a:srgbClr val="F4F1E8"/>
                </a:solidFill>
                <a:latin typeface="Avenir Next"/>
                <a:ea typeface="Avenir Next"/>
                <a:cs typeface="Avenir Next"/>
              </a:defRPr>
            </a:defPPr>
          </a:lstStyle>
          <a:p xmlns:a="http://schemas.openxmlformats.org/drawingml/2006/main">
            <a:pPr algn="ctr">
              <a:lnSpc>
                <a:spcPct val="95000"/>
              </a:lnSpc>
              <a:buNone/>
              <a:defRPr sz="1650" b="1" i="0">
                <a:solidFill>
                  <a:srgbClr val="F4F1E8"/>
                </a:solidFill>
                <a:latin typeface="Avenir Next"/>
                <a:ea typeface="Avenir Next"/>
                <a:cs typeface="Avenir Next"/>
              </a:defRPr>
            </a:pPr>
            <a:r>
              <a:rPr sz="1650" b="1" i="0">
                <a:solidFill>
                  <a:srgbClr val="F4F1E8"/>
                </a:solidFill>
                <a:latin typeface="Avenir Next"/>
                <a:ea typeface="Avenir Next"/>
                <a:cs typeface="Avenir Next"/>
              </a:rPr>
              <a:t>Driver assistance</a:t>
            </a:r>
          </a:p>
        </p:txBody>
      </p:sp>
      <p:sp>
        <p:nvSpPr>
          <p:cNvPr id="11" name="">
            <a:extLst xmlns:a="http://schemas.openxmlformats.org/drawingml/2006/main">
              <a:ext uri="{FF2B5EF4-FFF2-40B4-BE49-F238E27FC236}">
                <a16:creationId xmlns:a16="http://schemas.microsoft.com/office/drawing/2014/main" id="{6812907C-91FD-41A0-818E-CC0C4D7E846E}"/>
              </a:ext>
            </a:extLst>
          </p:cNvPr>
          <p:cNvSpPr>
            <a:spLocks xmlns:a="http://schemas.openxmlformats.org/drawingml/2006/main" noGrp="1"/>
          </p:cNvSpPr>
          <p:nvPr/>
        </p:nvSpPr>
        <p:spPr>
          <a:xfrm xmlns:a="http://schemas.openxmlformats.org/drawingml/2006/main">
            <a:off x="2552700" y="3905250"/>
            <a:ext cx="1676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50" b="0" i="0">
                <a:solidFill>
                  <a:srgbClr val="A8BAC8"/>
                </a:solidFill>
                <a:latin typeface="Avenir Next"/>
                <a:ea typeface="Avenir Next"/>
                <a:cs typeface="Avenir Next"/>
              </a:defRPr>
            </a:defPPr>
          </a:lstStyle>
          <a:p xmlns:a="http://schemas.openxmlformats.org/drawingml/2006/main">
            <a:pPr algn="ctr">
              <a:lnSpc>
                <a:spcPct val="95000"/>
              </a:lnSpc>
              <a:buNone/>
              <a:defRPr sz="1350" b="0" i="0">
                <a:solidFill>
                  <a:srgbClr val="A8BAC8"/>
                </a:solidFill>
                <a:latin typeface="Avenir Next"/>
                <a:ea typeface="Avenir Next"/>
                <a:cs typeface="Avenir Next"/>
              </a:defRPr>
            </a:pPr>
            <a:r>
              <a:rPr sz="1350" b="0" i="0">
                <a:solidFill>
                  <a:srgbClr val="A8BAC8"/>
                </a:solidFill>
                <a:latin typeface="Avenir Next"/>
                <a:ea typeface="Avenir Next"/>
                <a:cs typeface="Avenir Next"/>
              </a:rPr>
              <a:t>One function</a:t>
            </a:r>
          </a:p>
        </p:txBody>
      </p:sp>
      <p:sp>
        <p:nvSpPr>
          <p:cNvPr id="12" name="">
            <a:extLst xmlns:a="http://schemas.openxmlformats.org/drawingml/2006/main">
              <a:ext uri="{FF2B5EF4-FFF2-40B4-BE49-F238E27FC236}">
                <a16:creationId xmlns:a16="http://schemas.microsoft.com/office/drawing/2014/main" id="{797B3A88-7891-42B7-8D01-4328574E108E}"/>
              </a:ext>
            </a:extLst>
          </p:cNvPr>
          <p:cNvSpPr>
            <a:spLocks xmlns:a="http://schemas.openxmlformats.org/drawingml/2006/main" noGrp="1"/>
          </p:cNvSpPr>
          <p:nvPr/>
        </p:nvSpPr>
        <p:spPr>
          <a:xfrm xmlns:a="http://schemas.openxmlformats.org/drawingml/2006/main">
            <a:off x="4381500" y="2057400"/>
            <a:ext cx="1676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350" b="1" i="0">
                <a:solidFill>
                  <a:srgbClr val="FFB454"/>
                </a:solidFill>
                <a:latin typeface="Avenir Next"/>
                <a:ea typeface="Avenir Next"/>
                <a:cs typeface="Avenir Next"/>
              </a:defRPr>
            </a:defPPr>
          </a:lstStyle>
          <a:p xmlns:a="http://schemas.openxmlformats.org/drawingml/2006/main">
            <a:pPr algn="ctr">
              <a:lnSpc>
                <a:spcPct val="100000"/>
              </a:lnSpc>
              <a:buNone/>
              <a:defRPr sz="4350" b="1" i="0">
                <a:solidFill>
                  <a:srgbClr val="FFB454"/>
                </a:solidFill>
                <a:latin typeface="Avenir Next"/>
                <a:ea typeface="Avenir Next"/>
                <a:cs typeface="Avenir Next"/>
              </a:defRPr>
            </a:pPr>
            <a:r>
              <a:rPr sz="4350" b="1" i="0">
                <a:solidFill>
                  <a:srgbClr val="FFB454"/>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2F5B510B-1C2A-4688-B5E8-158FE563519B}"/>
              </a:ext>
            </a:extLst>
          </p:cNvPr>
          <p:cNvSpPr>
            <a:spLocks xmlns:a="http://schemas.openxmlformats.org/drawingml/2006/main" noGrp="1"/>
          </p:cNvSpPr>
          <p:nvPr/>
        </p:nvSpPr>
        <p:spPr>
          <a:xfrm xmlns:a="http://schemas.openxmlformats.org/drawingml/2006/main">
            <a:off x="4648200" y="2876550"/>
            <a:ext cx="1143000" cy="38100"/>
          </a:xfrm>
          <a:prstGeom xmlns:a="http://schemas.openxmlformats.org/drawingml/2006/main" prst="rect">
            <a:avLst/>
          </a:prstGeom>
          <a:solidFill xmlns:a="http://schemas.openxmlformats.org/drawingml/2006/main">
            <a:srgbClr val="FFB45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39CDFD7-BE79-4D04-AFDC-8C97958A9CDB}"/>
              </a:ext>
            </a:extLst>
          </p:cNvPr>
          <p:cNvSpPr>
            <a:spLocks xmlns:a="http://schemas.openxmlformats.org/drawingml/2006/main" noGrp="1"/>
          </p:cNvSpPr>
          <p:nvPr/>
        </p:nvSpPr>
        <p:spPr>
          <a:xfrm xmlns:a="http://schemas.openxmlformats.org/drawingml/2006/main">
            <a:off x="4381500" y="3124200"/>
            <a:ext cx="1676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i="0">
                <a:solidFill>
                  <a:srgbClr val="F4F1E8"/>
                </a:solidFill>
                <a:latin typeface="Avenir Next"/>
                <a:ea typeface="Avenir Next"/>
                <a:cs typeface="Avenir Next"/>
              </a:defRPr>
            </a:defPPr>
          </a:lstStyle>
          <a:p xmlns:a="http://schemas.openxmlformats.org/drawingml/2006/main">
            <a:pPr algn="ctr">
              <a:lnSpc>
                <a:spcPct val="95000"/>
              </a:lnSpc>
              <a:buNone/>
              <a:defRPr sz="1650" b="1" i="0">
                <a:solidFill>
                  <a:srgbClr val="F4F1E8"/>
                </a:solidFill>
                <a:latin typeface="Avenir Next"/>
                <a:ea typeface="Avenir Next"/>
                <a:cs typeface="Avenir Next"/>
              </a:defRPr>
            </a:pPr>
            <a:r>
              <a:rPr sz="1650" b="1" i="0">
                <a:solidFill>
                  <a:srgbClr val="F4F1E8"/>
                </a:solidFill>
                <a:latin typeface="Avenir Next"/>
                <a:ea typeface="Avenir Next"/>
                <a:cs typeface="Avenir Next"/>
              </a:rPr>
              <a:t>Partial automation</a:t>
            </a:r>
          </a:p>
        </p:txBody>
      </p:sp>
      <p:sp>
        <p:nvSpPr>
          <p:cNvPr id="15" name="">
            <a:extLst xmlns:a="http://schemas.openxmlformats.org/drawingml/2006/main">
              <a:ext uri="{FF2B5EF4-FFF2-40B4-BE49-F238E27FC236}">
                <a16:creationId xmlns:a16="http://schemas.microsoft.com/office/drawing/2014/main" id="{54C8FD52-712E-49A7-95C8-F0CEA3FFB66F}"/>
              </a:ext>
            </a:extLst>
          </p:cNvPr>
          <p:cNvSpPr>
            <a:spLocks xmlns:a="http://schemas.openxmlformats.org/drawingml/2006/main" noGrp="1"/>
          </p:cNvSpPr>
          <p:nvPr/>
        </p:nvSpPr>
        <p:spPr>
          <a:xfrm xmlns:a="http://schemas.openxmlformats.org/drawingml/2006/main">
            <a:off x="4381500" y="3905250"/>
            <a:ext cx="1676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50" b="0" i="0">
                <a:solidFill>
                  <a:srgbClr val="A8BAC8"/>
                </a:solidFill>
                <a:latin typeface="Avenir Next"/>
                <a:ea typeface="Avenir Next"/>
                <a:cs typeface="Avenir Next"/>
              </a:defRPr>
            </a:defPPr>
          </a:lstStyle>
          <a:p xmlns:a="http://schemas.openxmlformats.org/drawingml/2006/main">
            <a:pPr algn="ctr">
              <a:lnSpc>
                <a:spcPct val="95000"/>
              </a:lnSpc>
              <a:buNone/>
              <a:defRPr sz="1350" b="0" i="0">
                <a:solidFill>
                  <a:srgbClr val="A8BAC8"/>
                </a:solidFill>
                <a:latin typeface="Avenir Next"/>
                <a:ea typeface="Avenir Next"/>
                <a:cs typeface="Avenir Next"/>
              </a:defRPr>
            </a:pPr>
            <a:r>
              <a:rPr sz="1350" b="0" i="0">
                <a:solidFill>
                  <a:srgbClr val="A8BAC8"/>
                </a:solidFill>
                <a:latin typeface="Avenir Next"/>
                <a:ea typeface="Avenir Next"/>
                <a:cs typeface="Avenir Next"/>
              </a:rPr>
              <a:t>Two functions</a:t>
            </a:r>
          </a:p>
        </p:txBody>
      </p:sp>
      <p:sp>
        <p:nvSpPr>
          <p:cNvPr id="16" name="">
            <a:extLst xmlns:a="http://schemas.openxmlformats.org/drawingml/2006/main">
              <a:ext uri="{FF2B5EF4-FFF2-40B4-BE49-F238E27FC236}">
                <a16:creationId xmlns:a16="http://schemas.microsoft.com/office/drawing/2014/main" id="{4D1C3891-42DD-44EE-86CE-E701A88F8961}"/>
              </a:ext>
            </a:extLst>
          </p:cNvPr>
          <p:cNvSpPr>
            <a:spLocks xmlns:a="http://schemas.openxmlformats.org/drawingml/2006/main" noGrp="1"/>
          </p:cNvSpPr>
          <p:nvPr/>
        </p:nvSpPr>
        <p:spPr>
          <a:xfrm xmlns:a="http://schemas.openxmlformats.org/drawingml/2006/main">
            <a:off x="6210300" y="2057400"/>
            <a:ext cx="1676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350" b="1" i="0">
                <a:solidFill>
                  <a:srgbClr val="55D6D2"/>
                </a:solidFill>
                <a:latin typeface="Avenir Next"/>
                <a:ea typeface="Avenir Next"/>
                <a:cs typeface="Avenir Next"/>
              </a:defRPr>
            </a:defPPr>
          </a:lstStyle>
          <a:p xmlns:a="http://schemas.openxmlformats.org/drawingml/2006/main">
            <a:pPr algn="ctr">
              <a:lnSpc>
                <a:spcPct val="100000"/>
              </a:lnSpc>
              <a:buNone/>
              <a:defRPr sz="4350" b="1" i="0">
                <a:solidFill>
                  <a:srgbClr val="55D6D2"/>
                </a:solidFill>
                <a:latin typeface="Avenir Next"/>
                <a:ea typeface="Avenir Next"/>
                <a:cs typeface="Avenir Next"/>
              </a:defRPr>
            </a:pPr>
            <a:r>
              <a:rPr sz="4350" b="1" i="0">
                <a:solidFill>
                  <a:srgbClr val="55D6D2"/>
                </a:solidFill>
                <a:latin typeface="Avenir Next"/>
                <a:ea typeface="Avenir Next"/>
                <a:cs typeface="Avenir Next"/>
              </a:rPr>
              <a:t>3</a:t>
            </a:r>
          </a:p>
        </p:txBody>
      </p:sp>
      <p:sp>
        <p:nvSpPr>
          <p:cNvPr id="17" name="">
            <a:extLst xmlns:a="http://schemas.openxmlformats.org/drawingml/2006/main">
              <a:ext uri="{FF2B5EF4-FFF2-40B4-BE49-F238E27FC236}">
                <a16:creationId xmlns:a16="http://schemas.microsoft.com/office/drawing/2014/main" id="{71729007-A425-427B-8A26-96696DEA82C4}"/>
              </a:ext>
            </a:extLst>
          </p:cNvPr>
          <p:cNvSpPr>
            <a:spLocks xmlns:a="http://schemas.openxmlformats.org/drawingml/2006/main" noGrp="1"/>
          </p:cNvSpPr>
          <p:nvPr/>
        </p:nvSpPr>
        <p:spPr>
          <a:xfrm xmlns:a="http://schemas.openxmlformats.org/drawingml/2006/main">
            <a:off x="6477000" y="2876550"/>
            <a:ext cx="1143000" cy="38100"/>
          </a:xfrm>
          <a:prstGeom xmlns:a="http://schemas.openxmlformats.org/drawingml/2006/main" prst="rect">
            <a:avLst/>
          </a:prstGeom>
          <a:solidFill xmlns:a="http://schemas.openxmlformats.org/drawingml/2006/main">
            <a:srgbClr val="55D6D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7A817EC-5A68-492B-A4A4-7A18845C5C5F}"/>
              </a:ext>
            </a:extLst>
          </p:cNvPr>
          <p:cNvSpPr>
            <a:spLocks xmlns:a="http://schemas.openxmlformats.org/drawingml/2006/main" noGrp="1"/>
          </p:cNvSpPr>
          <p:nvPr/>
        </p:nvSpPr>
        <p:spPr>
          <a:xfrm xmlns:a="http://schemas.openxmlformats.org/drawingml/2006/main">
            <a:off x="6210300" y="3124200"/>
            <a:ext cx="1676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i="0">
                <a:solidFill>
                  <a:srgbClr val="F4F1E8"/>
                </a:solidFill>
                <a:latin typeface="Avenir Next"/>
                <a:ea typeface="Avenir Next"/>
                <a:cs typeface="Avenir Next"/>
              </a:defRPr>
            </a:defPPr>
          </a:lstStyle>
          <a:p xmlns:a="http://schemas.openxmlformats.org/drawingml/2006/main">
            <a:pPr algn="ctr">
              <a:lnSpc>
                <a:spcPct val="95000"/>
              </a:lnSpc>
              <a:buNone/>
              <a:defRPr sz="1650" b="1" i="0">
                <a:solidFill>
                  <a:srgbClr val="F4F1E8"/>
                </a:solidFill>
                <a:latin typeface="Avenir Next"/>
                <a:ea typeface="Avenir Next"/>
                <a:cs typeface="Avenir Next"/>
              </a:defRPr>
            </a:pPr>
            <a:r>
              <a:rPr sz="1650" b="1" i="0">
                <a:solidFill>
                  <a:srgbClr val="F4F1E8"/>
                </a:solidFill>
                <a:latin typeface="Avenir Next"/>
                <a:ea typeface="Avenir Next"/>
                <a:cs typeface="Avenir Next"/>
              </a:rPr>
              <a:t>Conditional automation</a:t>
            </a:r>
          </a:p>
        </p:txBody>
      </p:sp>
      <p:sp>
        <p:nvSpPr>
          <p:cNvPr id="19" name="">
            <a:extLst xmlns:a="http://schemas.openxmlformats.org/drawingml/2006/main">
              <a:ext uri="{FF2B5EF4-FFF2-40B4-BE49-F238E27FC236}">
                <a16:creationId xmlns:a16="http://schemas.microsoft.com/office/drawing/2014/main" id="{D89EC6B0-85D3-4452-9A41-A28A2F81D508}"/>
              </a:ext>
            </a:extLst>
          </p:cNvPr>
          <p:cNvSpPr>
            <a:spLocks xmlns:a="http://schemas.openxmlformats.org/drawingml/2006/main" noGrp="1"/>
          </p:cNvSpPr>
          <p:nvPr/>
        </p:nvSpPr>
        <p:spPr>
          <a:xfrm xmlns:a="http://schemas.openxmlformats.org/drawingml/2006/main">
            <a:off x="6210300" y="3905250"/>
            <a:ext cx="1676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50" b="0" i="0">
                <a:solidFill>
                  <a:srgbClr val="A8BAC8"/>
                </a:solidFill>
                <a:latin typeface="Avenir Next"/>
                <a:ea typeface="Avenir Next"/>
                <a:cs typeface="Avenir Next"/>
              </a:defRPr>
            </a:defPPr>
          </a:lstStyle>
          <a:p xmlns:a="http://schemas.openxmlformats.org/drawingml/2006/main">
            <a:pPr algn="ctr">
              <a:lnSpc>
                <a:spcPct val="95000"/>
              </a:lnSpc>
              <a:buNone/>
              <a:defRPr sz="1350" b="0" i="0">
                <a:solidFill>
                  <a:srgbClr val="A8BAC8"/>
                </a:solidFill>
                <a:latin typeface="Avenir Next"/>
                <a:ea typeface="Avenir Next"/>
                <a:cs typeface="Avenir Next"/>
              </a:defRPr>
            </a:pPr>
            <a:r>
              <a:rPr sz="1350" b="0" i="0">
                <a:solidFill>
                  <a:srgbClr val="A8BAC8"/>
                </a:solidFill>
                <a:latin typeface="Avenir Next"/>
                <a:ea typeface="Avenir Next"/>
                <a:cs typeface="Avenir Next"/>
              </a:rPr>
              <a:t>System drives, human ready</a:t>
            </a:r>
          </a:p>
        </p:txBody>
      </p:sp>
      <p:sp>
        <p:nvSpPr>
          <p:cNvPr id="20" name="">
            <a:extLst xmlns:a="http://schemas.openxmlformats.org/drawingml/2006/main">
              <a:ext uri="{FF2B5EF4-FFF2-40B4-BE49-F238E27FC236}">
                <a16:creationId xmlns:a16="http://schemas.microsoft.com/office/drawing/2014/main" id="{B19C1DED-563A-47AA-996A-785357AB0BE5}"/>
              </a:ext>
            </a:extLst>
          </p:cNvPr>
          <p:cNvSpPr>
            <a:spLocks xmlns:a="http://schemas.openxmlformats.org/drawingml/2006/main" noGrp="1"/>
          </p:cNvSpPr>
          <p:nvPr/>
        </p:nvSpPr>
        <p:spPr>
          <a:xfrm xmlns:a="http://schemas.openxmlformats.org/drawingml/2006/main">
            <a:off x="8039100" y="2057400"/>
            <a:ext cx="1676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350" b="1" i="0">
                <a:solidFill>
                  <a:srgbClr val="55D6D2"/>
                </a:solidFill>
                <a:latin typeface="Avenir Next"/>
                <a:ea typeface="Avenir Next"/>
                <a:cs typeface="Avenir Next"/>
              </a:defRPr>
            </a:defPPr>
          </a:lstStyle>
          <a:p xmlns:a="http://schemas.openxmlformats.org/drawingml/2006/main">
            <a:pPr algn="ctr">
              <a:lnSpc>
                <a:spcPct val="100000"/>
              </a:lnSpc>
              <a:buNone/>
              <a:defRPr sz="4350" b="1" i="0">
                <a:solidFill>
                  <a:srgbClr val="55D6D2"/>
                </a:solidFill>
                <a:latin typeface="Avenir Next"/>
                <a:ea typeface="Avenir Next"/>
                <a:cs typeface="Avenir Next"/>
              </a:defRPr>
            </a:pPr>
            <a:r>
              <a:rPr sz="4350" b="1" i="0">
                <a:solidFill>
                  <a:srgbClr val="55D6D2"/>
                </a:solidFill>
                <a:latin typeface="Avenir Next"/>
                <a:ea typeface="Avenir Next"/>
                <a:cs typeface="Avenir Next"/>
              </a:rPr>
              <a:t>4</a:t>
            </a:r>
          </a:p>
        </p:txBody>
      </p:sp>
      <p:sp>
        <p:nvSpPr>
          <p:cNvPr id="21" name="">
            <a:extLst xmlns:a="http://schemas.openxmlformats.org/drawingml/2006/main">
              <a:ext uri="{FF2B5EF4-FFF2-40B4-BE49-F238E27FC236}">
                <a16:creationId xmlns:a16="http://schemas.microsoft.com/office/drawing/2014/main" id="{8494D86F-D431-4ADB-8388-FE717DED31AE}"/>
              </a:ext>
            </a:extLst>
          </p:cNvPr>
          <p:cNvSpPr>
            <a:spLocks xmlns:a="http://schemas.openxmlformats.org/drawingml/2006/main" noGrp="1"/>
          </p:cNvSpPr>
          <p:nvPr/>
        </p:nvSpPr>
        <p:spPr>
          <a:xfrm xmlns:a="http://schemas.openxmlformats.org/drawingml/2006/main">
            <a:off x="8305800" y="2876550"/>
            <a:ext cx="1143000" cy="38100"/>
          </a:xfrm>
          <a:prstGeom xmlns:a="http://schemas.openxmlformats.org/drawingml/2006/main" prst="rect">
            <a:avLst/>
          </a:prstGeom>
          <a:solidFill xmlns:a="http://schemas.openxmlformats.org/drawingml/2006/main">
            <a:srgbClr val="55D6D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56A2BC6-D180-4340-8A3D-FC5403DA53D9}"/>
              </a:ext>
            </a:extLst>
          </p:cNvPr>
          <p:cNvSpPr>
            <a:spLocks xmlns:a="http://schemas.openxmlformats.org/drawingml/2006/main" noGrp="1"/>
          </p:cNvSpPr>
          <p:nvPr/>
        </p:nvSpPr>
        <p:spPr>
          <a:xfrm xmlns:a="http://schemas.openxmlformats.org/drawingml/2006/main">
            <a:off x="8039100" y="3124200"/>
            <a:ext cx="1676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i="0">
                <a:solidFill>
                  <a:srgbClr val="F4F1E8"/>
                </a:solidFill>
                <a:latin typeface="Avenir Next"/>
                <a:ea typeface="Avenir Next"/>
                <a:cs typeface="Avenir Next"/>
              </a:defRPr>
            </a:defPPr>
          </a:lstStyle>
          <a:p xmlns:a="http://schemas.openxmlformats.org/drawingml/2006/main">
            <a:pPr algn="ctr">
              <a:lnSpc>
                <a:spcPct val="95000"/>
              </a:lnSpc>
              <a:buNone/>
              <a:defRPr sz="1650" b="1" i="0">
                <a:solidFill>
                  <a:srgbClr val="F4F1E8"/>
                </a:solidFill>
                <a:latin typeface="Avenir Next"/>
                <a:ea typeface="Avenir Next"/>
                <a:cs typeface="Avenir Next"/>
              </a:defRPr>
            </a:pPr>
            <a:r>
              <a:rPr sz="1650" b="1" i="0">
                <a:solidFill>
                  <a:srgbClr val="F4F1E8"/>
                </a:solidFill>
                <a:latin typeface="Avenir Next"/>
                <a:ea typeface="Avenir Next"/>
                <a:cs typeface="Avenir Next"/>
              </a:rPr>
              <a:t>High automation</a:t>
            </a:r>
          </a:p>
        </p:txBody>
      </p:sp>
      <p:sp>
        <p:nvSpPr>
          <p:cNvPr id="23" name="">
            <a:extLst xmlns:a="http://schemas.openxmlformats.org/drawingml/2006/main">
              <a:ext uri="{FF2B5EF4-FFF2-40B4-BE49-F238E27FC236}">
                <a16:creationId xmlns:a16="http://schemas.microsoft.com/office/drawing/2014/main" id="{8E45DDD1-3BD1-40BA-99D0-2AF17342EF1C}"/>
              </a:ext>
            </a:extLst>
          </p:cNvPr>
          <p:cNvSpPr>
            <a:spLocks xmlns:a="http://schemas.openxmlformats.org/drawingml/2006/main" noGrp="1"/>
          </p:cNvSpPr>
          <p:nvPr/>
        </p:nvSpPr>
        <p:spPr>
          <a:xfrm xmlns:a="http://schemas.openxmlformats.org/drawingml/2006/main">
            <a:off x="8039100" y="3905250"/>
            <a:ext cx="1676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50" b="0" i="0">
                <a:solidFill>
                  <a:srgbClr val="A8BAC8"/>
                </a:solidFill>
                <a:latin typeface="Avenir Next"/>
                <a:ea typeface="Avenir Next"/>
                <a:cs typeface="Avenir Next"/>
              </a:defRPr>
            </a:defPPr>
          </a:lstStyle>
          <a:p xmlns:a="http://schemas.openxmlformats.org/drawingml/2006/main">
            <a:pPr algn="ctr">
              <a:lnSpc>
                <a:spcPct val="95000"/>
              </a:lnSpc>
              <a:buNone/>
              <a:defRPr sz="1350" b="0" i="0">
                <a:solidFill>
                  <a:srgbClr val="A8BAC8"/>
                </a:solidFill>
                <a:latin typeface="Avenir Next"/>
                <a:ea typeface="Avenir Next"/>
                <a:cs typeface="Avenir Next"/>
              </a:defRPr>
            </a:pPr>
            <a:r>
              <a:rPr sz="1350" b="0" i="0">
                <a:solidFill>
                  <a:srgbClr val="A8BAC8"/>
                </a:solidFill>
                <a:latin typeface="Avenir Next"/>
                <a:ea typeface="Avenir Next"/>
                <a:cs typeface="Avenir Next"/>
              </a:rPr>
              <a:t>Limited conditions</a:t>
            </a:r>
          </a:p>
        </p:txBody>
      </p:sp>
      <p:sp>
        <p:nvSpPr>
          <p:cNvPr id="24" name="">
            <a:extLst xmlns:a="http://schemas.openxmlformats.org/drawingml/2006/main">
              <a:ext uri="{FF2B5EF4-FFF2-40B4-BE49-F238E27FC236}">
                <a16:creationId xmlns:a16="http://schemas.microsoft.com/office/drawing/2014/main" id="{A5DA6757-3498-4633-B2B6-959D3E92A718}"/>
              </a:ext>
            </a:extLst>
          </p:cNvPr>
          <p:cNvSpPr>
            <a:spLocks xmlns:a="http://schemas.openxmlformats.org/drawingml/2006/main" noGrp="1"/>
          </p:cNvSpPr>
          <p:nvPr/>
        </p:nvSpPr>
        <p:spPr>
          <a:xfrm xmlns:a="http://schemas.openxmlformats.org/drawingml/2006/main">
            <a:off x="9867900" y="2057400"/>
            <a:ext cx="1676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350" b="1" i="0">
                <a:solidFill>
                  <a:srgbClr val="55D6D2"/>
                </a:solidFill>
                <a:latin typeface="Avenir Next"/>
                <a:ea typeface="Avenir Next"/>
                <a:cs typeface="Avenir Next"/>
              </a:defRPr>
            </a:defPPr>
          </a:lstStyle>
          <a:p xmlns:a="http://schemas.openxmlformats.org/drawingml/2006/main">
            <a:pPr algn="ctr">
              <a:lnSpc>
                <a:spcPct val="100000"/>
              </a:lnSpc>
              <a:buNone/>
              <a:defRPr sz="4350" b="1" i="0">
                <a:solidFill>
                  <a:srgbClr val="55D6D2"/>
                </a:solidFill>
                <a:latin typeface="Avenir Next"/>
                <a:ea typeface="Avenir Next"/>
                <a:cs typeface="Avenir Next"/>
              </a:defRPr>
            </a:pPr>
            <a:r>
              <a:rPr sz="4350" b="1" i="0">
                <a:solidFill>
                  <a:srgbClr val="55D6D2"/>
                </a:solidFill>
                <a:latin typeface="Avenir Next"/>
                <a:ea typeface="Avenir Next"/>
                <a:cs typeface="Avenir Next"/>
              </a:rPr>
              <a:t>5</a:t>
            </a:r>
          </a:p>
        </p:txBody>
      </p:sp>
      <p:sp>
        <p:nvSpPr>
          <p:cNvPr id="25" name="">
            <a:extLst xmlns:a="http://schemas.openxmlformats.org/drawingml/2006/main">
              <a:ext uri="{FF2B5EF4-FFF2-40B4-BE49-F238E27FC236}">
                <a16:creationId xmlns:a16="http://schemas.microsoft.com/office/drawing/2014/main" id="{6F2DB967-14EF-4AD9-ACE1-F9D67763C6E7}"/>
              </a:ext>
            </a:extLst>
          </p:cNvPr>
          <p:cNvSpPr>
            <a:spLocks xmlns:a="http://schemas.openxmlformats.org/drawingml/2006/main" noGrp="1"/>
          </p:cNvSpPr>
          <p:nvPr/>
        </p:nvSpPr>
        <p:spPr>
          <a:xfrm xmlns:a="http://schemas.openxmlformats.org/drawingml/2006/main">
            <a:off x="10134600" y="2876550"/>
            <a:ext cx="1143000" cy="38100"/>
          </a:xfrm>
          <a:prstGeom xmlns:a="http://schemas.openxmlformats.org/drawingml/2006/main" prst="rect">
            <a:avLst/>
          </a:prstGeom>
          <a:solidFill xmlns:a="http://schemas.openxmlformats.org/drawingml/2006/main">
            <a:srgbClr val="55D6D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81ADACD-029E-427C-AE44-071203E33FA1}"/>
              </a:ext>
            </a:extLst>
          </p:cNvPr>
          <p:cNvSpPr>
            <a:spLocks xmlns:a="http://schemas.openxmlformats.org/drawingml/2006/main" noGrp="1"/>
          </p:cNvSpPr>
          <p:nvPr/>
        </p:nvSpPr>
        <p:spPr>
          <a:xfrm xmlns:a="http://schemas.openxmlformats.org/drawingml/2006/main">
            <a:off x="9867900" y="3124200"/>
            <a:ext cx="1676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i="0">
                <a:solidFill>
                  <a:srgbClr val="F4F1E8"/>
                </a:solidFill>
                <a:latin typeface="Avenir Next"/>
                <a:ea typeface="Avenir Next"/>
                <a:cs typeface="Avenir Next"/>
              </a:defRPr>
            </a:defPPr>
          </a:lstStyle>
          <a:p xmlns:a="http://schemas.openxmlformats.org/drawingml/2006/main">
            <a:pPr algn="ctr">
              <a:lnSpc>
                <a:spcPct val="95000"/>
              </a:lnSpc>
              <a:buNone/>
              <a:defRPr sz="1650" b="1" i="0">
                <a:solidFill>
                  <a:srgbClr val="F4F1E8"/>
                </a:solidFill>
                <a:latin typeface="Avenir Next"/>
                <a:ea typeface="Avenir Next"/>
                <a:cs typeface="Avenir Next"/>
              </a:defRPr>
            </a:pPr>
            <a:r>
              <a:rPr sz="1650" b="1" i="0">
                <a:solidFill>
                  <a:srgbClr val="F4F1E8"/>
                </a:solidFill>
                <a:latin typeface="Avenir Next"/>
                <a:ea typeface="Avenir Next"/>
                <a:cs typeface="Avenir Next"/>
              </a:rPr>
              <a:t>Full automation</a:t>
            </a:r>
          </a:p>
        </p:txBody>
      </p:sp>
      <p:sp>
        <p:nvSpPr>
          <p:cNvPr id="27" name="">
            <a:extLst xmlns:a="http://schemas.openxmlformats.org/drawingml/2006/main">
              <a:ext uri="{FF2B5EF4-FFF2-40B4-BE49-F238E27FC236}">
                <a16:creationId xmlns:a16="http://schemas.microsoft.com/office/drawing/2014/main" id="{E457B26B-62B8-4B7C-BB21-61771AD8A722}"/>
              </a:ext>
            </a:extLst>
          </p:cNvPr>
          <p:cNvSpPr>
            <a:spLocks xmlns:a="http://schemas.openxmlformats.org/drawingml/2006/main" noGrp="1"/>
          </p:cNvSpPr>
          <p:nvPr/>
        </p:nvSpPr>
        <p:spPr>
          <a:xfrm xmlns:a="http://schemas.openxmlformats.org/drawingml/2006/main">
            <a:off x="9867900" y="3905250"/>
            <a:ext cx="1676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50" b="0" i="0">
                <a:solidFill>
                  <a:srgbClr val="A8BAC8"/>
                </a:solidFill>
                <a:latin typeface="Avenir Next"/>
                <a:ea typeface="Avenir Next"/>
                <a:cs typeface="Avenir Next"/>
              </a:defRPr>
            </a:defPPr>
          </a:lstStyle>
          <a:p xmlns:a="http://schemas.openxmlformats.org/drawingml/2006/main">
            <a:pPr algn="ctr">
              <a:lnSpc>
                <a:spcPct val="95000"/>
              </a:lnSpc>
              <a:buNone/>
              <a:defRPr sz="1350" b="0" i="0">
                <a:solidFill>
                  <a:srgbClr val="A8BAC8"/>
                </a:solidFill>
                <a:latin typeface="Avenir Next"/>
                <a:ea typeface="Avenir Next"/>
                <a:cs typeface="Avenir Next"/>
              </a:defRPr>
            </a:pPr>
            <a:r>
              <a:rPr sz="1350" b="0" i="0">
                <a:solidFill>
                  <a:srgbClr val="A8BAC8"/>
                </a:solidFill>
                <a:latin typeface="Avenir Next"/>
                <a:ea typeface="Avenir Next"/>
                <a:cs typeface="Avenir Next"/>
              </a:rPr>
              <a:t>All conditions</a:t>
            </a:r>
          </a:p>
        </p:txBody>
      </p:sp>
      <p:sp>
        <p:nvSpPr>
          <p:cNvPr id="28" name="">
            <a:extLst xmlns:a="http://schemas.openxmlformats.org/drawingml/2006/main">
              <a:ext uri="{FF2B5EF4-FFF2-40B4-BE49-F238E27FC236}">
                <a16:creationId xmlns:a16="http://schemas.microsoft.com/office/drawing/2014/main" id="{8266C567-36E5-424C-BF99-4B307005DE43}"/>
              </a:ext>
            </a:extLst>
          </p:cNvPr>
          <p:cNvSpPr>
            <a:spLocks xmlns:a="http://schemas.openxmlformats.org/drawingml/2006/main" noGrp="1"/>
          </p:cNvSpPr>
          <p:nvPr/>
        </p:nvSpPr>
        <p:spPr>
          <a:xfrm xmlns:a="http://schemas.openxmlformats.org/drawingml/2006/main">
            <a:off x="742950" y="5476875"/>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i="0">
                <a:solidFill>
                  <a:srgbClr val="55D6D2"/>
                </a:solidFill>
                <a:latin typeface="Avenir Next"/>
                <a:ea typeface="Avenir Next"/>
                <a:cs typeface="Avenir Next"/>
              </a:defRPr>
            </a:defPPr>
          </a:lstStyle>
          <a:p xmlns:a="http://schemas.openxmlformats.org/drawingml/2006/main">
            <a:pPr algn="l">
              <a:lnSpc>
                <a:spcPct val="100000"/>
              </a:lnSpc>
              <a:buNone/>
              <a:defRPr sz="1500" b="1" i="0">
                <a:solidFill>
                  <a:srgbClr val="55D6D2"/>
                </a:solidFill>
                <a:latin typeface="Avenir Next"/>
                <a:ea typeface="Avenir Next"/>
                <a:cs typeface="Avenir Next"/>
              </a:defRPr>
            </a:pPr>
            <a:r>
              <a:rPr sz="1500" b="1" i="0">
                <a:solidFill>
                  <a:srgbClr val="55D6D2"/>
                </a:solidFill>
                <a:latin typeface="Avenir Next"/>
                <a:ea typeface="Avenir Next"/>
                <a:cs typeface="Avenir Next"/>
              </a:rPr>
              <a:t>The real design question</a:t>
            </a:r>
          </a:p>
        </p:txBody>
      </p:sp>
      <p:sp>
        <p:nvSpPr>
          <p:cNvPr id="29" name="">
            <a:extLst xmlns:a="http://schemas.openxmlformats.org/drawingml/2006/main">
              <a:ext uri="{FF2B5EF4-FFF2-40B4-BE49-F238E27FC236}">
                <a16:creationId xmlns:a16="http://schemas.microsoft.com/office/drawing/2014/main" id="{7F381551-473C-4D3D-AA27-1C0F1C8DD556}"/>
              </a:ext>
            </a:extLst>
          </p:cNvPr>
          <p:cNvSpPr>
            <a:spLocks xmlns:a="http://schemas.openxmlformats.org/drawingml/2006/main" noGrp="1"/>
          </p:cNvSpPr>
          <p:nvPr/>
        </p:nvSpPr>
        <p:spPr>
          <a:xfrm xmlns:a="http://schemas.openxmlformats.org/drawingml/2006/main">
            <a:off x="3714750" y="5391150"/>
            <a:ext cx="7715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i="0">
                <a:solidFill>
                  <a:srgbClr val="F4F1E8"/>
                </a:solidFill>
                <a:latin typeface="Avenir Next"/>
                <a:ea typeface="Avenir Next"/>
                <a:cs typeface="Avenir Next"/>
              </a:defRPr>
            </a:defPPr>
          </a:lstStyle>
          <a:p xmlns:a="http://schemas.openxmlformats.org/drawingml/2006/main">
            <a:pPr algn="l">
              <a:lnSpc>
                <a:spcPct val="100000"/>
              </a:lnSpc>
              <a:buNone/>
              <a:defRPr sz="2100" b="1" i="0">
                <a:solidFill>
                  <a:srgbClr val="F4F1E8"/>
                </a:solidFill>
                <a:latin typeface="Avenir Next"/>
                <a:ea typeface="Avenir Next"/>
                <a:cs typeface="Avenir Next"/>
              </a:defRPr>
            </a:pPr>
            <a:r>
              <a:rPr sz="2100" b="1" i="0">
                <a:solidFill>
                  <a:srgbClr val="F4F1E8"/>
                </a:solidFill>
                <a:latin typeface="Avenir Next"/>
                <a:ea typeface="Avenir Next"/>
                <a:cs typeface="Avenir Next"/>
              </a:rPr>
              <a:t>How much should the system control, and when must a person take over?</a:t>
            </a:r>
          </a:p>
        </p:txBody>
      </p:sp>
    </p:spTree>
    <p:extLst>
      <p:ext uri="{BB962C8B-B14F-4D97-AF65-F5344CB8AC3E}">
        <p14:creationId xmlns:p14="http://schemas.microsoft.com/office/powerpoint/2010/main" val="640468254"/>
      </p:ext>
    </p:extLst>
  </p:cSld>
</p:sld>
</file>

<file path=ppt/slides/slide4.xml><?xml version="1.0" encoding="utf-8"?>
<p:sld xmlns:p="http://schemas.openxmlformats.org/presentationml/2006/main">
  <p:cSld>
    <p:bg>
      <p:bgPr>
        <a:solidFill xmlns:a="http://schemas.openxmlformats.org/drawingml/2006/main">
          <a:srgbClr val="0B1D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3A7AEB-0001-4613-A61E-03C36ED04AE2}"/>
              </a:ext>
            </a:extLst>
          </p:cNvPr>
          <p:cNvSpPr>
            <a:spLocks xmlns:a="http://schemas.openxmlformats.org/drawingml/2006/main" noGrp="1"/>
          </p:cNvSpPr>
          <p:nvPr/>
        </p:nvSpPr>
        <p:spPr>
          <a:xfrm xmlns:a="http://schemas.openxmlformats.org/drawingml/2006/main">
            <a:off x="704850" y="1009650"/>
            <a:ext cx="1619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100" b="1" i="0">
                <a:solidFill>
                  <a:srgbClr val="55D6D2"/>
                </a:solidFill>
                <a:latin typeface="Avenir Next"/>
                <a:ea typeface="Avenir Next"/>
                <a:cs typeface="Avenir Next"/>
              </a:defRPr>
            </a:defPPr>
          </a:lstStyle>
          <a:p xmlns:a="http://schemas.openxmlformats.org/drawingml/2006/main">
            <a:pPr algn="l">
              <a:lnSpc>
                <a:spcPct val="100000"/>
              </a:lnSpc>
              <a:buNone/>
              <a:defRPr sz="11100" b="1" i="0">
                <a:solidFill>
                  <a:srgbClr val="55D6D2"/>
                </a:solidFill>
                <a:latin typeface="Avenir Next"/>
                <a:ea typeface="Avenir Next"/>
                <a:cs typeface="Avenir Next"/>
              </a:defRPr>
            </a:pPr>
            <a:r>
              <a:rPr sz="11100" b="1" i="0">
                <a:solidFill>
                  <a:srgbClr val="55D6D2"/>
                </a:solidFill>
                <a:latin typeface="Avenir Next"/>
                <a:ea typeface="Avenir Next"/>
                <a:cs typeface="Avenir Next"/>
              </a:rPr>
              <a:t>1</a:t>
            </a:r>
          </a:p>
        </p:txBody>
      </p:sp>
      <p:sp>
        <p:nvSpPr>
          <p:cNvPr id="2" name="">
            <a:extLst xmlns:a="http://schemas.openxmlformats.org/drawingml/2006/main">
              <a:ext uri="{FF2B5EF4-FFF2-40B4-BE49-F238E27FC236}">
                <a16:creationId xmlns:a16="http://schemas.microsoft.com/office/drawing/2014/main" id="{8669C6DC-098E-4F4B-8F1B-212030823DED}"/>
              </a:ext>
            </a:extLst>
          </p:cNvPr>
          <p:cNvSpPr>
            <a:spLocks xmlns:a="http://schemas.openxmlformats.org/drawingml/2006/main" noGrp="1"/>
          </p:cNvSpPr>
          <p:nvPr/>
        </p:nvSpPr>
        <p:spPr>
          <a:xfrm xmlns:a="http://schemas.openxmlformats.org/drawingml/2006/main">
            <a:off x="781050" y="28765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i="0">
                <a:solidFill>
                  <a:srgbClr val="A8BAC8"/>
                </a:solidFill>
                <a:latin typeface="Avenir Next"/>
                <a:ea typeface="Avenir Next"/>
                <a:cs typeface="Avenir Next"/>
              </a:defRPr>
            </a:defPPr>
          </a:lstStyle>
          <a:p xmlns:a="http://schemas.openxmlformats.org/drawingml/2006/main">
            <a:pPr algn="l">
              <a:lnSpc>
                <a:spcPct val="100000"/>
              </a:lnSpc>
              <a:buNone/>
              <a:defRPr sz="1350" b="1" i="0">
                <a:solidFill>
                  <a:srgbClr val="A8BAC8"/>
                </a:solidFill>
                <a:latin typeface="Avenir Next"/>
                <a:ea typeface="Avenir Next"/>
                <a:cs typeface="Avenir Next"/>
              </a:defRPr>
            </a:pPr>
            <a:r>
              <a:rPr sz="1350" b="1" i="0">
                <a:solidFill>
                  <a:srgbClr val="A8BAC8"/>
                </a:solidFill>
                <a:latin typeface="Avenir Next"/>
                <a:ea typeface="Avenir Next"/>
                <a:cs typeface="Avenir Next"/>
              </a:rPr>
              <a:t>LESSON ONE</a:t>
            </a:r>
          </a:p>
        </p:txBody>
      </p:sp>
      <p:sp>
        <p:nvSpPr>
          <p:cNvPr id="3" name="">
            <a:extLst xmlns:a="http://schemas.openxmlformats.org/drawingml/2006/main">
              <a:ext uri="{FF2B5EF4-FFF2-40B4-BE49-F238E27FC236}">
                <a16:creationId xmlns:a16="http://schemas.microsoft.com/office/drawing/2014/main" id="{BA84E678-E941-453E-8412-2804C6522C66}"/>
              </a:ext>
            </a:extLst>
          </p:cNvPr>
          <p:cNvSpPr>
            <a:spLocks xmlns:a="http://schemas.openxmlformats.org/drawingml/2006/main" noGrp="1"/>
          </p:cNvSpPr>
          <p:nvPr/>
        </p:nvSpPr>
        <p:spPr>
          <a:xfrm xmlns:a="http://schemas.openxmlformats.org/drawingml/2006/main">
            <a:off x="3143250" y="1200150"/>
            <a:ext cx="78105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i="0">
                <a:solidFill>
                  <a:srgbClr val="F4F1E8"/>
                </a:solidFill>
                <a:latin typeface="Avenir Next"/>
                <a:ea typeface="Avenir Next"/>
                <a:cs typeface="Avenir Next"/>
              </a:defRPr>
            </a:defPPr>
          </a:lstStyle>
          <a:p xmlns:a="http://schemas.openxmlformats.org/drawingml/2006/main">
            <a:pPr algn="l">
              <a:lnSpc>
                <a:spcPct val="94000"/>
              </a:lnSpc>
              <a:buNone/>
              <a:defRPr sz="4050" b="1" i="0">
                <a:solidFill>
                  <a:srgbClr val="F4F1E8"/>
                </a:solidFill>
                <a:latin typeface="Avenir Next"/>
                <a:ea typeface="Avenir Next"/>
                <a:cs typeface="Avenir Next"/>
              </a:defRPr>
            </a:pPr>
            <a:r>
              <a:rPr sz="4050" b="1" i="0">
                <a:solidFill>
                  <a:srgbClr val="F4F1E8"/>
                </a:solidFill>
                <a:latin typeface="Avenir Next"/>
                <a:ea typeface="Avenir Next"/>
                <a:cs typeface="Avenir Next"/>
              </a:rPr>
              <a:t>Understand the process</a:t>
            </a:r>
          </a:p>
          <a:p xmlns:a="http://schemas.openxmlformats.org/drawingml/2006/main">
            <a:pPr algn="l">
              <a:lnSpc>
                <a:spcPct val="94000"/>
              </a:lnSpc>
              <a:buNone/>
              <a:defRPr sz="4050" b="1" i="0">
                <a:solidFill>
                  <a:srgbClr val="F4F1E8"/>
                </a:solidFill>
                <a:latin typeface="Avenir Next"/>
                <a:ea typeface="Avenir Next"/>
                <a:cs typeface="Avenir Next"/>
              </a:defRPr>
            </a:pPr>
            <a:r>
              <a:rPr sz="4050" b="1" i="0">
                <a:solidFill>
                  <a:srgbClr val="F4F1E8"/>
                </a:solidFill>
                <a:latin typeface="Avenir Next"/>
                <a:ea typeface="Avenir Next"/>
                <a:cs typeface="Avenir Next"/>
              </a:rPr>
              <a:t>before automating it</a:t>
            </a:r>
          </a:p>
        </p:txBody>
      </p:sp>
      <p:sp>
        <p:nvSpPr>
          <p:cNvPr id="4" name="">
            <a:extLst xmlns:a="http://schemas.openxmlformats.org/drawingml/2006/main">
              <a:ext uri="{FF2B5EF4-FFF2-40B4-BE49-F238E27FC236}">
                <a16:creationId xmlns:a16="http://schemas.microsoft.com/office/drawing/2014/main" id="{F8911A0B-369D-4FC4-93EE-837E4B2FC85D}"/>
              </a:ext>
            </a:extLst>
          </p:cNvPr>
          <p:cNvSpPr>
            <a:spLocks xmlns:a="http://schemas.openxmlformats.org/drawingml/2006/main" noGrp="1"/>
          </p:cNvSpPr>
          <p:nvPr/>
        </p:nvSpPr>
        <p:spPr>
          <a:xfrm xmlns:a="http://schemas.openxmlformats.org/drawingml/2006/main">
            <a:off x="3200400" y="3314700"/>
            <a:ext cx="695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i="0">
                <a:solidFill>
                  <a:srgbClr val="55D6D2"/>
                </a:solidFill>
                <a:latin typeface="Avenir Next"/>
                <a:ea typeface="Avenir Next"/>
                <a:cs typeface="Avenir Next"/>
              </a:defRPr>
            </a:defPPr>
          </a:lstStyle>
          <a:p xmlns:a="http://schemas.openxmlformats.org/drawingml/2006/main">
            <a:pPr algn="l">
              <a:lnSpc>
                <a:spcPct val="100000"/>
              </a:lnSpc>
              <a:buNone/>
              <a:defRPr sz="2250" b="1" i="0">
                <a:solidFill>
                  <a:srgbClr val="55D6D2"/>
                </a:solidFill>
                <a:latin typeface="Avenir Next"/>
                <a:ea typeface="Avenir Next"/>
                <a:cs typeface="Avenir Next"/>
              </a:defRPr>
            </a:pPr>
            <a:r>
              <a:rPr sz="2250" b="1" i="0">
                <a:solidFill>
                  <a:srgbClr val="55D6D2"/>
                </a:solidFill>
                <a:latin typeface="Avenir Next"/>
                <a:ea typeface="Avenir Next"/>
                <a:cs typeface="Avenir Next"/>
              </a:rPr>
              <a:t>Automation multiplies whatever process it finds.</a:t>
            </a:r>
          </a:p>
        </p:txBody>
      </p:sp>
      <p:sp>
        <p:nvSpPr>
          <p:cNvPr id="5" name="">
            <a:extLst xmlns:a="http://schemas.openxmlformats.org/drawingml/2006/main">
              <a:ext uri="{FF2B5EF4-FFF2-40B4-BE49-F238E27FC236}">
                <a16:creationId xmlns:a16="http://schemas.microsoft.com/office/drawing/2014/main" id="{BCC1F0D8-62DB-41DF-8FF0-EE5148C1457A}"/>
              </a:ext>
            </a:extLst>
          </p:cNvPr>
          <p:cNvSpPr>
            <a:spLocks xmlns:a="http://schemas.openxmlformats.org/drawingml/2006/main" noGrp="1"/>
          </p:cNvSpPr>
          <p:nvPr/>
        </p:nvSpPr>
        <p:spPr>
          <a:xfrm xmlns:a="http://schemas.openxmlformats.org/drawingml/2006/main">
            <a:off x="3200400" y="4171950"/>
            <a:ext cx="723900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054DEBD-ABFC-4116-B1F9-78C0D5FF907C}"/>
              </a:ext>
            </a:extLst>
          </p:cNvPr>
          <p:cNvSpPr>
            <a:spLocks xmlns:a="http://schemas.openxmlformats.org/drawingml/2006/main" noGrp="1"/>
          </p:cNvSpPr>
          <p:nvPr/>
        </p:nvSpPr>
        <p:spPr>
          <a:xfrm xmlns:a="http://schemas.openxmlformats.org/drawingml/2006/main">
            <a:off x="3200400" y="4533900"/>
            <a:ext cx="7334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i="0">
                <a:solidFill>
                  <a:srgbClr val="A8BAC8"/>
                </a:solidFill>
                <a:latin typeface="Avenir Next"/>
                <a:ea typeface="Avenir Next"/>
                <a:cs typeface="Avenir Next"/>
              </a:defRPr>
            </a:defPPr>
          </a:lstStyle>
          <a:p xmlns:a="http://schemas.openxmlformats.org/drawingml/2006/main">
            <a:pPr algn="l">
              <a:lnSpc>
                <a:spcPct val="104000"/>
              </a:lnSpc>
              <a:buNone/>
              <a:defRPr sz="1950" b="0" i="0">
                <a:solidFill>
                  <a:srgbClr val="A8BAC8"/>
                </a:solidFill>
                <a:latin typeface="Avenir Next"/>
                <a:ea typeface="Avenir Next"/>
                <a:cs typeface="Avenir Next"/>
              </a:defRPr>
            </a:pPr>
            <a:r>
              <a:rPr sz="1950" b="0" i="0">
                <a:solidFill>
                  <a:srgbClr val="A8BAC8"/>
                </a:solidFill>
                <a:latin typeface="Avenir Next"/>
                <a:ea typeface="Avenir Next"/>
                <a:cs typeface="Avenir Next"/>
              </a:rPr>
              <a:t>A clear process becomes more efficient. A broken process fails faster and at greater scale.</a:t>
            </a:r>
          </a:p>
        </p:txBody>
      </p:sp>
    </p:spTree>
    <p:extLst>
      <p:ext uri="{BB962C8B-B14F-4D97-AF65-F5344CB8AC3E}">
        <p14:creationId xmlns:p14="http://schemas.microsoft.com/office/powerpoint/2010/main" val="1641770553"/>
      </p:ext>
    </p:extLst>
  </p:cSld>
</p:sld>
</file>

<file path=ppt/slides/slide5.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515C5DE-9DFC-4AED-B5C3-2D98A96DDAD1}"/>
              </a:ext>
            </a:extLst>
          </p:cNvPr>
          <p:cNvSpPr>
            <a:spLocks xmlns:a="http://schemas.openxmlformats.org/drawingml/2006/main" noGrp="1"/>
          </p:cNvSpPr>
          <p:nvPr/>
        </p:nvSpPr>
        <p:spPr>
          <a:xfrm xmlns:a="http://schemas.openxmlformats.org/drawingml/2006/main">
            <a:off x="685800" y="5143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i="0">
                <a:solidFill>
                  <a:srgbClr val="F4F1E8"/>
                </a:solidFill>
                <a:latin typeface="Avenir Next"/>
                <a:ea typeface="Avenir Next"/>
                <a:cs typeface="Avenir Next"/>
              </a:defRPr>
            </a:defPPr>
          </a:lstStyle>
          <a:p xmlns:a="http://schemas.openxmlformats.org/drawingml/2006/main">
            <a:pPr algn="l">
              <a:lnSpc>
                <a:spcPct val="100000"/>
              </a:lnSpc>
              <a:buNone/>
              <a:defRPr sz="3300" b="1" i="0">
                <a:solidFill>
                  <a:srgbClr val="F4F1E8"/>
                </a:solidFill>
                <a:latin typeface="Avenir Next"/>
                <a:ea typeface="Avenir Next"/>
                <a:cs typeface="Avenir Next"/>
              </a:defRPr>
            </a:pPr>
            <a:r>
              <a:rPr sz="3300" b="1" i="0">
                <a:solidFill>
                  <a:srgbClr val="F4F1E8"/>
                </a:solidFill>
                <a:latin typeface="Avenir Next"/>
                <a:ea typeface="Avenir Next"/>
                <a:cs typeface="Avenir Next"/>
              </a:rPr>
              <a:t>The correct order</a:t>
            </a:r>
          </a:p>
        </p:txBody>
      </p:sp>
      <p:sp>
        <p:nvSpPr>
          <p:cNvPr id="2" name="">
            <a:extLst xmlns:a="http://schemas.openxmlformats.org/drawingml/2006/main">
              <a:ext uri="{FF2B5EF4-FFF2-40B4-BE49-F238E27FC236}">
                <a16:creationId xmlns:a16="http://schemas.microsoft.com/office/drawing/2014/main" id="{80D92303-3B5E-415A-8801-9D12FD8B3299}"/>
              </a:ext>
            </a:extLst>
          </p:cNvPr>
          <p:cNvSpPr>
            <a:spLocks xmlns:a="http://schemas.openxmlformats.org/drawingml/2006/main" noGrp="1"/>
          </p:cNvSpPr>
          <p:nvPr/>
        </p:nvSpPr>
        <p:spPr>
          <a:xfrm xmlns:a="http://schemas.openxmlformats.org/drawingml/2006/main">
            <a:off x="685800" y="1257300"/>
            <a:ext cx="857250" cy="38100"/>
          </a:xfrm>
          <a:prstGeom xmlns:a="http://schemas.openxmlformats.org/drawingml/2006/main" prst="rect">
            <a:avLst/>
          </a:prstGeom>
          <a:solidFill xmlns:a="http://schemas.openxmlformats.org/drawingml/2006/main">
            <a:srgbClr val="55D6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318B1F0-79FF-4D4E-8DDE-0F5E4856BD9D}"/>
              </a:ext>
            </a:extLst>
          </p:cNvPr>
          <p:cNvSpPr>
            <a:spLocks xmlns:a="http://schemas.openxmlformats.org/drawingml/2006/main" noGrp="1"/>
          </p:cNvSpPr>
          <p:nvPr/>
        </p:nvSpPr>
        <p:spPr>
          <a:xfrm xmlns:a="http://schemas.openxmlformats.org/drawingml/2006/main">
            <a:off x="1752600" y="1095375"/>
            <a:ext cx="933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A8BAC8"/>
                </a:solidFill>
                <a:latin typeface="Avenir Next"/>
                <a:ea typeface="Avenir Next"/>
                <a:cs typeface="Avenir Next"/>
              </a:defRPr>
            </a:defPPr>
          </a:lstStyle>
          <a:p xmlns:a="http://schemas.openxmlformats.org/drawingml/2006/main">
            <a:pPr algn="l">
              <a:lnSpc>
                <a:spcPct val="100000"/>
              </a:lnSpc>
              <a:buNone/>
              <a:defRPr sz="1500" b="0" i="0">
                <a:solidFill>
                  <a:srgbClr val="A8BAC8"/>
                </a:solidFill>
                <a:latin typeface="Avenir Next"/>
                <a:ea typeface="Avenir Next"/>
                <a:cs typeface="Avenir Next"/>
              </a:defRPr>
            </a:pPr>
            <a:r>
              <a:rPr sz="1500" b="0" i="0">
                <a:solidFill>
                  <a:srgbClr val="A8BAC8"/>
                </a:solidFill>
                <a:latin typeface="Avenir Next"/>
                <a:ea typeface="Avenir Next"/>
                <a:cs typeface="Avenir Next"/>
              </a:rPr>
              <a:t>Automation comes last</a:t>
            </a:r>
          </a:p>
        </p:txBody>
      </p:sp>
      <p:sp>
        <p:nvSpPr>
          <p:cNvPr id="4" name="">
            <a:extLst xmlns:a="http://schemas.openxmlformats.org/drawingml/2006/main">
              <a:ext uri="{FF2B5EF4-FFF2-40B4-BE49-F238E27FC236}">
                <a16:creationId xmlns:a16="http://schemas.microsoft.com/office/drawing/2014/main" id="{F7589320-5E55-425A-ABD3-1DF70FB295E9}"/>
              </a:ext>
            </a:extLst>
          </p:cNvPr>
          <p:cNvSpPr>
            <a:spLocks xmlns:a="http://schemas.openxmlformats.org/drawingml/2006/main" noGrp="1"/>
          </p:cNvSpPr>
          <p:nvPr/>
        </p:nvSpPr>
        <p:spPr>
          <a:xfrm xmlns:a="http://schemas.openxmlformats.org/drawingml/2006/main">
            <a:off x="685800" y="20383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i="0">
                <a:solidFill>
                  <a:srgbClr val="FFB454"/>
                </a:solidFill>
                <a:latin typeface="Avenir Next"/>
                <a:ea typeface="Avenir Next"/>
                <a:cs typeface="Avenir Next"/>
              </a:defRPr>
            </a:defPPr>
          </a:lstStyle>
          <a:p xmlns:a="http://schemas.openxmlformats.org/drawingml/2006/main">
            <a:pPr algn="l">
              <a:lnSpc>
                <a:spcPct val="100000"/>
              </a:lnSpc>
              <a:buNone/>
              <a:defRPr sz="3300" b="1" i="0">
                <a:solidFill>
                  <a:srgbClr val="FFB454"/>
                </a:solidFill>
                <a:latin typeface="Avenir Next"/>
                <a:ea typeface="Avenir Next"/>
                <a:cs typeface="Avenir Next"/>
              </a:defRPr>
            </a:pPr>
            <a:r>
              <a:rPr sz="3300" b="1" i="0">
                <a:solidFill>
                  <a:srgbClr val="FFB454"/>
                </a:solidFill>
                <a:latin typeface="Avenir Next"/>
                <a:ea typeface="Avenir Next"/>
                <a:cs typeface="Avenir Next"/>
              </a:rPr>
              <a:t>01</a:t>
            </a:r>
          </a:p>
        </p:txBody>
      </p:sp>
      <p:sp>
        <p:nvSpPr>
          <p:cNvPr id="5" name="">
            <a:extLst xmlns:a="http://schemas.openxmlformats.org/drawingml/2006/main">
              <a:ext uri="{FF2B5EF4-FFF2-40B4-BE49-F238E27FC236}">
                <a16:creationId xmlns:a16="http://schemas.microsoft.com/office/drawing/2014/main" id="{D86FAC85-3358-438F-8F30-36861582BDCC}"/>
              </a:ext>
            </a:extLst>
          </p:cNvPr>
          <p:cNvSpPr>
            <a:spLocks xmlns:a="http://schemas.openxmlformats.org/drawingml/2006/main" noGrp="1"/>
          </p:cNvSpPr>
          <p:nvPr/>
        </p:nvSpPr>
        <p:spPr>
          <a:xfrm xmlns:a="http://schemas.openxmlformats.org/drawingml/2006/main">
            <a:off x="685800" y="27622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F4F1E8"/>
                </a:solidFill>
                <a:latin typeface="Avenir Next"/>
                <a:ea typeface="Avenir Next"/>
                <a:cs typeface="Avenir Next"/>
              </a:defRPr>
            </a:defPPr>
          </a:lstStyle>
          <a:p xmlns:a="http://schemas.openxmlformats.org/drawingml/2006/main">
            <a:pPr algn="l">
              <a:lnSpc>
                <a:spcPct val="100000"/>
              </a:lnSpc>
              <a:buNone/>
              <a:defRPr sz="1950" b="1" i="0">
                <a:solidFill>
                  <a:srgbClr val="F4F1E8"/>
                </a:solidFill>
                <a:latin typeface="Avenir Next"/>
                <a:ea typeface="Avenir Next"/>
                <a:cs typeface="Avenir Next"/>
              </a:defRPr>
            </a:pPr>
            <a:r>
              <a:rPr sz="1950" b="1" i="0">
                <a:solidFill>
                  <a:srgbClr val="F4F1E8"/>
                </a:solidFill>
                <a:latin typeface="Avenir Next"/>
                <a:ea typeface="Avenir Next"/>
                <a:cs typeface="Avenir Next"/>
              </a:rPr>
              <a:t>PROCESS</a:t>
            </a:r>
          </a:p>
        </p:txBody>
      </p:sp>
      <p:sp>
        <p:nvSpPr>
          <p:cNvPr id="6" name="">
            <a:extLst xmlns:a="http://schemas.openxmlformats.org/drawingml/2006/main">
              <a:ext uri="{FF2B5EF4-FFF2-40B4-BE49-F238E27FC236}">
                <a16:creationId xmlns:a16="http://schemas.microsoft.com/office/drawing/2014/main" id="{1D3A6FBF-E84E-4D41-92FF-24198DC968F5}"/>
              </a:ext>
            </a:extLst>
          </p:cNvPr>
          <p:cNvSpPr>
            <a:spLocks xmlns:a="http://schemas.openxmlformats.org/drawingml/2006/main" noGrp="1"/>
          </p:cNvSpPr>
          <p:nvPr/>
        </p:nvSpPr>
        <p:spPr>
          <a:xfrm xmlns:a="http://schemas.openxmlformats.org/drawingml/2006/main">
            <a:off x="685800" y="3314700"/>
            <a:ext cx="238125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BDE29CB-2174-45F6-B4BC-CCEA1813399B}"/>
              </a:ext>
            </a:extLst>
          </p:cNvPr>
          <p:cNvSpPr>
            <a:spLocks xmlns:a="http://schemas.openxmlformats.org/drawingml/2006/main" noGrp="1"/>
          </p:cNvSpPr>
          <p:nvPr/>
        </p:nvSpPr>
        <p:spPr>
          <a:xfrm xmlns:a="http://schemas.openxmlformats.org/drawingml/2006/main">
            <a:off x="685800" y="3619500"/>
            <a:ext cx="23812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i="0">
                <a:solidFill>
                  <a:srgbClr val="A8BAC8"/>
                </a:solidFill>
                <a:latin typeface="Avenir Next"/>
                <a:ea typeface="Avenir Next"/>
                <a:cs typeface="Avenir Next"/>
              </a:defRPr>
            </a:defPPr>
          </a:lstStyle>
          <a:p xmlns:a="http://schemas.openxmlformats.org/drawingml/2006/main">
            <a:pPr algn="l">
              <a:lnSpc>
                <a:spcPct val="105000"/>
              </a:lnSpc>
              <a:buNone/>
              <a:defRPr sz="1575" b="0" i="0">
                <a:solidFill>
                  <a:srgbClr val="A8BAC8"/>
                </a:solidFill>
                <a:latin typeface="Avenir Next"/>
                <a:ea typeface="Avenir Next"/>
                <a:cs typeface="Avenir Next"/>
              </a:defRPr>
            </a:pPr>
            <a:r>
              <a:rPr sz="1575" b="0" i="0">
                <a:solidFill>
                  <a:srgbClr val="A8BAC8"/>
                </a:solidFill>
                <a:latin typeface="Avenir Next"/>
                <a:ea typeface="Avenir Next"/>
                <a:cs typeface="Avenir Next"/>
              </a:rPr>
              <a:t>Observe how the work happens in practice.</a:t>
            </a:r>
          </a:p>
        </p:txBody>
      </p:sp>
      <p:sp>
        <p:nvSpPr>
          <p:cNvPr id="8" name="">
            <a:extLst xmlns:a="http://schemas.openxmlformats.org/drawingml/2006/main">
              <a:ext uri="{FF2B5EF4-FFF2-40B4-BE49-F238E27FC236}">
                <a16:creationId xmlns:a16="http://schemas.microsoft.com/office/drawing/2014/main" id="{69BA1EBD-7A70-4561-95B5-45035175958D}"/>
              </a:ext>
            </a:extLst>
          </p:cNvPr>
          <p:cNvSpPr>
            <a:spLocks xmlns:a="http://schemas.openxmlformats.org/drawingml/2006/main" noGrp="1"/>
          </p:cNvSpPr>
          <p:nvPr/>
        </p:nvSpPr>
        <p:spPr>
          <a:xfrm xmlns:a="http://schemas.openxmlformats.org/drawingml/2006/main">
            <a:off x="3448050" y="20383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i="0">
                <a:solidFill>
                  <a:srgbClr val="FFB454"/>
                </a:solidFill>
                <a:latin typeface="Avenir Next"/>
                <a:ea typeface="Avenir Next"/>
                <a:cs typeface="Avenir Next"/>
              </a:defRPr>
            </a:defPPr>
          </a:lstStyle>
          <a:p xmlns:a="http://schemas.openxmlformats.org/drawingml/2006/main">
            <a:pPr algn="l">
              <a:lnSpc>
                <a:spcPct val="100000"/>
              </a:lnSpc>
              <a:buNone/>
              <a:defRPr sz="3300" b="1" i="0">
                <a:solidFill>
                  <a:srgbClr val="FFB454"/>
                </a:solidFill>
                <a:latin typeface="Avenir Next"/>
                <a:ea typeface="Avenir Next"/>
                <a:cs typeface="Avenir Next"/>
              </a:defRPr>
            </a:pPr>
            <a:r>
              <a:rPr sz="3300" b="1" i="0">
                <a:solidFill>
                  <a:srgbClr val="FFB454"/>
                </a:solidFill>
                <a:latin typeface="Avenir Next"/>
                <a:ea typeface="Avenir Next"/>
                <a:cs typeface="Avenir Next"/>
              </a:rPr>
              <a:t>02</a:t>
            </a:r>
          </a:p>
        </p:txBody>
      </p:sp>
      <p:sp>
        <p:nvSpPr>
          <p:cNvPr id="9" name="">
            <a:extLst xmlns:a="http://schemas.openxmlformats.org/drawingml/2006/main">
              <a:ext uri="{FF2B5EF4-FFF2-40B4-BE49-F238E27FC236}">
                <a16:creationId xmlns:a16="http://schemas.microsoft.com/office/drawing/2014/main" id="{FF9B86BA-70BA-4DA1-83AD-A649E2368128}"/>
              </a:ext>
            </a:extLst>
          </p:cNvPr>
          <p:cNvSpPr>
            <a:spLocks xmlns:a="http://schemas.openxmlformats.org/drawingml/2006/main" noGrp="1"/>
          </p:cNvSpPr>
          <p:nvPr/>
        </p:nvSpPr>
        <p:spPr>
          <a:xfrm xmlns:a="http://schemas.openxmlformats.org/drawingml/2006/main">
            <a:off x="3448050" y="27622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F4F1E8"/>
                </a:solidFill>
                <a:latin typeface="Avenir Next"/>
                <a:ea typeface="Avenir Next"/>
                <a:cs typeface="Avenir Next"/>
              </a:defRPr>
            </a:defPPr>
          </a:lstStyle>
          <a:p xmlns:a="http://schemas.openxmlformats.org/drawingml/2006/main">
            <a:pPr algn="l">
              <a:lnSpc>
                <a:spcPct val="100000"/>
              </a:lnSpc>
              <a:buNone/>
              <a:defRPr sz="1950" b="1" i="0">
                <a:solidFill>
                  <a:srgbClr val="F4F1E8"/>
                </a:solidFill>
                <a:latin typeface="Avenir Next"/>
                <a:ea typeface="Avenir Next"/>
                <a:cs typeface="Avenir Next"/>
              </a:defRPr>
            </a:pPr>
            <a:r>
              <a:rPr sz="1950" b="1" i="0">
                <a:solidFill>
                  <a:srgbClr val="F4F1E8"/>
                </a:solidFill>
                <a:latin typeface="Avenir Next"/>
                <a:ea typeface="Avenir Next"/>
                <a:cs typeface="Avenir Next"/>
              </a:rPr>
              <a:t>IMPROVE</a:t>
            </a:r>
          </a:p>
        </p:txBody>
      </p:sp>
      <p:sp>
        <p:nvSpPr>
          <p:cNvPr id="10" name="">
            <a:extLst xmlns:a="http://schemas.openxmlformats.org/drawingml/2006/main">
              <a:ext uri="{FF2B5EF4-FFF2-40B4-BE49-F238E27FC236}">
                <a16:creationId xmlns:a16="http://schemas.microsoft.com/office/drawing/2014/main" id="{AD45A330-B681-4E7A-A493-42A1A6418914}"/>
              </a:ext>
            </a:extLst>
          </p:cNvPr>
          <p:cNvSpPr>
            <a:spLocks xmlns:a="http://schemas.openxmlformats.org/drawingml/2006/main" noGrp="1"/>
          </p:cNvSpPr>
          <p:nvPr/>
        </p:nvSpPr>
        <p:spPr>
          <a:xfrm xmlns:a="http://schemas.openxmlformats.org/drawingml/2006/main">
            <a:off x="3448050" y="3314700"/>
            <a:ext cx="238125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789DD53-343B-41A8-9ECE-2B6CB309B554}"/>
              </a:ext>
            </a:extLst>
          </p:cNvPr>
          <p:cNvSpPr>
            <a:spLocks xmlns:a="http://schemas.openxmlformats.org/drawingml/2006/main" noGrp="1"/>
          </p:cNvSpPr>
          <p:nvPr/>
        </p:nvSpPr>
        <p:spPr>
          <a:xfrm xmlns:a="http://schemas.openxmlformats.org/drawingml/2006/main">
            <a:off x="3448050" y="3619500"/>
            <a:ext cx="23812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i="0">
                <a:solidFill>
                  <a:srgbClr val="A8BAC8"/>
                </a:solidFill>
                <a:latin typeface="Avenir Next"/>
                <a:ea typeface="Avenir Next"/>
                <a:cs typeface="Avenir Next"/>
              </a:defRPr>
            </a:defPPr>
          </a:lstStyle>
          <a:p xmlns:a="http://schemas.openxmlformats.org/drawingml/2006/main">
            <a:pPr algn="l">
              <a:lnSpc>
                <a:spcPct val="105000"/>
              </a:lnSpc>
              <a:buNone/>
              <a:defRPr sz="1575" b="0" i="0">
                <a:solidFill>
                  <a:srgbClr val="A8BAC8"/>
                </a:solidFill>
                <a:latin typeface="Avenir Next"/>
                <a:ea typeface="Avenir Next"/>
                <a:cs typeface="Avenir Next"/>
              </a:defRPr>
            </a:pPr>
            <a:r>
              <a:rPr sz="1575" b="0" i="0">
                <a:solidFill>
                  <a:srgbClr val="A8BAC8"/>
                </a:solidFill>
                <a:latin typeface="Avenir Next"/>
                <a:ea typeface="Avenir Next"/>
                <a:cs typeface="Avenir Next"/>
              </a:rPr>
              <a:t>Remove steps that add no value.</a:t>
            </a:r>
          </a:p>
        </p:txBody>
      </p:sp>
      <p:sp>
        <p:nvSpPr>
          <p:cNvPr id="12" name="">
            <a:extLst xmlns:a="http://schemas.openxmlformats.org/drawingml/2006/main">
              <a:ext uri="{FF2B5EF4-FFF2-40B4-BE49-F238E27FC236}">
                <a16:creationId xmlns:a16="http://schemas.microsoft.com/office/drawing/2014/main" id="{1912A2F1-DDB1-45F2-85B4-5EFF0F34D7C1}"/>
              </a:ext>
            </a:extLst>
          </p:cNvPr>
          <p:cNvSpPr>
            <a:spLocks xmlns:a="http://schemas.openxmlformats.org/drawingml/2006/main" noGrp="1"/>
          </p:cNvSpPr>
          <p:nvPr/>
        </p:nvSpPr>
        <p:spPr>
          <a:xfrm xmlns:a="http://schemas.openxmlformats.org/drawingml/2006/main">
            <a:off x="6210300" y="20383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i="0">
                <a:solidFill>
                  <a:srgbClr val="FFB454"/>
                </a:solidFill>
                <a:latin typeface="Avenir Next"/>
                <a:ea typeface="Avenir Next"/>
                <a:cs typeface="Avenir Next"/>
              </a:defRPr>
            </a:defPPr>
          </a:lstStyle>
          <a:p xmlns:a="http://schemas.openxmlformats.org/drawingml/2006/main">
            <a:pPr algn="l">
              <a:lnSpc>
                <a:spcPct val="100000"/>
              </a:lnSpc>
              <a:buNone/>
              <a:defRPr sz="3300" b="1" i="0">
                <a:solidFill>
                  <a:srgbClr val="FFB454"/>
                </a:solidFill>
                <a:latin typeface="Avenir Next"/>
                <a:ea typeface="Avenir Next"/>
                <a:cs typeface="Avenir Next"/>
              </a:defRPr>
            </a:pPr>
            <a:r>
              <a:rPr sz="3300" b="1" i="0">
                <a:solidFill>
                  <a:srgbClr val="FFB454"/>
                </a:solidFill>
                <a:latin typeface="Avenir Next"/>
                <a:ea typeface="Avenir Next"/>
                <a:cs typeface="Avenir Next"/>
              </a:rPr>
              <a:t>03</a:t>
            </a:r>
          </a:p>
        </p:txBody>
      </p:sp>
      <p:sp>
        <p:nvSpPr>
          <p:cNvPr id="13" name="">
            <a:extLst xmlns:a="http://schemas.openxmlformats.org/drawingml/2006/main">
              <a:ext uri="{FF2B5EF4-FFF2-40B4-BE49-F238E27FC236}">
                <a16:creationId xmlns:a16="http://schemas.microsoft.com/office/drawing/2014/main" id="{09D652E2-56D5-4933-B5DE-E82626CE2D6E}"/>
              </a:ext>
            </a:extLst>
          </p:cNvPr>
          <p:cNvSpPr>
            <a:spLocks xmlns:a="http://schemas.openxmlformats.org/drawingml/2006/main" noGrp="1"/>
          </p:cNvSpPr>
          <p:nvPr/>
        </p:nvSpPr>
        <p:spPr>
          <a:xfrm xmlns:a="http://schemas.openxmlformats.org/drawingml/2006/main">
            <a:off x="6210300" y="27622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F4F1E8"/>
                </a:solidFill>
                <a:latin typeface="Avenir Next"/>
                <a:ea typeface="Avenir Next"/>
                <a:cs typeface="Avenir Next"/>
              </a:defRPr>
            </a:defPPr>
          </a:lstStyle>
          <a:p xmlns:a="http://schemas.openxmlformats.org/drawingml/2006/main">
            <a:pPr algn="l">
              <a:lnSpc>
                <a:spcPct val="100000"/>
              </a:lnSpc>
              <a:buNone/>
              <a:defRPr sz="1950" b="1" i="0">
                <a:solidFill>
                  <a:srgbClr val="F4F1E8"/>
                </a:solidFill>
                <a:latin typeface="Avenir Next"/>
                <a:ea typeface="Avenir Next"/>
                <a:cs typeface="Avenir Next"/>
              </a:defRPr>
            </a:pPr>
            <a:r>
              <a:rPr sz="1950" b="1" i="0">
                <a:solidFill>
                  <a:srgbClr val="F4F1E8"/>
                </a:solidFill>
                <a:latin typeface="Avenir Next"/>
                <a:ea typeface="Avenir Next"/>
                <a:cs typeface="Avenir Next"/>
              </a:rPr>
              <a:t>ACCELERATE</a:t>
            </a:r>
          </a:p>
        </p:txBody>
      </p:sp>
      <p:sp>
        <p:nvSpPr>
          <p:cNvPr id="14" name="">
            <a:extLst xmlns:a="http://schemas.openxmlformats.org/drawingml/2006/main">
              <a:ext uri="{FF2B5EF4-FFF2-40B4-BE49-F238E27FC236}">
                <a16:creationId xmlns:a16="http://schemas.microsoft.com/office/drawing/2014/main" id="{4B9A1618-99BD-45D6-AD5D-BCE039250AA5}"/>
              </a:ext>
            </a:extLst>
          </p:cNvPr>
          <p:cNvSpPr>
            <a:spLocks xmlns:a="http://schemas.openxmlformats.org/drawingml/2006/main" noGrp="1"/>
          </p:cNvSpPr>
          <p:nvPr/>
        </p:nvSpPr>
        <p:spPr>
          <a:xfrm xmlns:a="http://schemas.openxmlformats.org/drawingml/2006/main">
            <a:off x="6210300" y="3314700"/>
            <a:ext cx="238125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6C6B137-A854-4C06-B019-9DAD4BD6362B}"/>
              </a:ext>
            </a:extLst>
          </p:cNvPr>
          <p:cNvSpPr>
            <a:spLocks xmlns:a="http://schemas.openxmlformats.org/drawingml/2006/main" noGrp="1"/>
          </p:cNvSpPr>
          <p:nvPr/>
        </p:nvSpPr>
        <p:spPr>
          <a:xfrm xmlns:a="http://schemas.openxmlformats.org/drawingml/2006/main">
            <a:off x="6210300" y="3619500"/>
            <a:ext cx="23812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i="0">
                <a:solidFill>
                  <a:srgbClr val="A8BAC8"/>
                </a:solidFill>
                <a:latin typeface="Avenir Next"/>
                <a:ea typeface="Avenir Next"/>
                <a:cs typeface="Avenir Next"/>
              </a:defRPr>
            </a:defPPr>
          </a:lstStyle>
          <a:p xmlns:a="http://schemas.openxmlformats.org/drawingml/2006/main">
            <a:pPr algn="l">
              <a:lnSpc>
                <a:spcPct val="105000"/>
              </a:lnSpc>
              <a:buNone/>
              <a:defRPr sz="1575" b="0" i="0">
                <a:solidFill>
                  <a:srgbClr val="A8BAC8"/>
                </a:solidFill>
                <a:latin typeface="Avenir Next"/>
                <a:ea typeface="Avenir Next"/>
                <a:cs typeface="Avenir Next"/>
              </a:defRPr>
            </a:pPr>
            <a:r>
              <a:rPr sz="1575" b="0" i="0">
                <a:solidFill>
                  <a:srgbClr val="A8BAC8"/>
                </a:solidFill>
                <a:latin typeface="Avenir Next"/>
                <a:ea typeface="Avenir Next"/>
                <a:cs typeface="Avenir Next"/>
              </a:rPr>
              <a:t>Reduce waiting and clear obstacles.</a:t>
            </a:r>
          </a:p>
        </p:txBody>
      </p:sp>
      <p:sp>
        <p:nvSpPr>
          <p:cNvPr id="16" name="">
            <a:extLst xmlns:a="http://schemas.openxmlformats.org/drawingml/2006/main">
              <a:ext uri="{FF2B5EF4-FFF2-40B4-BE49-F238E27FC236}">
                <a16:creationId xmlns:a16="http://schemas.microsoft.com/office/drawing/2014/main" id="{099B3F15-5086-4731-BF98-34F76CBC7844}"/>
              </a:ext>
            </a:extLst>
          </p:cNvPr>
          <p:cNvSpPr>
            <a:spLocks xmlns:a="http://schemas.openxmlformats.org/drawingml/2006/main" noGrp="1"/>
          </p:cNvSpPr>
          <p:nvPr/>
        </p:nvSpPr>
        <p:spPr>
          <a:xfrm xmlns:a="http://schemas.openxmlformats.org/drawingml/2006/main">
            <a:off x="8972550" y="20383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i="0">
                <a:solidFill>
                  <a:srgbClr val="55D6D2"/>
                </a:solidFill>
                <a:latin typeface="Avenir Next"/>
                <a:ea typeface="Avenir Next"/>
                <a:cs typeface="Avenir Next"/>
              </a:defRPr>
            </a:defPPr>
          </a:lstStyle>
          <a:p xmlns:a="http://schemas.openxmlformats.org/drawingml/2006/main">
            <a:pPr algn="l">
              <a:lnSpc>
                <a:spcPct val="100000"/>
              </a:lnSpc>
              <a:buNone/>
              <a:defRPr sz="3300" b="1" i="0">
                <a:solidFill>
                  <a:srgbClr val="55D6D2"/>
                </a:solidFill>
                <a:latin typeface="Avenir Next"/>
                <a:ea typeface="Avenir Next"/>
                <a:cs typeface="Avenir Next"/>
              </a:defRPr>
            </a:pPr>
            <a:r>
              <a:rPr sz="3300" b="1" i="0">
                <a:solidFill>
                  <a:srgbClr val="55D6D2"/>
                </a:solidFill>
                <a:latin typeface="Avenir Next"/>
                <a:ea typeface="Avenir Next"/>
                <a:cs typeface="Avenir Next"/>
              </a:rPr>
              <a:t>04</a:t>
            </a:r>
          </a:p>
        </p:txBody>
      </p:sp>
      <p:sp>
        <p:nvSpPr>
          <p:cNvPr id="17" name="">
            <a:extLst xmlns:a="http://schemas.openxmlformats.org/drawingml/2006/main">
              <a:ext uri="{FF2B5EF4-FFF2-40B4-BE49-F238E27FC236}">
                <a16:creationId xmlns:a16="http://schemas.microsoft.com/office/drawing/2014/main" id="{00B036A9-396F-4009-BFE0-DE7F1F797485}"/>
              </a:ext>
            </a:extLst>
          </p:cNvPr>
          <p:cNvSpPr>
            <a:spLocks xmlns:a="http://schemas.openxmlformats.org/drawingml/2006/main" noGrp="1"/>
          </p:cNvSpPr>
          <p:nvPr/>
        </p:nvSpPr>
        <p:spPr>
          <a:xfrm xmlns:a="http://schemas.openxmlformats.org/drawingml/2006/main">
            <a:off x="8972550" y="27622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F4F1E8"/>
                </a:solidFill>
                <a:latin typeface="Avenir Next"/>
                <a:ea typeface="Avenir Next"/>
                <a:cs typeface="Avenir Next"/>
              </a:defRPr>
            </a:defPPr>
          </a:lstStyle>
          <a:p xmlns:a="http://schemas.openxmlformats.org/drawingml/2006/main">
            <a:pPr algn="l">
              <a:lnSpc>
                <a:spcPct val="100000"/>
              </a:lnSpc>
              <a:buNone/>
              <a:defRPr sz="1950" b="1" i="0">
                <a:solidFill>
                  <a:srgbClr val="F4F1E8"/>
                </a:solidFill>
                <a:latin typeface="Avenir Next"/>
                <a:ea typeface="Avenir Next"/>
                <a:cs typeface="Avenir Next"/>
              </a:defRPr>
            </a:pPr>
            <a:r>
              <a:rPr sz="1950" b="1" i="0">
                <a:solidFill>
                  <a:srgbClr val="F4F1E8"/>
                </a:solidFill>
                <a:latin typeface="Avenir Next"/>
                <a:ea typeface="Avenir Next"/>
                <a:cs typeface="Avenir Next"/>
              </a:rPr>
              <a:t>AUTOMATE</a:t>
            </a:r>
          </a:p>
        </p:txBody>
      </p:sp>
      <p:sp>
        <p:nvSpPr>
          <p:cNvPr id="18" name="">
            <a:extLst xmlns:a="http://schemas.openxmlformats.org/drawingml/2006/main">
              <a:ext uri="{FF2B5EF4-FFF2-40B4-BE49-F238E27FC236}">
                <a16:creationId xmlns:a16="http://schemas.microsoft.com/office/drawing/2014/main" id="{5A5ED7CF-5CD7-43E2-B71F-967F17510DBF}"/>
              </a:ext>
            </a:extLst>
          </p:cNvPr>
          <p:cNvSpPr>
            <a:spLocks xmlns:a="http://schemas.openxmlformats.org/drawingml/2006/main" noGrp="1"/>
          </p:cNvSpPr>
          <p:nvPr/>
        </p:nvSpPr>
        <p:spPr>
          <a:xfrm xmlns:a="http://schemas.openxmlformats.org/drawingml/2006/main">
            <a:off x="8972550" y="3314700"/>
            <a:ext cx="238125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3AC5465-49F8-48DE-9514-B0E360BFDFFB}"/>
              </a:ext>
            </a:extLst>
          </p:cNvPr>
          <p:cNvSpPr>
            <a:spLocks xmlns:a="http://schemas.openxmlformats.org/drawingml/2006/main" noGrp="1"/>
          </p:cNvSpPr>
          <p:nvPr/>
        </p:nvSpPr>
        <p:spPr>
          <a:xfrm xmlns:a="http://schemas.openxmlformats.org/drawingml/2006/main">
            <a:off x="8972550" y="3619500"/>
            <a:ext cx="23812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i="0">
                <a:solidFill>
                  <a:srgbClr val="A8BAC8"/>
                </a:solidFill>
                <a:latin typeface="Avenir Next"/>
                <a:ea typeface="Avenir Next"/>
                <a:cs typeface="Avenir Next"/>
              </a:defRPr>
            </a:defPPr>
          </a:lstStyle>
          <a:p xmlns:a="http://schemas.openxmlformats.org/drawingml/2006/main">
            <a:pPr algn="l">
              <a:lnSpc>
                <a:spcPct val="105000"/>
              </a:lnSpc>
              <a:buNone/>
              <a:defRPr sz="1575" b="0" i="0">
                <a:solidFill>
                  <a:srgbClr val="A8BAC8"/>
                </a:solidFill>
                <a:latin typeface="Avenir Next"/>
                <a:ea typeface="Avenir Next"/>
                <a:cs typeface="Avenir Next"/>
              </a:defRPr>
            </a:pPr>
            <a:r>
              <a:rPr sz="1575" b="0" i="0">
                <a:solidFill>
                  <a:srgbClr val="A8BAC8"/>
                </a:solidFill>
                <a:latin typeface="Avenir Next"/>
                <a:ea typeface="Avenir Next"/>
                <a:cs typeface="Avenir Next"/>
              </a:rPr>
              <a:t>Encode work that is stable and repeatable.</a:t>
            </a:r>
          </a:p>
        </p:txBody>
      </p:sp>
      <p:sp>
        <p:nvSpPr>
          <p:cNvPr id="20" name="">
            <a:extLst xmlns:a="http://schemas.openxmlformats.org/drawingml/2006/main">
              <a:ext uri="{FF2B5EF4-FFF2-40B4-BE49-F238E27FC236}">
                <a16:creationId xmlns:a16="http://schemas.microsoft.com/office/drawing/2014/main" id="{3CF13DF6-C808-4679-AF00-3737197DA565}"/>
              </a:ext>
            </a:extLst>
          </p:cNvPr>
          <p:cNvSpPr>
            <a:spLocks xmlns:a="http://schemas.openxmlformats.org/drawingml/2006/main" noGrp="1"/>
          </p:cNvSpPr>
          <p:nvPr/>
        </p:nvSpPr>
        <p:spPr>
          <a:xfrm xmlns:a="http://schemas.openxmlformats.org/drawingml/2006/main">
            <a:off x="1428750" y="561975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i="0">
                <a:solidFill>
                  <a:srgbClr val="F4F1E8"/>
                </a:solidFill>
                <a:latin typeface="Avenir Next"/>
                <a:ea typeface="Avenir Next"/>
                <a:cs typeface="Avenir Next"/>
              </a:defRPr>
            </a:defPPr>
          </a:lstStyle>
          <a:p xmlns:a="http://schemas.openxmlformats.org/drawingml/2006/main">
            <a:pPr algn="ctr">
              <a:lnSpc>
                <a:spcPct val="100000"/>
              </a:lnSpc>
              <a:buNone/>
              <a:defRPr sz="2400" b="1" i="0">
                <a:solidFill>
                  <a:srgbClr val="F4F1E8"/>
                </a:solidFill>
                <a:latin typeface="Avenir Next"/>
                <a:ea typeface="Avenir Next"/>
                <a:cs typeface="Avenir Next"/>
              </a:defRPr>
            </a:pPr>
            <a:r>
              <a:rPr sz="2400" b="1" i="0">
                <a:solidFill>
                  <a:srgbClr val="F4F1E8"/>
                </a:solidFill>
                <a:latin typeface="Avenir Next"/>
                <a:ea typeface="Avenir Next"/>
                <a:cs typeface="Avenir Next"/>
              </a:rPr>
              <a:t>Starting at step 4 turns confusion into software.</a:t>
            </a:r>
          </a:p>
        </p:txBody>
      </p:sp>
    </p:spTree>
    <p:extLst>
      <p:ext uri="{BB962C8B-B14F-4D97-AF65-F5344CB8AC3E}">
        <p14:creationId xmlns:p14="http://schemas.microsoft.com/office/powerpoint/2010/main" val="452849337"/>
      </p:ext>
    </p:extLst>
  </p:cSld>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FE390B5-17A7-4C9A-9B70-078AE13249A7}"/>
              </a:ext>
            </a:extLst>
          </p:cNvPr>
          <p:cNvSpPr>
            <a:spLocks xmlns:a="http://schemas.openxmlformats.org/drawingml/2006/main" noGrp="1"/>
          </p:cNvSpPr>
          <p:nvPr/>
        </p:nvSpPr>
        <p:spPr>
          <a:xfrm xmlns:a="http://schemas.openxmlformats.org/drawingml/2006/main">
            <a:off x="685800" y="533400"/>
            <a:ext cx="590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10202C"/>
                </a:solidFill>
                <a:latin typeface="Avenir Next"/>
                <a:ea typeface="Avenir Next"/>
                <a:cs typeface="Avenir Next"/>
              </a:defRPr>
            </a:defPPr>
          </a:lstStyle>
          <a:p xmlns:a="http://schemas.openxmlformats.org/drawingml/2006/main">
            <a:pPr algn="l">
              <a:lnSpc>
                <a:spcPct val="100000"/>
              </a:lnSpc>
              <a:buNone/>
              <a:defRPr sz="3450" b="1" i="0">
                <a:solidFill>
                  <a:srgbClr val="10202C"/>
                </a:solidFill>
                <a:latin typeface="Avenir Next"/>
                <a:ea typeface="Avenir Next"/>
                <a:cs typeface="Avenir Next"/>
              </a:defRPr>
            </a:pPr>
            <a:r>
              <a:rPr sz="3450" b="1" i="0">
                <a:solidFill>
                  <a:srgbClr val="10202C"/>
                </a:solidFill>
                <a:latin typeface="Avenir Next"/>
                <a:ea typeface="Avenir Next"/>
                <a:cs typeface="Avenir Next"/>
              </a:rPr>
              <a:t>The apology trap</a:t>
            </a:r>
          </a:p>
        </p:txBody>
      </p:sp>
      <p:sp>
        <p:nvSpPr>
          <p:cNvPr id="2" name="">
            <a:extLst xmlns:a="http://schemas.openxmlformats.org/drawingml/2006/main">
              <a:ext uri="{FF2B5EF4-FFF2-40B4-BE49-F238E27FC236}">
                <a16:creationId xmlns:a16="http://schemas.microsoft.com/office/drawing/2014/main" id="{1183A54B-0579-4ACC-A182-40C866D0208E}"/>
              </a:ext>
            </a:extLst>
          </p:cNvPr>
          <p:cNvSpPr>
            <a:spLocks xmlns:a="http://schemas.openxmlformats.org/drawingml/2006/main" noGrp="1"/>
          </p:cNvSpPr>
          <p:nvPr/>
        </p:nvSpPr>
        <p:spPr>
          <a:xfrm xmlns:a="http://schemas.openxmlformats.org/drawingml/2006/main">
            <a:off x="685800" y="1333500"/>
            <a:ext cx="857250" cy="38100"/>
          </a:xfrm>
          <a:prstGeom xmlns:a="http://schemas.openxmlformats.org/drawingml/2006/main" prst="rect">
            <a:avLst/>
          </a:prstGeom>
          <a:solidFill xmlns:a="http://schemas.openxmlformats.org/drawingml/2006/main">
            <a:srgbClr val="FF7A7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27CFCD-31F7-4DEE-8838-E9CBAAA430B6}"/>
              </a:ext>
            </a:extLst>
          </p:cNvPr>
          <p:cNvSpPr>
            <a:spLocks xmlns:a="http://schemas.openxmlformats.org/drawingml/2006/main" noGrp="1"/>
          </p:cNvSpPr>
          <p:nvPr/>
        </p:nvSpPr>
        <p:spPr>
          <a:xfrm xmlns:a="http://schemas.openxmlformats.org/drawingml/2006/main">
            <a:off x="723900" y="2019300"/>
            <a:ext cx="762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100" b="1" i="0">
                <a:solidFill>
                  <a:srgbClr val="FF7A70"/>
                </a:solidFill>
                <a:latin typeface="Avenir Next"/>
                <a:ea typeface="Avenir Next"/>
                <a:cs typeface="Avenir Next"/>
              </a:defRPr>
            </a:defPPr>
          </a:lstStyle>
          <a:p xmlns:a="http://schemas.openxmlformats.org/drawingml/2006/main">
            <a:pPr algn="l">
              <a:lnSpc>
                <a:spcPct val="100000"/>
              </a:lnSpc>
              <a:buNone/>
              <a:defRPr sz="5100" b="1" i="0">
                <a:solidFill>
                  <a:srgbClr val="FF7A70"/>
                </a:solidFill>
                <a:latin typeface="Avenir Next"/>
                <a:ea typeface="Avenir Next"/>
                <a:cs typeface="Avenir Next"/>
              </a:defRPr>
            </a:pPr>
            <a:r>
              <a:rPr sz="5100" b="1" i="0">
                <a:solidFill>
                  <a:srgbClr val="FF7A70"/>
                </a:solidFill>
                <a:latin typeface="Avenir Next"/>
                <a:ea typeface="Avenir Next"/>
                <a:cs typeface="Avenir Next"/>
              </a:rPr>
              <a:t>1</a:t>
            </a:r>
          </a:p>
        </p:txBody>
      </p:sp>
      <p:sp>
        <p:nvSpPr>
          <p:cNvPr id="4" name="">
            <a:extLst xmlns:a="http://schemas.openxmlformats.org/drawingml/2006/main">
              <a:ext uri="{FF2B5EF4-FFF2-40B4-BE49-F238E27FC236}">
                <a16:creationId xmlns:a16="http://schemas.microsoft.com/office/drawing/2014/main" id="{22F62E0B-49C4-4ACA-85C9-DFC2107BB3D6}"/>
              </a:ext>
            </a:extLst>
          </p:cNvPr>
          <p:cNvSpPr>
            <a:spLocks xmlns:a="http://schemas.openxmlformats.org/drawingml/2006/main" noGrp="1"/>
          </p:cNvSpPr>
          <p:nvPr/>
        </p:nvSpPr>
        <p:spPr>
          <a:xfrm xmlns:a="http://schemas.openxmlformats.org/drawingml/2006/main">
            <a:off x="1504950" y="2114550"/>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i="0">
                <a:solidFill>
                  <a:srgbClr val="10202C"/>
                </a:solidFill>
                <a:latin typeface="Avenir Next"/>
                <a:ea typeface="Avenir Next"/>
                <a:cs typeface="Avenir Next"/>
              </a:defRPr>
            </a:defPPr>
          </a:lstStyle>
          <a:p xmlns:a="http://schemas.openxmlformats.org/drawingml/2006/main">
            <a:pPr algn="l">
              <a:lnSpc>
                <a:spcPct val="100000"/>
              </a:lnSpc>
              <a:buNone/>
              <a:defRPr sz="1875" b="1" i="0">
                <a:solidFill>
                  <a:srgbClr val="10202C"/>
                </a:solidFill>
                <a:latin typeface="Avenir Next"/>
                <a:ea typeface="Avenir Next"/>
                <a:cs typeface="Avenir Next"/>
              </a:defRPr>
            </a:pPr>
            <a:r>
              <a:rPr sz="1875" b="1" i="0">
                <a:solidFill>
                  <a:srgbClr val="10202C"/>
                </a:solidFill>
                <a:latin typeface="Avenir Next"/>
                <a:ea typeface="Avenir Next"/>
                <a:cs typeface="Avenir Next"/>
              </a:rPr>
              <a:t>Orders disappear</a:t>
            </a:r>
          </a:p>
        </p:txBody>
      </p:sp>
      <p:sp>
        <p:nvSpPr>
          <p:cNvPr id="5" name="">
            <a:extLst xmlns:a="http://schemas.openxmlformats.org/drawingml/2006/main">
              <a:ext uri="{FF2B5EF4-FFF2-40B4-BE49-F238E27FC236}">
                <a16:creationId xmlns:a16="http://schemas.microsoft.com/office/drawing/2014/main" id="{6C326B2D-2146-4AF0-818E-C314E671F2BC}"/>
              </a:ext>
            </a:extLst>
          </p:cNvPr>
          <p:cNvSpPr>
            <a:spLocks xmlns:a="http://schemas.openxmlformats.org/drawingml/2006/main" noGrp="1"/>
          </p:cNvSpPr>
          <p:nvPr/>
        </p:nvSpPr>
        <p:spPr>
          <a:xfrm xmlns:a="http://schemas.openxmlformats.org/drawingml/2006/main">
            <a:off x="1504950" y="2914650"/>
            <a:ext cx="271462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49616F"/>
                </a:solidFill>
                <a:latin typeface="Avenir Next"/>
                <a:ea typeface="Avenir Next"/>
                <a:cs typeface="Avenir Next"/>
              </a:defRPr>
            </a:defPPr>
          </a:lstStyle>
          <a:p xmlns:a="http://schemas.openxmlformats.org/drawingml/2006/main">
            <a:pPr algn="l">
              <a:lnSpc>
                <a:spcPct val="105000"/>
              </a:lnSpc>
              <a:buNone/>
              <a:defRPr sz="1500" b="0" i="0">
                <a:solidFill>
                  <a:srgbClr val="49616F"/>
                </a:solidFill>
                <a:latin typeface="Avenir Next"/>
                <a:ea typeface="Avenir Next"/>
                <a:cs typeface="Avenir Next"/>
              </a:defRPr>
            </a:pPr>
            <a:r>
              <a:rPr sz="1500" b="0" i="0">
                <a:solidFill>
                  <a:srgbClr val="49616F"/>
                </a:solidFill>
                <a:latin typeface="Avenir Next"/>
                <a:ea typeface="Avenir Next"/>
                <a:cs typeface="Avenir Next"/>
              </a:rPr>
              <a:t>Customers pay, then receive the wrong order or nothing.</a:t>
            </a:r>
          </a:p>
        </p:txBody>
      </p:sp>
      <p:sp>
        <p:nvSpPr>
          <p:cNvPr id="6" name="">
            <a:extLst xmlns:a="http://schemas.openxmlformats.org/drawingml/2006/main">
              <a:ext uri="{FF2B5EF4-FFF2-40B4-BE49-F238E27FC236}">
                <a16:creationId xmlns:a16="http://schemas.microsoft.com/office/drawing/2014/main" id="{B28EC07D-95D4-4B66-B83B-326BCAE7E523}"/>
              </a:ext>
            </a:extLst>
          </p:cNvPr>
          <p:cNvSpPr>
            <a:spLocks xmlns:a="http://schemas.openxmlformats.org/drawingml/2006/main" noGrp="1"/>
          </p:cNvSpPr>
          <p:nvPr/>
        </p:nvSpPr>
        <p:spPr>
          <a:xfrm xmlns:a="http://schemas.openxmlformats.org/drawingml/2006/main">
            <a:off x="4486275" y="2019300"/>
            <a:ext cx="762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100" b="1" i="0">
                <a:solidFill>
                  <a:srgbClr val="FF7A70"/>
                </a:solidFill>
                <a:latin typeface="Avenir Next"/>
                <a:ea typeface="Avenir Next"/>
                <a:cs typeface="Avenir Next"/>
              </a:defRPr>
            </a:defPPr>
          </a:lstStyle>
          <a:p xmlns:a="http://schemas.openxmlformats.org/drawingml/2006/main">
            <a:pPr algn="l">
              <a:lnSpc>
                <a:spcPct val="100000"/>
              </a:lnSpc>
              <a:buNone/>
              <a:defRPr sz="5100" b="1" i="0">
                <a:solidFill>
                  <a:srgbClr val="FF7A70"/>
                </a:solidFill>
                <a:latin typeface="Avenir Next"/>
                <a:ea typeface="Avenir Next"/>
                <a:cs typeface="Avenir Next"/>
              </a:defRPr>
            </a:pPr>
            <a:r>
              <a:rPr sz="5100" b="1" i="0">
                <a:solidFill>
                  <a:srgbClr val="FF7A70"/>
                </a:solidFill>
                <a:latin typeface="Avenir Next"/>
                <a:ea typeface="Avenir Next"/>
                <a:cs typeface="Avenir Next"/>
              </a:rPr>
              <a:t>2</a:t>
            </a:r>
          </a:p>
        </p:txBody>
      </p:sp>
      <p:sp>
        <p:nvSpPr>
          <p:cNvPr id="7" name="">
            <a:extLst xmlns:a="http://schemas.openxmlformats.org/drawingml/2006/main">
              <a:ext uri="{FF2B5EF4-FFF2-40B4-BE49-F238E27FC236}">
                <a16:creationId xmlns:a16="http://schemas.microsoft.com/office/drawing/2014/main" id="{927ECDDC-2BFC-4276-8B3F-D67C732CA389}"/>
              </a:ext>
            </a:extLst>
          </p:cNvPr>
          <p:cNvSpPr>
            <a:spLocks xmlns:a="http://schemas.openxmlformats.org/drawingml/2006/main" noGrp="1"/>
          </p:cNvSpPr>
          <p:nvPr/>
        </p:nvSpPr>
        <p:spPr>
          <a:xfrm xmlns:a="http://schemas.openxmlformats.org/drawingml/2006/main">
            <a:off x="5267325" y="2114550"/>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i="0">
                <a:solidFill>
                  <a:srgbClr val="10202C"/>
                </a:solidFill>
                <a:latin typeface="Avenir Next"/>
                <a:ea typeface="Avenir Next"/>
                <a:cs typeface="Avenir Next"/>
              </a:defRPr>
            </a:defPPr>
          </a:lstStyle>
          <a:p xmlns:a="http://schemas.openxmlformats.org/drawingml/2006/main">
            <a:pPr algn="l">
              <a:lnSpc>
                <a:spcPct val="100000"/>
              </a:lnSpc>
              <a:buNone/>
              <a:defRPr sz="1875" b="1" i="0">
                <a:solidFill>
                  <a:srgbClr val="10202C"/>
                </a:solidFill>
                <a:latin typeface="Avenir Next"/>
                <a:ea typeface="Avenir Next"/>
                <a:cs typeface="Avenir Next"/>
              </a:defRPr>
            </a:pPr>
            <a:r>
              <a:rPr sz="1875" b="1" i="0">
                <a:solidFill>
                  <a:srgbClr val="10202C"/>
                </a:solidFill>
                <a:latin typeface="Avenir Next"/>
                <a:ea typeface="Avenir Next"/>
                <a:cs typeface="Avenir Next"/>
              </a:rPr>
              <a:t>Apologies become automatic</a:t>
            </a:r>
          </a:p>
        </p:txBody>
      </p:sp>
      <p:sp>
        <p:nvSpPr>
          <p:cNvPr id="8" name="">
            <a:extLst xmlns:a="http://schemas.openxmlformats.org/drawingml/2006/main">
              <a:ext uri="{FF2B5EF4-FFF2-40B4-BE49-F238E27FC236}">
                <a16:creationId xmlns:a16="http://schemas.microsoft.com/office/drawing/2014/main" id="{B23A882E-0DB8-4F9C-B42C-7CBE7E9E8F3B}"/>
              </a:ext>
            </a:extLst>
          </p:cNvPr>
          <p:cNvSpPr>
            <a:spLocks xmlns:a="http://schemas.openxmlformats.org/drawingml/2006/main" noGrp="1"/>
          </p:cNvSpPr>
          <p:nvPr/>
        </p:nvSpPr>
        <p:spPr>
          <a:xfrm xmlns:a="http://schemas.openxmlformats.org/drawingml/2006/main">
            <a:off x="5267325" y="2914650"/>
            <a:ext cx="271462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49616F"/>
                </a:solidFill>
                <a:latin typeface="Avenir Next"/>
                <a:ea typeface="Avenir Next"/>
                <a:cs typeface="Avenir Next"/>
              </a:defRPr>
            </a:defPPr>
          </a:lstStyle>
          <a:p xmlns:a="http://schemas.openxmlformats.org/drawingml/2006/main">
            <a:pPr algn="l">
              <a:lnSpc>
                <a:spcPct val="105000"/>
              </a:lnSpc>
              <a:buNone/>
              <a:defRPr sz="1500" b="0" i="0">
                <a:solidFill>
                  <a:srgbClr val="49616F"/>
                </a:solidFill>
                <a:latin typeface="Avenir Next"/>
                <a:ea typeface="Avenir Next"/>
                <a:cs typeface="Avenir Next"/>
              </a:defRPr>
            </a:pPr>
            <a:r>
              <a:rPr sz="1500" b="0" i="0">
                <a:solidFill>
                  <a:srgbClr val="49616F"/>
                </a:solidFill>
                <a:latin typeface="Avenir Next"/>
                <a:ea typeface="Avenir Next"/>
                <a:cs typeface="Avenir Next"/>
              </a:rPr>
              <a:t>The system sends messages and alerts whenever failure occurs.</a:t>
            </a:r>
          </a:p>
        </p:txBody>
      </p:sp>
      <p:sp>
        <p:nvSpPr>
          <p:cNvPr id="9" name="">
            <a:extLst xmlns:a="http://schemas.openxmlformats.org/drawingml/2006/main">
              <a:ext uri="{FF2B5EF4-FFF2-40B4-BE49-F238E27FC236}">
                <a16:creationId xmlns:a16="http://schemas.microsoft.com/office/drawing/2014/main" id="{8973CE01-329E-403C-8139-8E22013B2FD3}"/>
              </a:ext>
            </a:extLst>
          </p:cNvPr>
          <p:cNvSpPr>
            <a:spLocks xmlns:a="http://schemas.openxmlformats.org/drawingml/2006/main" noGrp="1"/>
          </p:cNvSpPr>
          <p:nvPr/>
        </p:nvSpPr>
        <p:spPr>
          <a:xfrm xmlns:a="http://schemas.openxmlformats.org/drawingml/2006/main">
            <a:off x="8248650" y="2019300"/>
            <a:ext cx="762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100" b="1" i="0">
                <a:solidFill>
                  <a:srgbClr val="FF7A70"/>
                </a:solidFill>
                <a:latin typeface="Avenir Next"/>
                <a:ea typeface="Avenir Next"/>
                <a:cs typeface="Avenir Next"/>
              </a:defRPr>
            </a:defPPr>
          </a:lstStyle>
          <a:p xmlns:a="http://schemas.openxmlformats.org/drawingml/2006/main">
            <a:pPr algn="l">
              <a:lnSpc>
                <a:spcPct val="100000"/>
              </a:lnSpc>
              <a:buNone/>
              <a:defRPr sz="5100" b="1" i="0">
                <a:solidFill>
                  <a:srgbClr val="FF7A70"/>
                </a:solidFill>
                <a:latin typeface="Avenir Next"/>
                <a:ea typeface="Avenir Next"/>
                <a:cs typeface="Avenir Next"/>
              </a:defRPr>
            </a:pPr>
            <a:r>
              <a:rPr sz="5100" b="1" i="0">
                <a:solidFill>
                  <a:srgbClr val="FF7A70"/>
                </a:solidFill>
                <a:latin typeface="Avenir Next"/>
                <a:ea typeface="Avenir Next"/>
                <a:cs typeface="Avenir Next"/>
              </a:rPr>
              <a:t>3</a:t>
            </a:r>
          </a:p>
        </p:txBody>
      </p:sp>
      <p:sp>
        <p:nvSpPr>
          <p:cNvPr id="10" name="">
            <a:extLst xmlns:a="http://schemas.openxmlformats.org/drawingml/2006/main">
              <a:ext uri="{FF2B5EF4-FFF2-40B4-BE49-F238E27FC236}">
                <a16:creationId xmlns:a16="http://schemas.microsoft.com/office/drawing/2014/main" id="{69D01DAB-8E56-4464-8E13-E428891B8C24}"/>
              </a:ext>
            </a:extLst>
          </p:cNvPr>
          <p:cNvSpPr>
            <a:spLocks xmlns:a="http://schemas.openxmlformats.org/drawingml/2006/main" noGrp="1"/>
          </p:cNvSpPr>
          <p:nvPr/>
        </p:nvSpPr>
        <p:spPr>
          <a:xfrm xmlns:a="http://schemas.openxmlformats.org/drawingml/2006/main">
            <a:off x="9029700" y="2114550"/>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i="0">
                <a:solidFill>
                  <a:srgbClr val="10202C"/>
                </a:solidFill>
                <a:latin typeface="Avenir Next"/>
                <a:ea typeface="Avenir Next"/>
                <a:cs typeface="Avenir Next"/>
              </a:defRPr>
            </a:defPPr>
          </a:lstStyle>
          <a:p xmlns:a="http://schemas.openxmlformats.org/drawingml/2006/main">
            <a:pPr algn="l">
              <a:lnSpc>
                <a:spcPct val="100000"/>
              </a:lnSpc>
              <a:buNone/>
              <a:defRPr sz="1875" b="1" i="0">
                <a:solidFill>
                  <a:srgbClr val="10202C"/>
                </a:solidFill>
                <a:latin typeface="Avenir Next"/>
                <a:ea typeface="Avenir Next"/>
                <a:cs typeface="Avenir Next"/>
              </a:defRPr>
            </a:pPr>
            <a:r>
              <a:rPr sz="1875" b="1" i="0">
                <a:solidFill>
                  <a:srgbClr val="10202C"/>
                </a:solidFill>
                <a:latin typeface="Avenir Next"/>
                <a:ea typeface="Avenir Next"/>
                <a:cs typeface="Avenir Next"/>
              </a:rPr>
              <a:t>The process stays broken</a:t>
            </a:r>
          </a:p>
        </p:txBody>
      </p:sp>
      <p:sp>
        <p:nvSpPr>
          <p:cNvPr id="11" name="">
            <a:extLst xmlns:a="http://schemas.openxmlformats.org/drawingml/2006/main">
              <a:ext uri="{FF2B5EF4-FFF2-40B4-BE49-F238E27FC236}">
                <a16:creationId xmlns:a16="http://schemas.microsoft.com/office/drawing/2014/main" id="{53DEA522-E75B-4B0A-91C1-2D9CDAE78925}"/>
              </a:ext>
            </a:extLst>
          </p:cNvPr>
          <p:cNvSpPr>
            <a:spLocks xmlns:a="http://schemas.openxmlformats.org/drawingml/2006/main" noGrp="1"/>
          </p:cNvSpPr>
          <p:nvPr/>
        </p:nvSpPr>
        <p:spPr>
          <a:xfrm xmlns:a="http://schemas.openxmlformats.org/drawingml/2006/main">
            <a:off x="9029700" y="2914650"/>
            <a:ext cx="271462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49616F"/>
                </a:solidFill>
                <a:latin typeface="Avenir Next"/>
                <a:ea typeface="Avenir Next"/>
                <a:cs typeface="Avenir Next"/>
              </a:defRPr>
            </a:defPPr>
          </a:lstStyle>
          <a:p xmlns:a="http://schemas.openxmlformats.org/drawingml/2006/main">
            <a:pPr algn="l">
              <a:lnSpc>
                <a:spcPct val="105000"/>
              </a:lnSpc>
              <a:buNone/>
              <a:defRPr sz="1500" b="0" i="0">
                <a:solidFill>
                  <a:srgbClr val="49616F"/>
                </a:solidFill>
                <a:latin typeface="Avenir Next"/>
                <a:ea typeface="Avenir Next"/>
                <a:cs typeface="Avenir Next"/>
              </a:defRPr>
            </a:pPr>
            <a:r>
              <a:rPr sz="1500" b="0" i="0">
                <a:solidFill>
                  <a:srgbClr val="49616F"/>
                </a:solidFill>
                <a:latin typeface="Avenir Next"/>
                <a:ea typeface="Avenir Next"/>
                <a:cs typeface="Avenir Next"/>
              </a:rPr>
              <a:t>Customers now receive reliable apologies for unreliable service.</a:t>
            </a:r>
          </a:p>
        </p:txBody>
      </p:sp>
      <p:sp>
        <p:nvSpPr>
          <p:cNvPr id="12" name="">
            <a:extLst xmlns:a="http://schemas.openxmlformats.org/drawingml/2006/main">
              <a:ext uri="{FF2B5EF4-FFF2-40B4-BE49-F238E27FC236}">
                <a16:creationId xmlns:a16="http://schemas.microsoft.com/office/drawing/2014/main" id="{60A2CD4E-D506-4849-A203-99F24A618329}"/>
              </a:ext>
            </a:extLst>
          </p:cNvPr>
          <p:cNvSpPr>
            <a:spLocks xmlns:a="http://schemas.openxmlformats.org/drawingml/2006/main" noGrp="1"/>
          </p:cNvSpPr>
          <p:nvPr/>
        </p:nvSpPr>
        <p:spPr>
          <a:xfrm xmlns:a="http://schemas.openxmlformats.org/drawingml/2006/main">
            <a:off x="742950" y="4762500"/>
            <a:ext cx="10706100" cy="19050"/>
          </a:xfrm>
          <a:prstGeom xmlns:a="http://schemas.openxmlformats.org/drawingml/2006/main" prst="rect">
            <a:avLst/>
          </a:prstGeom>
          <a:solidFill xmlns:a="http://schemas.openxmlformats.org/drawingml/2006/main">
            <a:srgbClr val="CCD6D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F2A5B24-C692-49C6-9536-C2BA1321F3ED}"/>
              </a:ext>
            </a:extLst>
          </p:cNvPr>
          <p:cNvSpPr>
            <a:spLocks xmlns:a="http://schemas.openxmlformats.org/drawingml/2006/main" noGrp="1"/>
          </p:cNvSpPr>
          <p:nvPr/>
        </p:nvSpPr>
        <p:spPr>
          <a:xfrm xmlns:a="http://schemas.openxmlformats.org/drawingml/2006/main">
            <a:off x="742950" y="51435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i="0">
                <a:solidFill>
                  <a:srgbClr val="FF7A70"/>
                </a:solidFill>
                <a:latin typeface="Avenir Next"/>
                <a:ea typeface="Avenir Next"/>
                <a:cs typeface="Avenir Next"/>
              </a:defRPr>
            </a:defPPr>
          </a:lstStyle>
          <a:p xmlns:a="http://schemas.openxmlformats.org/drawingml/2006/main">
            <a:pPr algn="l">
              <a:lnSpc>
                <a:spcPct val="100000"/>
              </a:lnSpc>
              <a:buNone/>
              <a:defRPr sz="1500" b="1" i="0">
                <a:solidFill>
                  <a:srgbClr val="FF7A70"/>
                </a:solidFill>
                <a:latin typeface="Avenir Next"/>
                <a:ea typeface="Avenir Next"/>
                <a:cs typeface="Avenir Next"/>
              </a:defRPr>
            </a:pPr>
            <a:r>
              <a:rPr sz="1500" b="1" i="0">
                <a:solidFill>
                  <a:srgbClr val="FF7A70"/>
                </a:solidFill>
                <a:latin typeface="Avenir Next"/>
                <a:ea typeface="Avenir Next"/>
                <a:cs typeface="Avenir Next"/>
              </a:rPr>
              <a:t>The better response</a:t>
            </a:r>
          </a:p>
        </p:txBody>
      </p:sp>
      <p:sp>
        <p:nvSpPr>
          <p:cNvPr id="14" name="">
            <a:extLst xmlns:a="http://schemas.openxmlformats.org/drawingml/2006/main">
              <a:ext uri="{FF2B5EF4-FFF2-40B4-BE49-F238E27FC236}">
                <a16:creationId xmlns:a16="http://schemas.microsoft.com/office/drawing/2014/main" id="{32FC9410-7CBF-453A-937B-D2365BBDB73E}"/>
              </a:ext>
            </a:extLst>
          </p:cNvPr>
          <p:cNvSpPr>
            <a:spLocks xmlns:a="http://schemas.openxmlformats.org/drawingml/2006/main" noGrp="1"/>
          </p:cNvSpPr>
          <p:nvPr/>
        </p:nvSpPr>
        <p:spPr>
          <a:xfrm xmlns:a="http://schemas.openxmlformats.org/drawingml/2006/main">
            <a:off x="3143250" y="5029200"/>
            <a:ext cx="8153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i="0">
                <a:solidFill>
                  <a:srgbClr val="10202C"/>
                </a:solidFill>
                <a:latin typeface="Avenir Next"/>
                <a:ea typeface="Avenir Next"/>
                <a:cs typeface="Avenir Next"/>
              </a:defRPr>
            </a:defPPr>
          </a:lstStyle>
          <a:p xmlns:a="http://schemas.openxmlformats.org/drawingml/2006/main">
            <a:pPr algn="l">
              <a:lnSpc>
                <a:spcPct val="100000"/>
              </a:lnSpc>
              <a:buNone/>
              <a:defRPr sz="2100" b="1" i="0">
                <a:solidFill>
                  <a:srgbClr val="10202C"/>
                </a:solidFill>
                <a:latin typeface="Avenir Next"/>
                <a:ea typeface="Avenir Next"/>
                <a:cs typeface="Avenir Next"/>
              </a:defRPr>
            </a:pPr>
            <a:r>
              <a:rPr sz="2100" b="1" i="0">
                <a:solidFill>
                  <a:srgbClr val="10202C"/>
                </a:solidFill>
                <a:latin typeface="Avenir Next"/>
                <a:ea typeface="Avenir Next"/>
                <a:cs typeface="Avenir Next"/>
              </a:rPr>
              <a:t>Repair the failure, automate detection, and keep a person responsible for recovery.</a:t>
            </a:r>
          </a:p>
        </p:txBody>
      </p:sp>
    </p:spTree>
    <p:extLst>
      <p:ext uri="{BB962C8B-B14F-4D97-AF65-F5344CB8AC3E}">
        <p14:creationId xmlns:p14="http://schemas.microsoft.com/office/powerpoint/2010/main" val="1526326339"/>
      </p:ext>
    </p:extLst>
  </p:cSld>
</p:sld>
</file>

<file path=ppt/slides/slide7.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E0FFA2B-FE9B-4944-A463-C0D436C064B8}"/>
              </a:ext>
            </a:extLst>
          </p:cNvPr>
          <p:cNvSpPr>
            <a:spLocks xmlns:a="http://schemas.openxmlformats.org/drawingml/2006/main" noGrp="1"/>
          </p:cNvSpPr>
          <p:nvPr/>
        </p:nvSpPr>
        <p:spPr>
          <a:xfrm xmlns:a="http://schemas.openxmlformats.org/drawingml/2006/main">
            <a:off x="685800" y="5143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i="0">
                <a:solidFill>
                  <a:srgbClr val="F4F1E8"/>
                </a:solidFill>
                <a:latin typeface="Avenir Next"/>
                <a:ea typeface="Avenir Next"/>
                <a:cs typeface="Avenir Next"/>
              </a:defRPr>
            </a:defPPr>
          </a:lstStyle>
          <a:p xmlns:a="http://schemas.openxmlformats.org/drawingml/2006/main">
            <a:pPr algn="l">
              <a:lnSpc>
                <a:spcPct val="100000"/>
              </a:lnSpc>
              <a:buNone/>
              <a:defRPr sz="3300" b="1" i="0">
                <a:solidFill>
                  <a:srgbClr val="F4F1E8"/>
                </a:solidFill>
                <a:latin typeface="Avenir Next"/>
                <a:ea typeface="Avenir Next"/>
                <a:cs typeface="Avenir Next"/>
              </a:defRPr>
            </a:pPr>
            <a:r>
              <a:rPr sz="3300" b="1" i="0">
                <a:solidFill>
                  <a:srgbClr val="F4F1E8"/>
                </a:solidFill>
                <a:latin typeface="Avenir Next"/>
                <a:ea typeface="Avenir Next"/>
                <a:cs typeface="Avenir Next"/>
              </a:rPr>
              <a:t>High stakes change the choice</a:t>
            </a:r>
          </a:p>
        </p:txBody>
      </p:sp>
      <p:sp>
        <p:nvSpPr>
          <p:cNvPr id="2" name="">
            <a:extLst xmlns:a="http://schemas.openxmlformats.org/drawingml/2006/main">
              <a:ext uri="{FF2B5EF4-FFF2-40B4-BE49-F238E27FC236}">
                <a16:creationId xmlns:a16="http://schemas.microsoft.com/office/drawing/2014/main" id="{EC82D72A-FF60-43EE-BDDB-5F38680F9107}"/>
              </a:ext>
            </a:extLst>
          </p:cNvPr>
          <p:cNvSpPr>
            <a:spLocks xmlns:a="http://schemas.openxmlformats.org/drawingml/2006/main" noGrp="1"/>
          </p:cNvSpPr>
          <p:nvPr/>
        </p:nvSpPr>
        <p:spPr>
          <a:xfrm xmlns:a="http://schemas.openxmlformats.org/drawingml/2006/main">
            <a:off x="685800" y="1257300"/>
            <a:ext cx="857250" cy="38100"/>
          </a:xfrm>
          <a:prstGeom xmlns:a="http://schemas.openxmlformats.org/drawingml/2006/main" prst="rect">
            <a:avLst/>
          </a:prstGeom>
          <a:solidFill xmlns:a="http://schemas.openxmlformats.org/drawingml/2006/main">
            <a:srgbClr val="55D6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8A3F9ED-7A43-475F-AE59-0E3AF3BF8246}"/>
              </a:ext>
            </a:extLst>
          </p:cNvPr>
          <p:cNvSpPr>
            <a:spLocks xmlns:a="http://schemas.openxmlformats.org/drawingml/2006/main" noGrp="1"/>
          </p:cNvSpPr>
          <p:nvPr/>
        </p:nvSpPr>
        <p:spPr>
          <a:xfrm xmlns:a="http://schemas.openxmlformats.org/drawingml/2006/main">
            <a:off x="1752600" y="1095375"/>
            <a:ext cx="933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A8BAC8"/>
                </a:solidFill>
                <a:latin typeface="Avenir Next"/>
                <a:ea typeface="Avenir Next"/>
                <a:cs typeface="Avenir Next"/>
              </a:defRPr>
            </a:defPPr>
          </a:lstStyle>
          <a:p xmlns:a="http://schemas.openxmlformats.org/drawingml/2006/main">
            <a:pPr algn="l">
              <a:lnSpc>
                <a:spcPct val="100000"/>
              </a:lnSpc>
              <a:buNone/>
              <a:defRPr sz="1500" b="0" i="0">
                <a:solidFill>
                  <a:srgbClr val="A8BAC8"/>
                </a:solidFill>
                <a:latin typeface="Avenir Next"/>
                <a:ea typeface="Avenir Next"/>
                <a:cs typeface="Avenir Next"/>
              </a:defRPr>
            </a:pPr>
            <a:r>
              <a:rPr sz="1500" b="0" i="0">
                <a:solidFill>
                  <a:srgbClr val="A8BAC8"/>
                </a:solidFill>
                <a:latin typeface="Avenir Next"/>
                <a:ea typeface="Avenir Next"/>
                <a:cs typeface="Avenir Next"/>
              </a:rPr>
              <a:t>Ask the room</a:t>
            </a:r>
          </a:p>
        </p:txBody>
      </p:sp>
      <p:sp>
        <p:nvSpPr>
          <p:cNvPr id="4" name="">
            <a:extLst xmlns:a="http://schemas.openxmlformats.org/drawingml/2006/main">
              <a:ext uri="{FF2B5EF4-FFF2-40B4-BE49-F238E27FC236}">
                <a16:creationId xmlns:a16="http://schemas.microsoft.com/office/drawing/2014/main" id="{4BEDE467-5DC3-4D90-8059-5712FC55E9FD}"/>
              </a:ext>
            </a:extLst>
          </p:cNvPr>
          <p:cNvSpPr>
            <a:spLocks xmlns:a="http://schemas.openxmlformats.org/drawingml/2006/main" noGrp="1"/>
          </p:cNvSpPr>
          <p:nvPr/>
        </p:nvSpPr>
        <p:spPr>
          <a:xfrm xmlns:a="http://schemas.openxmlformats.org/drawingml/2006/main">
            <a:off x="781050" y="2133600"/>
            <a:ext cx="400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i="0">
                <a:solidFill>
                  <a:srgbClr val="FFB454"/>
                </a:solidFill>
                <a:latin typeface="Avenir Next"/>
                <a:ea typeface="Avenir Next"/>
                <a:cs typeface="Avenir Next"/>
              </a:defRPr>
            </a:defPPr>
          </a:lstStyle>
          <a:p xmlns:a="http://schemas.openxmlformats.org/drawingml/2006/main">
            <a:pPr algn="l">
              <a:lnSpc>
                <a:spcPct val="100000"/>
              </a:lnSpc>
              <a:buNone/>
              <a:defRPr sz="3900" b="1" i="0">
                <a:solidFill>
                  <a:srgbClr val="FFB454"/>
                </a:solidFill>
                <a:latin typeface="Avenir Next"/>
                <a:ea typeface="Avenir Next"/>
                <a:cs typeface="Avenir Next"/>
              </a:defRPr>
            </a:pPr>
            <a:r>
              <a:rPr sz="3900" b="1" i="0">
                <a:solidFill>
                  <a:srgbClr val="FFB454"/>
                </a:solidFill>
                <a:latin typeface="Avenir Next"/>
                <a:ea typeface="Avenir Next"/>
                <a:cs typeface="Avenir Next"/>
              </a:rPr>
              <a:t>11:00 PM</a:t>
            </a:r>
          </a:p>
        </p:txBody>
      </p:sp>
      <p:sp>
        <p:nvSpPr>
          <p:cNvPr id="5" name="">
            <a:extLst xmlns:a="http://schemas.openxmlformats.org/drawingml/2006/main">
              <a:ext uri="{FF2B5EF4-FFF2-40B4-BE49-F238E27FC236}">
                <a16:creationId xmlns:a16="http://schemas.microsoft.com/office/drawing/2014/main" id="{8ED5125C-6887-416E-B16B-D3AC2740D58A}"/>
              </a:ext>
            </a:extLst>
          </p:cNvPr>
          <p:cNvSpPr>
            <a:spLocks xmlns:a="http://schemas.openxmlformats.org/drawingml/2006/main" noGrp="1"/>
          </p:cNvSpPr>
          <p:nvPr/>
        </p:nvSpPr>
        <p:spPr>
          <a:xfrm xmlns:a="http://schemas.openxmlformats.org/drawingml/2006/main">
            <a:off x="781050" y="3048000"/>
            <a:ext cx="43815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i="0">
                <a:solidFill>
                  <a:srgbClr val="F4F1E8"/>
                </a:solidFill>
                <a:latin typeface="Avenir Next"/>
                <a:ea typeface="Avenir Next"/>
                <a:cs typeface="Avenir Next"/>
              </a:defRPr>
            </a:defPPr>
          </a:lstStyle>
          <a:p xmlns:a="http://schemas.openxmlformats.org/drawingml/2006/main">
            <a:pPr algn="l">
              <a:lnSpc>
                <a:spcPct val="102000"/>
              </a:lnSpc>
              <a:buNone/>
              <a:defRPr sz="2100" b="1" i="0">
                <a:solidFill>
                  <a:srgbClr val="F4F1E8"/>
                </a:solidFill>
                <a:latin typeface="Avenir Next"/>
                <a:ea typeface="Avenir Next"/>
                <a:cs typeface="Avenir Next"/>
              </a:defRPr>
            </a:pPr>
            <a:r>
              <a:rPr sz="2100" b="1" i="0">
                <a:solidFill>
                  <a:srgbClr val="F4F1E8"/>
                </a:solidFill>
                <a:latin typeface="Avenir Next"/>
                <a:ea typeface="Avenir Next"/>
                <a:cs typeface="Avenir Next"/>
              </a:rPr>
              <a:t>Your bank card stops working.</a:t>
            </a:r>
          </a:p>
          <a:p xmlns:a="http://schemas.openxmlformats.org/drawingml/2006/main">
            <a:pPr algn="l">
              <a:lnSpc>
                <a:spcPct val="102000"/>
              </a:lnSpc>
              <a:buNone/>
              <a:defRPr sz="2100" b="1" i="0">
                <a:solidFill>
                  <a:srgbClr val="F4F1E8"/>
                </a:solidFill>
                <a:latin typeface="Avenir Next"/>
                <a:ea typeface="Avenir Next"/>
                <a:cs typeface="Avenir Next"/>
              </a:defRPr>
            </a:pPr>
            <a:r>
              <a:rPr sz="2100" b="1" i="0">
                <a:solidFill>
                  <a:srgbClr val="F4F1E8"/>
                </a:solidFill>
                <a:latin typeface="Avenir Next"/>
                <a:ea typeface="Avenir Next"/>
                <a:cs typeface="Avenir Next"/>
              </a:rPr>
              <a:t>Would you choose an automated agent or an employee?</a:t>
            </a:r>
          </a:p>
        </p:txBody>
      </p:sp>
      <p:sp>
        <p:nvSpPr>
          <p:cNvPr id="6" name="">
            <a:extLst xmlns:a="http://schemas.openxmlformats.org/drawingml/2006/main">
              <a:ext uri="{FF2B5EF4-FFF2-40B4-BE49-F238E27FC236}">
                <a16:creationId xmlns:a16="http://schemas.microsoft.com/office/drawing/2014/main" id="{B2DD4820-E7AB-4F39-AC2E-6F2338EC7FF7}"/>
              </a:ext>
            </a:extLst>
          </p:cNvPr>
          <p:cNvSpPr>
            <a:spLocks xmlns:a="http://schemas.openxmlformats.org/drawingml/2006/main" noGrp="1"/>
          </p:cNvSpPr>
          <p:nvPr/>
        </p:nvSpPr>
        <p:spPr>
          <a:xfrm xmlns:a="http://schemas.openxmlformats.org/drawingml/2006/main">
            <a:off x="6019800" y="1981200"/>
            <a:ext cx="19050" cy="0"/>
          </a:xfrm>
          <a:prstGeom xmlns:a="http://schemas.openxmlformats.org/drawingml/2006/main" prst="rect">
            <a:avLst/>
          </a:prstGeom>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93F102A-E0C6-4157-A388-AFA666BEA4BE}"/>
              </a:ext>
            </a:extLst>
          </p:cNvPr>
          <p:cNvSpPr>
            <a:spLocks xmlns:a="http://schemas.openxmlformats.org/drawingml/2006/main" noGrp="1"/>
          </p:cNvSpPr>
          <p:nvPr/>
        </p:nvSpPr>
        <p:spPr>
          <a:xfrm xmlns:a="http://schemas.openxmlformats.org/drawingml/2006/main">
            <a:off x="6858000" y="2133600"/>
            <a:ext cx="342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i="0">
                <a:solidFill>
                  <a:srgbClr val="55D6D2"/>
                </a:solidFill>
                <a:latin typeface="Avenir Next"/>
                <a:ea typeface="Avenir Next"/>
                <a:cs typeface="Avenir Next"/>
              </a:defRPr>
            </a:defPPr>
          </a:lstStyle>
          <a:p xmlns:a="http://schemas.openxmlformats.org/drawingml/2006/main">
            <a:pPr algn="l">
              <a:lnSpc>
                <a:spcPct val="100000"/>
              </a:lnSpc>
              <a:buNone/>
              <a:defRPr sz="4050" b="1" i="0">
                <a:solidFill>
                  <a:srgbClr val="55D6D2"/>
                </a:solidFill>
                <a:latin typeface="Avenir Next"/>
                <a:ea typeface="Avenir Next"/>
                <a:cs typeface="Avenir Next"/>
              </a:defRPr>
            </a:pPr>
            <a:r>
              <a:rPr sz="4050" b="1" i="0">
                <a:solidFill>
                  <a:srgbClr val="55D6D2"/>
                </a:solidFill>
                <a:latin typeface="Avenir Next"/>
                <a:ea typeface="Avenir Next"/>
                <a:cs typeface="Avenir Next"/>
              </a:rPr>
              <a:t>Emergency</a:t>
            </a:r>
          </a:p>
        </p:txBody>
      </p:sp>
      <p:sp>
        <p:nvSpPr>
          <p:cNvPr id="8" name="">
            <a:extLst xmlns:a="http://schemas.openxmlformats.org/drawingml/2006/main">
              <a:ext uri="{FF2B5EF4-FFF2-40B4-BE49-F238E27FC236}">
                <a16:creationId xmlns:a16="http://schemas.microsoft.com/office/drawing/2014/main" id="{3C594E4A-81F8-4B58-94B4-B4B9EA2EE608}"/>
              </a:ext>
            </a:extLst>
          </p:cNvPr>
          <p:cNvSpPr>
            <a:spLocks xmlns:a="http://schemas.openxmlformats.org/drawingml/2006/main" noGrp="1"/>
          </p:cNvSpPr>
          <p:nvPr/>
        </p:nvSpPr>
        <p:spPr>
          <a:xfrm xmlns:a="http://schemas.openxmlformats.org/drawingml/2006/main">
            <a:off x="6858000" y="2952750"/>
            <a:ext cx="43815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i="0">
                <a:solidFill>
                  <a:srgbClr val="F4F1E8"/>
                </a:solidFill>
                <a:latin typeface="Avenir Next"/>
                <a:ea typeface="Avenir Next"/>
                <a:cs typeface="Avenir Next"/>
              </a:defRPr>
            </a:defPPr>
          </a:lstStyle>
          <a:p xmlns:a="http://schemas.openxmlformats.org/drawingml/2006/main">
            <a:pPr algn="l">
              <a:lnSpc>
                <a:spcPct val="102000"/>
              </a:lnSpc>
              <a:buNone/>
              <a:defRPr sz="2100" b="1" i="0">
                <a:solidFill>
                  <a:srgbClr val="F4F1E8"/>
                </a:solidFill>
                <a:latin typeface="Avenir Next"/>
                <a:ea typeface="Avenir Next"/>
                <a:cs typeface="Avenir Next"/>
              </a:defRPr>
            </a:pPr>
            <a:r>
              <a:rPr sz="2100" b="1" i="0">
                <a:solidFill>
                  <a:srgbClr val="F4F1E8"/>
                </a:solidFill>
                <a:latin typeface="Avenir Next"/>
                <a:ea typeface="Avenir Next"/>
                <a:cs typeface="Avenir Next"/>
              </a:rPr>
              <a:t>There is a medical crisis at home.</a:t>
            </a:r>
          </a:p>
          <a:p xmlns:a="http://schemas.openxmlformats.org/drawingml/2006/main">
            <a:pPr algn="l">
              <a:lnSpc>
                <a:spcPct val="102000"/>
              </a:lnSpc>
              <a:buNone/>
              <a:defRPr sz="2100" b="1" i="0">
                <a:solidFill>
                  <a:srgbClr val="F4F1E8"/>
                </a:solidFill>
                <a:latin typeface="Avenir Next"/>
                <a:ea typeface="Avenir Next"/>
                <a:cs typeface="Avenir Next"/>
              </a:defRPr>
            </a:pPr>
            <a:r>
              <a:rPr sz="2100" b="1" i="0">
                <a:solidFill>
                  <a:srgbClr val="F4F1E8"/>
                </a:solidFill>
                <a:latin typeface="Avenir Next"/>
                <a:ea typeface="Avenir Next"/>
                <a:cs typeface="Avenir Next"/>
              </a:rPr>
              <a:t>Would you choose a physician or an AI system?</a:t>
            </a:r>
          </a:p>
        </p:txBody>
      </p:sp>
      <p:sp>
        <p:nvSpPr>
          <p:cNvPr id="9" name="">
            <a:extLst xmlns:a="http://schemas.openxmlformats.org/drawingml/2006/main">
              <a:ext uri="{FF2B5EF4-FFF2-40B4-BE49-F238E27FC236}">
                <a16:creationId xmlns:a16="http://schemas.microsoft.com/office/drawing/2014/main" id="{36F5B8C4-8E16-4853-9B16-40503885E4AE}"/>
              </a:ext>
            </a:extLst>
          </p:cNvPr>
          <p:cNvSpPr>
            <a:spLocks xmlns:a="http://schemas.openxmlformats.org/drawingml/2006/main" noGrp="1"/>
          </p:cNvSpPr>
          <p:nvPr/>
        </p:nvSpPr>
        <p:spPr>
          <a:xfrm xmlns:a="http://schemas.openxmlformats.org/drawingml/2006/main">
            <a:off x="2133600" y="5676900"/>
            <a:ext cx="7924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i="0">
                <a:solidFill>
                  <a:srgbClr val="A8BAC8"/>
                </a:solidFill>
                <a:latin typeface="Avenir Next"/>
                <a:ea typeface="Avenir Next"/>
                <a:cs typeface="Avenir Next"/>
              </a:defRPr>
            </a:defPPr>
          </a:lstStyle>
          <a:p xmlns:a="http://schemas.openxmlformats.org/drawingml/2006/main">
            <a:pPr algn="ctr">
              <a:lnSpc>
                <a:spcPct val="100000"/>
              </a:lnSpc>
              <a:buNone/>
              <a:defRPr sz="2400" b="1" i="0">
                <a:solidFill>
                  <a:srgbClr val="A8BAC8"/>
                </a:solidFill>
                <a:latin typeface="Avenir Next"/>
                <a:ea typeface="Avenir Next"/>
                <a:cs typeface="Avenir Next"/>
              </a:defRPr>
            </a:pPr>
            <a:r>
              <a:rPr sz="2400" b="1" i="0">
                <a:solidFill>
                  <a:srgbClr val="A8BAC8"/>
                </a:solidFill>
                <a:latin typeface="Avenir Next"/>
                <a:ea typeface="Avenir Next"/>
                <a:cs typeface="Avenir Next"/>
              </a:rPr>
              <a:t>The right tool depends on the cost of error.</a:t>
            </a:r>
          </a:p>
        </p:txBody>
      </p:sp>
    </p:spTree>
    <p:extLst>
      <p:ext uri="{BB962C8B-B14F-4D97-AF65-F5344CB8AC3E}">
        <p14:creationId xmlns:p14="http://schemas.microsoft.com/office/powerpoint/2010/main" val="1193284109"/>
      </p:ext>
    </p:extLst>
  </p:cSld>
</p:sld>
</file>

<file path=ppt/slides/slide8.xml><?xml version="1.0" encoding="utf-8"?>
<p:sld xmlns:p="http://schemas.openxmlformats.org/presentationml/2006/main">
  <p:cSld>
    <p:bg>
      <p:bgPr>
        <a:solidFill xmlns:a="http://schemas.openxmlformats.org/drawingml/2006/main">
          <a:srgbClr val="0B1D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522D1B-90D8-4CE6-97DE-1C05040B364D}"/>
              </a:ext>
            </a:extLst>
          </p:cNvPr>
          <p:cNvSpPr>
            <a:spLocks xmlns:a="http://schemas.openxmlformats.org/drawingml/2006/main" noGrp="1"/>
          </p:cNvSpPr>
          <p:nvPr/>
        </p:nvSpPr>
        <p:spPr>
          <a:xfrm xmlns:a="http://schemas.openxmlformats.org/drawingml/2006/main">
            <a:off x="704850" y="1009650"/>
            <a:ext cx="1619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100" b="1" i="0">
                <a:solidFill>
                  <a:srgbClr val="FFB454"/>
                </a:solidFill>
                <a:latin typeface="Avenir Next"/>
                <a:ea typeface="Avenir Next"/>
                <a:cs typeface="Avenir Next"/>
              </a:defRPr>
            </a:defPPr>
          </a:lstStyle>
          <a:p xmlns:a="http://schemas.openxmlformats.org/drawingml/2006/main">
            <a:pPr algn="l">
              <a:lnSpc>
                <a:spcPct val="100000"/>
              </a:lnSpc>
              <a:buNone/>
              <a:defRPr sz="11100" b="1" i="0">
                <a:solidFill>
                  <a:srgbClr val="FFB454"/>
                </a:solidFill>
                <a:latin typeface="Avenir Next"/>
                <a:ea typeface="Avenir Next"/>
                <a:cs typeface="Avenir Next"/>
              </a:defRPr>
            </a:pPr>
            <a:r>
              <a:rPr sz="11100" b="1" i="0">
                <a:solidFill>
                  <a:srgbClr val="FFB454"/>
                </a:solidFill>
                <a:latin typeface="Avenir Next"/>
                <a:ea typeface="Avenir Next"/>
                <a:cs typeface="Avenir Next"/>
              </a:rPr>
              <a:t>2</a:t>
            </a:r>
          </a:p>
        </p:txBody>
      </p:sp>
      <p:sp>
        <p:nvSpPr>
          <p:cNvPr id="2" name="">
            <a:extLst xmlns:a="http://schemas.openxmlformats.org/drawingml/2006/main">
              <a:ext uri="{FF2B5EF4-FFF2-40B4-BE49-F238E27FC236}">
                <a16:creationId xmlns:a16="http://schemas.microsoft.com/office/drawing/2014/main" id="{D05FFCD5-2A6E-4938-8391-2BF2C27A1092}"/>
              </a:ext>
            </a:extLst>
          </p:cNvPr>
          <p:cNvSpPr>
            <a:spLocks xmlns:a="http://schemas.openxmlformats.org/drawingml/2006/main" noGrp="1"/>
          </p:cNvSpPr>
          <p:nvPr/>
        </p:nvSpPr>
        <p:spPr>
          <a:xfrm xmlns:a="http://schemas.openxmlformats.org/drawingml/2006/main">
            <a:off x="781050" y="28765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i="0">
                <a:solidFill>
                  <a:srgbClr val="A8BAC8"/>
                </a:solidFill>
                <a:latin typeface="Avenir Next"/>
                <a:ea typeface="Avenir Next"/>
                <a:cs typeface="Avenir Next"/>
              </a:defRPr>
            </a:defPPr>
          </a:lstStyle>
          <a:p xmlns:a="http://schemas.openxmlformats.org/drawingml/2006/main">
            <a:pPr algn="l">
              <a:lnSpc>
                <a:spcPct val="100000"/>
              </a:lnSpc>
              <a:buNone/>
              <a:defRPr sz="1350" b="1" i="0">
                <a:solidFill>
                  <a:srgbClr val="A8BAC8"/>
                </a:solidFill>
                <a:latin typeface="Avenir Next"/>
                <a:ea typeface="Avenir Next"/>
                <a:cs typeface="Avenir Next"/>
              </a:defRPr>
            </a:pPr>
            <a:r>
              <a:rPr sz="1350" b="1" i="0">
                <a:solidFill>
                  <a:srgbClr val="A8BAC8"/>
                </a:solidFill>
                <a:latin typeface="Avenir Next"/>
                <a:ea typeface="Avenir Next"/>
                <a:cs typeface="Avenir Next"/>
              </a:rPr>
              <a:t>LESSON TWO</a:t>
            </a:r>
          </a:p>
        </p:txBody>
      </p:sp>
      <p:sp>
        <p:nvSpPr>
          <p:cNvPr id="3" name="">
            <a:extLst xmlns:a="http://schemas.openxmlformats.org/drawingml/2006/main">
              <a:ext uri="{FF2B5EF4-FFF2-40B4-BE49-F238E27FC236}">
                <a16:creationId xmlns:a16="http://schemas.microsoft.com/office/drawing/2014/main" id="{D51E39A5-9765-46F8-9045-6A434F39C971}"/>
              </a:ext>
            </a:extLst>
          </p:cNvPr>
          <p:cNvSpPr>
            <a:spLocks xmlns:a="http://schemas.openxmlformats.org/drawingml/2006/main" noGrp="1"/>
          </p:cNvSpPr>
          <p:nvPr/>
        </p:nvSpPr>
        <p:spPr>
          <a:xfrm xmlns:a="http://schemas.openxmlformats.org/drawingml/2006/main">
            <a:off x="3143250" y="1200150"/>
            <a:ext cx="78105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i="0">
                <a:solidFill>
                  <a:srgbClr val="F4F1E8"/>
                </a:solidFill>
                <a:latin typeface="Avenir Next"/>
                <a:ea typeface="Avenir Next"/>
                <a:cs typeface="Avenir Next"/>
              </a:defRPr>
            </a:defPPr>
          </a:lstStyle>
          <a:p xmlns:a="http://schemas.openxmlformats.org/drawingml/2006/main">
            <a:pPr algn="l">
              <a:lnSpc>
                <a:spcPct val="94000"/>
              </a:lnSpc>
              <a:buNone/>
              <a:defRPr sz="4050" b="1" i="0">
                <a:solidFill>
                  <a:srgbClr val="F4F1E8"/>
                </a:solidFill>
                <a:latin typeface="Avenir Next"/>
                <a:ea typeface="Avenir Next"/>
                <a:cs typeface="Avenir Next"/>
              </a:defRPr>
            </a:pPr>
            <a:r>
              <a:rPr sz="4050" b="1" i="0">
                <a:solidFill>
                  <a:srgbClr val="F4F1E8"/>
                </a:solidFill>
                <a:latin typeface="Avenir Next"/>
                <a:ea typeface="Avenir Next"/>
                <a:cs typeface="Avenir Next"/>
              </a:rPr>
              <a:t>Choose the right tool</a:t>
            </a:r>
          </a:p>
          <a:p xmlns:a="http://schemas.openxmlformats.org/drawingml/2006/main">
            <a:pPr algn="l">
              <a:lnSpc>
                <a:spcPct val="94000"/>
              </a:lnSpc>
              <a:buNone/>
              <a:defRPr sz="4050" b="1" i="0">
                <a:solidFill>
                  <a:srgbClr val="F4F1E8"/>
                </a:solidFill>
                <a:latin typeface="Avenir Next"/>
                <a:ea typeface="Avenir Next"/>
                <a:cs typeface="Avenir Next"/>
              </a:defRPr>
            </a:pPr>
            <a:r>
              <a:rPr sz="4050" b="1" i="0">
                <a:solidFill>
                  <a:srgbClr val="F4F1E8"/>
                </a:solidFill>
                <a:latin typeface="Avenir Next"/>
                <a:ea typeface="Avenir Next"/>
                <a:cs typeface="Avenir Next"/>
              </a:rPr>
              <a:t>for the problem</a:t>
            </a:r>
          </a:p>
        </p:txBody>
      </p:sp>
      <p:sp>
        <p:nvSpPr>
          <p:cNvPr id="4" name="">
            <a:extLst xmlns:a="http://schemas.openxmlformats.org/drawingml/2006/main">
              <a:ext uri="{FF2B5EF4-FFF2-40B4-BE49-F238E27FC236}">
                <a16:creationId xmlns:a16="http://schemas.microsoft.com/office/drawing/2014/main" id="{95EFCDB1-C03C-41B1-AAA0-FEEA88AA2B23}"/>
              </a:ext>
            </a:extLst>
          </p:cNvPr>
          <p:cNvSpPr>
            <a:spLocks xmlns:a="http://schemas.openxmlformats.org/drawingml/2006/main" noGrp="1"/>
          </p:cNvSpPr>
          <p:nvPr/>
        </p:nvSpPr>
        <p:spPr>
          <a:xfrm xmlns:a="http://schemas.openxmlformats.org/drawingml/2006/main">
            <a:off x="3200400" y="3314700"/>
            <a:ext cx="695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i="0">
                <a:solidFill>
                  <a:srgbClr val="FFB454"/>
                </a:solidFill>
                <a:latin typeface="Avenir Next"/>
                <a:ea typeface="Avenir Next"/>
                <a:cs typeface="Avenir Next"/>
              </a:defRPr>
            </a:defPPr>
          </a:lstStyle>
          <a:p xmlns:a="http://schemas.openxmlformats.org/drawingml/2006/main">
            <a:pPr algn="l">
              <a:lnSpc>
                <a:spcPct val="100000"/>
              </a:lnSpc>
              <a:buNone/>
              <a:defRPr sz="2250" b="1" i="0">
                <a:solidFill>
                  <a:srgbClr val="FFB454"/>
                </a:solidFill>
                <a:latin typeface="Avenir Next"/>
                <a:ea typeface="Avenir Next"/>
                <a:cs typeface="Avenir Next"/>
              </a:defRPr>
            </a:pPr>
            <a:r>
              <a:rPr sz="2250" b="1" i="0">
                <a:solidFill>
                  <a:srgbClr val="FFB454"/>
                </a:solidFill>
                <a:latin typeface="Avenir Next"/>
                <a:ea typeface="Avenir Next"/>
                <a:cs typeface="Avenir Next"/>
              </a:rPr>
              <a:t>Problem structure determines the method.</a:t>
            </a:r>
          </a:p>
        </p:txBody>
      </p:sp>
      <p:sp>
        <p:nvSpPr>
          <p:cNvPr id="5" name="">
            <a:extLst xmlns:a="http://schemas.openxmlformats.org/drawingml/2006/main">
              <a:ext uri="{FF2B5EF4-FFF2-40B4-BE49-F238E27FC236}">
                <a16:creationId xmlns:a16="http://schemas.microsoft.com/office/drawing/2014/main" id="{588BAFF6-204E-49AA-9D7D-3BDF1933EDAA}"/>
              </a:ext>
            </a:extLst>
          </p:cNvPr>
          <p:cNvSpPr>
            <a:spLocks xmlns:a="http://schemas.openxmlformats.org/drawingml/2006/main" noGrp="1"/>
          </p:cNvSpPr>
          <p:nvPr/>
        </p:nvSpPr>
        <p:spPr>
          <a:xfrm xmlns:a="http://schemas.openxmlformats.org/drawingml/2006/main">
            <a:off x="3200400" y="4171950"/>
            <a:ext cx="723900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20D2EC1-E69D-4DE8-8622-282D85A8A4BD}"/>
              </a:ext>
            </a:extLst>
          </p:cNvPr>
          <p:cNvSpPr>
            <a:spLocks xmlns:a="http://schemas.openxmlformats.org/drawingml/2006/main" noGrp="1"/>
          </p:cNvSpPr>
          <p:nvPr/>
        </p:nvSpPr>
        <p:spPr>
          <a:xfrm xmlns:a="http://schemas.openxmlformats.org/drawingml/2006/main">
            <a:off x="3200400" y="4533900"/>
            <a:ext cx="7524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i="0">
                <a:solidFill>
                  <a:srgbClr val="A8BAC8"/>
                </a:solidFill>
                <a:latin typeface="Avenir Next"/>
                <a:ea typeface="Avenir Next"/>
                <a:cs typeface="Avenir Next"/>
              </a:defRPr>
            </a:defPPr>
          </a:lstStyle>
          <a:p xmlns:a="http://schemas.openxmlformats.org/drawingml/2006/main">
            <a:pPr algn="l">
              <a:lnSpc>
                <a:spcPct val="104000"/>
              </a:lnSpc>
              <a:buNone/>
              <a:defRPr sz="1875" b="0" i="0">
                <a:solidFill>
                  <a:srgbClr val="A8BAC8"/>
                </a:solidFill>
                <a:latin typeface="Avenir Next"/>
                <a:ea typeface="Avenir Next"/>
                <a:cs typeface="Avenir Next"/>
              </a:defRPr>
            </a:pPr>
            <a:r>
              <a:rPr sz="1875" b="0" i="0">
                <a:solidFill>
                  <a:srgbClr val="A8BAC8"/>
                </a:solidFill>
                <a:latin typeface="Avenir Next"/>
                <a:ea typeface="Avenir Next"/>
                <a:cs typeface="Avenir Next"/>
              </a:rPr>
              <a:t>Language models support language tasks and code. Constraint solvers protect hard rules. Evolutionary methods explore large search spaces.</a:t>
            </a:r>
          </a:p>
        </p:txBody>
      </p:sp>
    </p:spTree>
    <p:extLst>
      <p:ext uri="{BB962C8B-B14F-4D97-AF65-F5344CB8AC3E}">
        <p14:creationId xmlns:p14="http://schemas.microsoft.com/office/powerpoint/2010/main" val="667916147"/>
      </p:ext>
    </p:extLst>
  </p:cSld>
</p:sld>
</file>

<file path=ppt/slides/slide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D2E4A51-13B9-436B-BA5B-F1CF9D5F4C17}"/>
              </a:ext>
            </a:extLst>
          </p:cNvPr>
          <p:cNvSpPr>
            <a:spLocks xmlns:a="http://schemas.openxmlformats.org/drawingml/2006/main" noGrp="1"/>
          </p:cNvSpPr>
          <p:nvPr/>
        </p:nvSpPr>
        <p:spPr>
          <a:xfrm xmlns:a="http://schemas.openxmlformats.org/drawingml/2006/main">
            <a:off x="685800" y="495300"/>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i="0">
                <a:solidFill>
                  <a:srgbClr val="10202C"/>
                </a:solidFill>
                <a:latin typeface="Avenir Next"/>
                <a:ea typeface="Avenir Next"/>
                <a:cs typeface="Avenir Next"/>
              </a:defRPr>
            </a:defPPr>
          </a:lstStyle>
          <a:p xmlns:a="http://schemas.openxmlformats.org/drawingml/2006/main">
            <a:pPr algn="l">
              <a:lnSpc>
                <a:spcPct val="100000"/>
              </a:lnSpc>
              <a:buNone/>
              <a:defRPr sz="3300" b="1" i="0">
                <a:solidFill>
                  <a:srgbClr val="10202C"/>
                </a:solidFill>
                <a:latin typeface="Avenir Next"/>
                <a:ea typeface="Avenir Next"/>
                <a:cs typeface="Avenir Next"/>
              </a:defRPr>
            </a:pPr>
            <a:r>
              <a:rPr sz="3300" b="1" i="0">
                <a:solidFill>
                  <a:srgbClr val="10202C"/>
                </a:solidFill>
                <a:latin typeface="Avenir Next"/>
                <a:ea typeface="Avenir Next"/>
                <a:cs typeface="Avenir Next"/>
              </a:rPr>
              <a:t>Exam scheduling is a constraint problem</a:t>
            </a:r>
          </a:p>
        </p:txBody>
      </p:sp>
      <p:sp>
        <p:nvSpPr>
          <p:cNvPr id="2" name="">
            <a:extLst xmlns:a="http://schemas.openxmlformats.org/drawingml/2006/main">
              <a:ext uri="{FF2B5EF4-FFF2-40B4-BE49-F238E27FC236}">
                <a16:creationId xmlns:a16="http://schemas.microsoft.com/office/drawing/2014/main" id="{37CEB19A-FB2B-4349-96DE-838750C1DF18}"/>
              </a:ext>
            </a:extLst>
          </p:cNvPr>
          <p:cNvSpPr>
            <a:spLocks xmlns:a="http://schemas.openxmlformats.org/drawingml/2006/main" noGrp="1"/>
          </p:cNvSpPr>
          <p:nvPr/>
        </p:nvSpPr>
        <p:spPr>
          <a:xfrm xmlns:a="http://schemas.openxmlformats.org/drawingml/2006/main">
            <a:off x="685800" y="1295400"/>
            <a:ext cx="857250" cy="38100"/>
          </a:xfrm>
          <a:prstGeom xmlns:a="http://schemas.openxmlformats.org/drawingml/2006/main" prst="rect">
            <a:avLst/>
          </a:prstGeom>
          <a:solidFill xmlns:a="http://schemas.openxmlformats.org/drawingml/2006/main">
            <a:srgbClr val="5B8C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624A5E2-44B0-40A3-BC8B-4A9C5C50AC2E}"/>
              </a:ext>
            </a:extLst>
          </p:cNvPr>
          <p:cNvSpPr>
            <a:spLocks xmlns:a="http://schemas.openxmlformats.org/drawingml/2006/main" noGrp="1"/>
          </p:cNvSpPr>
          <p:nvPr/>
        </p:nvSpPr>
        <p:spPr>
          <a:xfrm xmlns:a="http://schemas.openxmlformats.org/drawingml/2006/main">
            <a:off x="723900" y="1847850"/>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750" b="1" i="0">
                <a:solidFill>
                  <a:srgbClr val="5B8CFF"/>
                </a:solidFill>
                <a:latin typeface="Avenir Next"/>
                <a:ea typeface="Avenir Next"/>
                <a:cs typeface="Avenir Next"/>
              </a:defRPr>
            </a:defPPr>
          </a:lstStyle>
          <a:p xmlns:a="http://schemas.openxmlformats.org/drawingml/2006/main">
            <a:pPr algn="ctr">
              <a:lnSpc>
                <a:spcPct val="100000"/>
              </a:lnSpc>
              <a:buNone/>
              <a:defRPr sz="3750" b="1" i="0">
                <a:solidFill>
                  <a:srgbClr val="5B8CFF"/>
                </a:solidFill>
                <a:latin typeface="Avenir Next"/>
                <a:ea typeface="Avenir Next"/>
                <a:cs typeface="Avenir Next"/>
              </a:defRPr>
            </a:pPr>
            <a:r>
              <a:rPr sz="3750" b="1" i="0">
                <a:solidFill>
                  <a:srgbClr val="5B8CFF"/>
                </a:solidFill>
                <a:latin typeface="Avenir Next"/>
                <a:ea typeface="Avenir Next"/>
                <a:cs typeface="Avenir Next"/>
              </a:rPr>
              <a:t>10,000</a:t>
            </a:r>
          </a:p>
        </p:txBody>
      </p:sp>
      <p:sp>
        <p:nvSpPr>
          <p:cNvPr id="4" name="">
            <a:extLst xmlns:a="http://schemas.openxmlformats.org/drawingml/2006/main">
              <a:ext uri="{FF2B5EF4-FFF2-40B4-BE49-F238E27FC236}">
                <a16:creationId xmlns:a16="http://schemas.microsoft.com/office/drawing/2014/main" id="{50D3ED88-AE26-44F6-88A0-2A50ADA62998}"/>
              </a:ext>
            </a:extLst>
          </p:cNvPr>
          <p:cNvSpPr>
            <a:spLocks xmlns:a="http://schemas.openxmlformats.org/drawingml/2006/main" noGrp="1"/>
          </p:cNvSpPr>
          <p:nvPr/>
        </p:nvSpPr>
        <p:spPr>
          <a:xfrm xmlns:a="http://schemas.openxmlformats.org/drawingml/2006/main">
            <a:off x="723900" y="26289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i="0">
                <a:solidFill>
                  <a:srgbClr val="536B79"/>
                </a:solidFill>
                <a:latin typeface="Avenir Next"/>
                <a:ea typeface="Avenir Next"/>
                <a:cs typeface="Avenir Next"/>
              </a:defRPr>
            </a:defPPr>
          </a:lstStyle>
          <a:p xmlns:a="http://schemas.openxmlformats.org/drawingml/2006/main">
            <a:pPr algn="ctr">
              <a:lnSpc>
                <a:spcPct val="100000"/>
              </a:lnSpc>
              <a:buNone/>
              <a:defRPr sz="1500" b="0" i="0">
                <a:solidFill>
                  <a:srgbClr val="536B79"/>
                </a:solidFill>
                <a:latin typeface="Avenir Next"/>
                <a:ea typeface="Avenir Next"/>
                <a:cs typeface="Avenir Next"/>
              </a:defRPr>
            </a:pPr>
            <a:r>
              <a:rPr sz="1500" b="0" i="0">
                <a:solidFill>
                  <a:srgbClr val="536B79"/>
                </a:solidFill>
                <a:latin typeface="Avenir Next"/>
                <a:ea typeface="Avenir Next"/>
                <a:cs typeface="Avenir Next"/>
              </a:rPr>
              <a:t>students</a:t>
            </a:r>
          </a:p>
        </p:txBody>
      </p:sp>
      <p:sp>
        <p:nvSpPr>
          <p:cNvPr id="5" name="">
            <a:extLst xmlns:a="http://schemas.openxmlformats.org/drawingml/2006/main">
              <a:ext uri="{FF2B5EF4-FFF2-40B4-BE49-F238E27FC236}">
                <a16:creationId xmlns:a16="http://schemas.microsoft.com/office/drawing/2014/main" id="{12C34CBA-539A-4403-A6DF-0D9993DFCFBC}"/>
              </a:ext>
            </a:extLst>
          </p:cNvPr>
          <p:cNvSpPr>
            <a:spLocks xmlns:a="http://schemas.openxmlformats.org/drawingml/2006/main" noGrp="1"/>
          </p:cNvSpPr>
          <p:nvPr/>
        </p:nvSpPr>
        <p:spPr>
          <a:xfrm xmlns:a="http://schemas.openxmlformats.org/drawingml/2006/main">
            <a:off x="3448050" y="1847850"/>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750" b="1" i="0">
                <a:solidFill>
                  <a:srgbClr val="5B8CFF"/>
                </a:solidFill>
                <a:latin typeface="Avenir Next"/>
                <a:ea typeface="Avenir Next"/>
                <a:cs typeface="Avenir Next"/>
              </a:defRPr>
            </a:defPPr>
          </a:lstStyle>
          <a:p xmlns:a="http://schemas.openxmlformats.org/drawingml/2006/main">
            <a:pPr algn="ctr">
              <a:lnSpc>
                <a:spcPct val="100000"/>
              </a:lnSpc>
              <a:buNone/>
              <a:defRPr sz="3750" b="1" i="0">
                <a:solidFill>
                  <a:srgbClr val="5B8CFF"/>
                </a:solidFill>
                <a:latin typeface="Avenir Next"/>
                <a:ea typeface="Avenir Next"/>
                <a:cs typeface="Avenir Next"/>
              </a:defRPr>
            </a:pPr>
            <a:r>
              <a:rPr sz="3750" b="1" i="0">
                <a:solidFill>
                  <a:srgbClr val="5B8CFF"/>
                </a:solidFill>
                <a:latin typeface="Avenir Next"/>
                <a:ea typeface="Avenir Next"/>
                <a:cs typeface="Avenir Next"/>
              </a:rPr>
              <a:t>800</a:t>
            </a:r>
          </a:p>
        </p:txBody>
      </p:sp>
      <p:sp>
        <p:nvSpPr>
          <p:cNvPr id="6" name="">
            <a:extLst xmlns:a="http://schemas.openxmlformats.org/drawingml/2006/main">
              <a:ext uri="{FF2B5EF4-FFF2-40B4-BE49-F238E27FC236}">
                <a16:creationId xmlns:a16="http://schemas.microsoft.com/office/drawing/2014/main" id="{27B82B3C-639A-4D35-9ED1-91D0BC2BCE44}"/>
              </a:ext>
            </a:extLst>
          </p:cNvPr>
          <p:cNvSpPr>
            <a:spLocks xmlns:a="http://schemas.openxmlformats.org/drawingml/2006/main" noGrp="1"/>
          </p:cNvSpPr>
          <p:nvPr/>
        </p:nvSpPr>
        <p:spPr>
          <a:xfrm xmlns:a="http://schemas.openxmlformats.org/drawingml/2006/main">
            <a:off x="3448050" y="26289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i="0">
                <a:solidFill>
                  <a:srgbClr val="536B79"/>
                </a:solidFill>
                <a:latin typeface="Avenir Next"/>
                <a:ea typeface="Avenir Next"/>
                <a:cs typeface="Avenir Next"/>
              </a:defRPr>
            </a:defPPr>
          </a:lstStyle>
          <a:p xmlns:a="http://schemas.openxmlformats.org/drawingml/2006/main">
            <a:pPr algn="ctr">
              <a:lnSpc>
                <a:spcPct val="100000"/>
              </a:lnSpc>
              <a:buNone/>
              <a:defRPr sz="1500" b="0" i="0">
                <a:solidFill>
                  <a:srgbClr val="536B79"/>
                </a:solidFill>
                <a:latin typeface="Avenir Next"/>
                <a:ea typeface="Avenir Next"/>
                <a:cs typeface="Avenir Next"/>
              </a:defRPr>
            </a:pPr>
            <a:r>
              <a:rPr sz="1500" b="0" i="0">
                <a:solidFill>
                  <a:srgbClr val="536B79"/>
                </a:solidFill>
                <a:latin typeface="Avenir Next"/>
                <a:ea typeface="Avenir Next"/>
                <a:cs typeface="Avenir Next"/>
              </a:rPr>
              <a:t>courses</a:t>
            </a:r>
          </a:p>
        </p:txBody>
      </p:sp>
      <p:sp>
        <p:nvSpPr>
          <p:cNvPr id="7" name="">
            <a:extLst xmlns:a="http://schemas.openxmlformats.org/drawingml/2006/main">
              <a:ext uri="{FF2B5EF4-FFF2-40B4-BE49-F238E27FC236}">
                <a16:creationId xmlns:a16="http://schemas.microsoft.com/office/drawing/2014/main" id="{42084F9E-2840-4CE8-AB0D-8DEAE867BD46}"/>
              </a:ext>
            </a:extLst>
          </p:cNvPr>
          <p:cNvSpPr>
            <a:spLocks xmlns:a="http://schemas.openxmlformats.org/drawingml/2006/main" noGrp="1"/>
          </p:cNvSpPr>
          <p:nvPr/>
        </p:nvSpPr>
        <p:spPr>
          <a:xfrm xmlns:a="http://schemas.openxmlformats.org/drawingml/2006/main">
            <a:off x="6172200" y="1847850"/>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750" b="1" i="0">
                <a:solidFill>
                  <a:srgbClr val="5B8CFF"/>
                </a:solidFill>
                <a:latin typeface="Avenir Next"/>
                <a:ea typeface="Avenir Next"/>
                <a:cs typeface="Avenir Next"/>
              </a:defRPr>
            </a:defPPr>
          </a:lstStyle>
          <a:p xmlns:a="http://schemas.openxmlformats.org/drawingml/2006/main">
            <a:pPr algn="ctr">
              <a:lnSpc>
                <a:spcPct val="100000"/>
              </a:lnSpc>
              <a:buNone/>
              <a:defRPr sz="3750" b="1" i="0">
                <a:solidFill>
                  <a:srgbClr val="5B8CFF"/>
                </a:solidFill>
                <a:latin typeface="Avenir Next"/>
                <a:ea typeface="Avenir Next"/>
                <a:cs typeface="Avenir Next"/>
              </a:defRPr>
            </a:pPr>
            <a:r>
              <a:rPr sz="3750" b="1" i="0">
                <a:solidFill>
                  <a:srgbClr val="5B8CFF"/>
                </a:solidFill>
                <a:latin typeface="Avenir Next"/>
                <a:ea typeface="Avenir Next"/>
                <a:cs typeface="Avenir Next"/>
              </a:rPr>
              <a:t>50</a:t>
            </a:r>
          </a:p>
        </p:txBody>
      </p:sp>
      <p:sp>
        <p:nvSpPr>
          <p:cNvPr id="8" name="">
            <a:extLst xmlns:a="http://schemas.openxmlformats.org/drawingml/2006/main">
              <a:ext uri="{FF2B5EF4-FFF2-40B4-BE49-F238E27FC236}">
                <a16:creationId xmlns:a16="http://schemas.microsoft.com/office/drawing/2014/main" id="{7F98CF9A-AE86-4F47-B48A-8C4C18469045}"/>
              </a:ext>
            </a:extLst>
          </p:cNvPr>
          <p:cNvSpPr>
            <a:spLocks xmlns:a="http://schemas.openxmlformats.org/drawingml/2006/main" noGrp="1"/>
          </p:cNvSpPr>
          <p:nvPr/>
        </p:nvSpPr>
        <p:spPr>
          <a:xfrm xmlns:a="http://schemas.openxmlformats.org/drawingml/2006/main">
            <a:off x="6172200" y="26289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i="0">
                <a:solidFill>
                  <a:srgbClr val="536B79"/>
                </a:solidFill>
                <a:latin typeface="Avenir Next"/>
                <a:ea typeface="Avenir Next"/>
                <a:cs typeface="Avenir Next"/>
              </a:defRPr>
            </a:defPPr>
          </a:lstStyle>
          <a:p xmlns:a="http://schemas.openxmlformats.org/drawingml/2006/main">
            <a:pPr algn="ctr">
              <a:lnSpc>
                <a:spcPct val="100000"/>
              </a:lnSpc>
              <a:buNone/>
              <a:defRPr sz="1500" b="0" i="0">
                <a:solidFill>
                  <a:srgbClr val="536B79"/>
                </a:solidFill>
                <a:latin typeface="Avenir Next"/>
                <a:ea typeface="Avenir Next"/>
                <a:cs typeface="Avenir Next"/>
              </a:defRPr>
            </a:pPr>
            <a:r>
              <a:rPr sz="1500" b="0" i="0">
                <a:solidFill>
                  <a:srgbClr val="536B79"/>
                </a:solidFill>
                <a:latin typeface="Avenir Next"/>
                <a:ea typeface="Avenir Next"/>
                <a:cs typeface="Avenir Next"/>
              </a:rPr>
              <a:t>rooms</a:t>
            </a:r>
          </a:p>
        </p:txBody>
      </p:sp>
      <p:sp>
        <p:nvSpPr>
          <p:cNvPr id="9" name="">
            <a:extLst xmlns:a="http://schemas.openxmlformats.org/drawingml/2006/main">
              <a:ext uri="{FF2B5EF4-FFF2-40B4-BE49-F238E27FC236}">
                <a16:creationId xmlns:a16="http://schemas.microsoft.com/office/drawing/2014/main" id="{BCC6DBCF-9F85-4E4E-B2C6-910ACCBEA138}"/>
              </a:ext>
            </a:extLst>
          </p:cNvPr>
          <p:cNvSpPr>
            <a:spLocks xmlns:a="http://schemas.openxmlformats.org/drawingml/2006/main" noGrp="1"/>
          </p:cNvSpPr>
          <p:nvPr/>
        </p:nvSpPr>
        <p:spPr>
          <a:xfrm xmlns:a="http://schemas.openxmlformats.org/drawingml/2006/main">
            <a:off x="8896350" y="1847850"/>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750" b="1" i="0">
                <a:solidFill>
                  <a:srgbClr val="FF7A70"/>
                </a:solidFill>
                <a:latin typeface="Avenir Next"/>
                <a:ea typeface="Avenir Next"/>
                <a:cs typeface="Avenir Next"/>
              </a:defRPr>
            </a:defPPr>
          </a:lstStyle>
          <a:p xmlns:a="http://schemas.openxmlformats.org/drawingml/2006/main">
            <a:pPr algn="ctr">
              <a:lnSpc>
                <a:spcPct val="100000"/>
              </a:lnSpc>
              <a:buNone/>
              <a:defRPr sz="3750" b="1" i="0">
                <a:solidFill>
                  <a:srgbClr val="FF7A70"/>
                </a:solidFill>
                <a:latin typeface="Avenir Next"/>
                <a:ea typeface="Avenir Next"/>
                <a:cs typeface="Avenir Next"/>
              </a:defRPr>
            </a:pPr>
            <a:r>
              <a:rPr sz="3750" b="1" i="0">
                <a:solidFill>
                  <a:srgbClr val="FF7A70"/>
                </a:solidFill>
                <a:latin typeface="Avenir Next"/>
                <a:ea typeface="Avenir Next"/>
                <a:cs typeface="Avenir Next"/>
              </a:rPr>
              <a:t>14</a:t>
            </a:r>
          </a:p>
        </p:txBody>
      </p:sp>
      <p:sp>
        <p:nvSpPr>
          <p:cNvPr id="10" name="">
            <a:extLst xmlns:a="http://schemas.openxmlformats.org/drawingml/2006/main">
              <a:ext uri="{FF2B5EF4-FFF2-40B4-BE49-F238E27FC236}">
                <a16:creationId xmlns:a16="http://schemas.microsoft.com/office/drawing/2014/main" id="{736BCDB8-3577-4E1F-B585-6FC097CEC512}"/>
              </a:ext>
            </a:extLst>
          </p:cNvPr>
          <p:cNvSpPr>
            <a:spLocks xmlns:a="http://schemas.openxmlformats.org/drawingml/2006/main" noGrp="1"/>
          </p:cNvSpPr>
          <p:nvPr/>
        </p:nvSpPr>
        <p:spPr>
          <a:xfrm xmlns:a="http://schemas.openxmlformats.org/drawingml/2006/main">
            <a:off x="8896350" y="26289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i="0">
                <a:solidFill>
                  <a:srgbClr val="536B79"/>
                </a:solidFill>
                <a:latin typeface="Avenir Next"/>
                <a:ea typeface="Avenir Next"/>
                <a:cs typeface="Avenir Next"/>
              </a:defRPr>
            </a:defPPr>
          </a:lstStyle>
          <a:p xmlns:a="http://schemas.openxmlformats.org/drawingml/2006/main">
            <a:pPr algn="ctr">
              <a:lnSpc>
                <a:spcPct val="100000"/>
              </a:lnSpc>
              <a:buNone/>
              <a:defRPr sz="1500" b="0" i="0">
                <a:solidFill>
                  <a:srgbClr val="536B79"/>
                </a:solidFill>
                <a:latin typeface="Avenir Next"/>
                <a:ea typeface="Avenir Next"/>
                <a:cs typeface="Avenir Next"/>
              </a:defRPr>
            </a:pPr>
            <a:r>
              <a:rPr sz="1500" b="0" i="0">
                <a:solidFill>
                  <a:srgbClr val="536B79"/>
                </a:solidFill>
                <a:latin typeface="Avenir Next"/>
                <a:ea typeface="Avenir Next"/>
                <a:cs typeface="Avenir Next"/>
              </a:rPr>
              <a:t>days</a:t>
            </a:r>
          </a:p>
        </p:txBody>
      </p:sp>
      <p:sp>
        <p:nvSpPr>
          <p:cNvPr id="11" name="">
            <a:extLst xmlns:a="http://schemas.openxmlformats.org/drawingml/2006/main">
              <a:ext uri="{FF2B5EF4-FFF2-40B4-BE49-F238E27FC236}">
                <a16:creationId xmlns:a16="http://schemas.microsoft.com/office/drawing/2014/main" id="{7785F51A-35B9-4D12-8CC6-640E398BB3A3}"/>
              </a:ext>
            </a:extLst>
          </p:cNvPr>
          <p:cNvSpPr>
            <a:spLocks xmlns:a="http://schemas.openxmlformats.org/drawingml/2006/main" noGrp="1"/>
          </p:cNvSpPr>
          <p:nvPr/>
        </p:nvSpPr>
        <p:spPr>
          <a:xfrm xmlns:a="http://schemas.openxmlformats.org/drawingml/2006/main">
            <a:off x="781050" y="34290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i="0">
                <a:solidFill>
                  <a:srgbClr val="FF7A70"/>
                </a:solidFill>
                <a:latin typeface="Avenir Next"/>
                <a:ea typeface="Avenir Next"/>
                <a:cs typeface="Avenir Next"/>
              </a:defRPr>
            </a:defPPr>
          </a:lstStyle>
          <a:p xmlns:a="http://schemas.openxmlformats.org/drawingml/2006/main">
            <a:pPr algn="l">
              <a:lnSpc>
                <a:spcPct val="100000"/>
              </a:lnSpc>
              <a:buNone/>
              <a:defRPr sz="1575" b="1" i="0">
                <a:solidFill>
                  <a:srgbClr val="FF7A70"/>
                </a:solidFill>
                <a:latin typeface="Avenir Next"/>
                <a:ea typeface="Avenir Next"/>
                <a:cs typeface="Avenir Next"/>
              </a:defRPr>
            </a:pPr>
            <a:r>
              <a:rPr sz="1575" b="1" i="0">
                <a:solidFill>
                  <a:srgbClr val="FF7A70"/>
                </a:solidFill>
                <a:latin typeface="Avenir Next"/>
                <a:ea typeface="Avenir Next"/>
                <a:cs typeface="Avenir Next"/>
              </a:rPr>
              <a:t>One hard rule</a:t>
            </a:r>
          </a:p>
        </p:txBody>
      </p:sp>
      <p:sp>
        <p:nvSpPr>
          <p:cNvPr id="12" name="">
            <a:extLst xmlns:a="http://schemas.openxmlformats.org/drawingml/2006/main">
              <a:ext uri="{FF2B5EF4-FFF2-40B4-BE49-F238E27FC236}">
                <a16:creationId xmlns:a16="http://schemas.microsoft.com/office/drawing/2014/main" id="{2013C6F7-1DF8-4FF0-A8D0-6CACBAF4E992}"/>
              </a:ext>
            </a:extLst>
          </p:cNvPr>
          <p:cNvSpPr>
            <a:spLocks xmlns:a="http://schemas.openxmlformats.org/drawingml/2006/main" noGrp="1"/>
          </p:cNvSpPr>
          <p:nvPr/>
        </p:nvSpPr>
        <p:spPr>
          <a:xfrm xmlns:a="http://schemas.openxmlformats.org/drawingml/2006/main">
            <a:off x="2952750" y="3333750"/>
            <a:ext cx="7620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i="0">
                <a:solidFill>
                  <a:srgbClr val="10202C"/>
                </a:solidFill>
                <a:latin typeface="Avenir Next"/>
                <a:ea typeface="Avenir Next"/>
                <a:cs typeface="Avenir Next"/>
              </a:defRPr>
            </a:defPPr>
          </a:lstStyle>
          <a:p xmlns:a="http://schemas.openxmlformats.org/drawingml/2006/main">
            <a:pPr algn="l">
              <a:lnSpc>
                <a:spcPct val="100000"/>
              </a:lnSpc>
              <a:buNone/>
              <a:defRPr sz="2250" b="1" i="0">
                <a:solidFill>
                  <a:srgbClr val="10202C"/>
                </a:solidFill>
                <a:latin typeface="Avenir Next"/>
                <a:ea typeface="Avenir Next"/>
                <a:cs typeface="Avenir Next"/>
              </a:defRPr>
            </a:pPr>
            <a:r>
              <a:rPr sz="2250" b="1" i="0">
                <a:solidFill>
                  <a:srgbClr val="10202C"/>
                </a:solidFill>
                <a:latin typeface="Avenir Next"/>
                <a:ea typeface="Avenir Next"/>
                <a:cs typeface="Avenir Next"/>
              </a:rPr>
              <a:t>No student can sit two exams at the same time.</a:t>
            </a:r>
          </a:p>
        </p:txBody>
      </p:sp>
      <p:sp>
        <p:nvSpPr>
          <p:cNvPr id="13" name="">
            <a:extLst xmlns:a="http://schemas.openxmlformats.org/drawingml/2006/main">
              <a:ext uri="{FF2B5EF4-FFF2-40B4-BE49-F238E27FC236}">
                <a16:creationId xmlns:a16="http://schemas.microsoft.com/office/drawing/2014/main" id="{42469A4D-B023-4D29-BD6D-822975561EA1}"/>
              </a:ext>
            </a:extLst>
          </p:cNvPr>
          <p:cNvSpPr>
            <a:spLocks xmlns:a="http://schemas.openxmlformats.org/drawingml/2006/main" noGrp="1"/>
          </p:cNvSpPr>
          <p:nvPr/>
        </p:nvSpPr>
        <p:spPr>
          <a:xfrm xmlns:a="http://schemas.openxmlformats.org/drawingml/2006/main">
            <a:off x="781050" y="4267200"/>
            <a:ext cx="10572750" cy="19050"/>
          </a:xfrm>
          <a:prstGeom xmlns:a="http://schemas.openxmlformats.org/drawingml/2006/main" prst="rect">
            <a:avLst/>
          </a:prstGeom>
          <a:solidFill xmlns:a="http://schemas.openxmlformats.org/drawingml/2006/main">
            <a:srgbClr val="CFD9D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23C09A1-A69A-4A1A-87E7-C7A09192C312}"/>
              </a:ext>
            </a:extLst>
          </p:cNvPr>
          <p:cNvSpPr>
            <a:spLocks xmlns:a="http://schemas.openxmlformats.org/drawingml/2006/main" noGrp="1"/>
          </p:cNvSpPr>
          <p:nvPr/>
        </p:nvSpPr>
        <p:spPr>
          <a:xfrm xmlns:a="http://schemas.openxmlformats.org/drawingml/2006/main">
            <a:off x="800100" y="468630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i="0">
                <a:solidFill>
                  <a:srgbClr val="5B8CFF"/>
                </a:solidFill>
                <a:latin typeface="Avenir Next"/>
                <a:ea typeface="Avenir Next"/>
                <a:cs typeface="Avenir Next"/>
              </a:defRPr>
            </a:defPPr>
          </a:lstStyle>
          <a:p xmlns:a="http://schemas.openxmlformats.org/drawingml/2006/main">
            <a:pPr algn="l">
              <a:lnSpc>
                <a:spcPct val="100000"/>
              </a:lnSpc>
              <a:buNone/>
              <a:defRPr sz="1800" b="1" i="0">
                <a:solidFill>
                  <a:srgbClr val="5B8CFF"/>
                </a:solidFill>
                <a:latin typeface="Avenir Next"/>
                <a:ea typeface="Avenir Next"/>
                <a:cs typeface="Avenir Next"/>
              </a:defRPr>
            </a:pPr>
            <a:r>
              <a:rPr sz="1800" b="1" i="0">
                <a:solidFill>
                  <a:srgbClr val="5B8CFF"/>
                </a:solidFill>
                <a:latin typeface="Avenir Next"/>
                <a:ea typeface="Avenir Next"/>
                <a:cs typeface="Avenir Next"/>
              </a:rPr>
              <a:t>Language model</a:t>
            </a:r>
          </a:p>
        </p:txBody>
      </p:sp>
      <p:sp>
        <p:nvSpPr>
          <p:cNvPr id="15" name="">
            <a:extLst xmlns:a="http://schemas.openxmlformats.org/drawingml/2006/main">
              <a:ext uri="{FF2B5EF4-FFF2-40B4-BE49-F238E27FC236}">
                <a16:creationId xmlns:a16="http://schemas.microsoft.com/office/drawing/2014/main" id="{6B54AB8C-28C6-4C02-A1C5-B1BAA5D548F5}"/>
              </a:ext>
            </a:extLst>
          </p:cNvPr>
          <p:cNvSpPr>
            <a:spLocks xmlns:a="http://schemas.openxmlformats.org/drawingml/2006/main" noGrp="1"/>
          </p:cNvSpPr>
          <p:nvPr/>
        </p:nvSpPr>
        <p:spPr>
          <a:xfrm xmlns:a="http://schemas.openxmlformats.org/drawingml/2006/main">
            <a:off x="800100" y="5181600"/>
            <a:ext cx="4286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536B79"/>
                </a:solidFill>
                <a:latin typeface="Avenir Next"/>
                <a:ea typeface="Avenir Next"/>
                <a:cs typeface="Avenir Next"/>
              </a:defRPr>
            </a:defPPr>
          </a:lstStyle>
          <a:p xmlns:a="http://schemas.openxmlformats.org/drawingml/2006/main">
            <a:pPr algn="l">
              <a:lnSpc>
                <a:spcPct val="100000"/>
              </a:lnSpc>
              <a:buNone/>
              <a:defRPr sz="1650" b="0" i="0">
                <a:solidFill>
                  <a:srgbClr val="536B79"/>
                </a:solidFill>
                <a:latin typeface="Avenir Next"/>
                <a:ea typeface="Avenir Next"/>
                <a:cs typeface="Avenir Next"/>
              </a:defRPr>
            </a:pPr>
            <a:r>
              <a:rPr sz="1650" b="0" i="0">
                <a:solidFill>
                  <a:srgbClr val="536B79"/>
                </a:solidFill>
                <a:latin typeface="Avenir Next"/>
                <a:ea typeface="Avenir Next"/>
                <a:cs typeface="Avenir Next"/>
              </a:rPr>
              <a:t>Helps write and explain the solution code</a:t>
            </a:r>
          </a:p>
        </p:txBody>
      </p:sp>
      <p:sp>
        <p:nvSpPr>
          <p:cNvPr id="16" name="">
            <a:extLst xmlns:a="http://schemas.openxmlformats.org/drawingml/2006/main">
              <a:ext uri="{FF2B5EF4-FFF2-40B4-BE49-F238E27FC236}">
                <a16:creationId xmlns:a16="http://schemas.microsoft.com/office/drawing/2014/main" id="{F3D91F10-943A-4F5C-8B24-4039BBFA4D9B}"/>
              </a:ext>
            </a:extLst>
          </p:cNvPr>
          <p:cNvSpPr>
            <a:spLocks xmlns:a="http://schemas.openxmlformats.org/drawingml/2006/main" noGrp="1"/>
          </p:cNvSpPr>
          <p:nvPr/>
        </p:nvSpPr>
        <p:spPr>
          <a:xfrm xmlns:a="http://schemas.openxmlformats.org/drawingml/2006/main">
            <a:off x="6477000" y="46863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i="0">
                <a:solidFill>
                  <a:srgbClr val="FF7A70"/>
                </a:solidFill>
                <a:latin typeface="Avenir Next"/>
                <a:ea typeface="Avenir Next"/>
                <a:cs typeface="Avenir Next"/>
              </a:defRPr>
            </a:defPPr>
          </a:lstStyle>
          <a:p xmlns:a="http://schemas.openxmlformats.org/drawingml/2006/main">
            <a:pPr algn="l">
              <a:lnSpc>
                <a:spcPct val="100000"/>
              </a:lnSpc>
              <a:buNone/>
              <a:defRPr sz="1800" b="1" i="0">
                <a:solidFill>
                  <a:srgbClr val="FF7A70"/>
                </a:solidFill>
                <a:latin typeface="Avenir Next"/>
                <a:ea typeface="Avenir Next"/>
                <a:cs typeface="Avenir Next"/>
              </a:defRPr>
            </a:pPr>
            <a:r>
              <a:rPr sz="1800" b="1" i="0">
                <a:solidFill>
                  <a:srgbClr val="FF7A70"/>
                </a:solidFill>
                <a:latin typeface="Avenir Next"/>
                <a:ea typeface="Avenir Next"/>
                <a:cs typeface="Avenir Next"/>
              </a:rPr>
              <a:t>Optimization solver</a:t>
            </a:r>
          </a:p>
        </p:txBody>
      </p:sp>
      <p:sp>
        <p:nvSpPr>
          <p:cNvPr id="17" name="">
            <a:extLst xmlns:a="http://schemas.openxmlformats.org/drawingml/2006/main">
              <a:ext uri="{FF2B5EF4-FFF2-40B4-BE49-F238E27FC236}">
                <a16:creationId xmlns:a16="http://schemas.microsoft.com/office/drawing/2014/main" id="{D2E671D2-08BB-4B4C-8F32-7C19C355A79F}"/>
              </a:ext>
            </a:extLst>
          </p:cNvPr>
          <p:cNvSpPr>
            <a:spLocks xmlns:a="http://schemas.openxmlformats.org/drawingml/2006/main" noGrp="1"/>
          </p:cNvSpPr>
          <p:nvPr/>
        </p:nvSpPr>
        <p:spPr>
          <a:xfrm xmlns:a="http://schemas.openxmlformats.org/drawingml/2006/main">
            <a:off x="6477000" y="5181600"/>
            <a:ext cx="4762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536B79"/>
                </a:solidFill>
                <a:latin typeface="Avenir Next"/>
                <a:ea typeface="Avenir Next"/>
                <a:cs typeface="Avenir Next"/>
              </a:defRPr>
            </a:defPPr>
          </a:lstStyle>
          <a:p xmlns:a="http://schemas.openxmlformats.org/drawingml/2006/main">
            <a:pPr algn="l">
              <a:lnSpc>
                <a:spcPct val="100000"/>
              </a:lnSpc>
              <a:buNone/>
              <a:defRPr sz="1650" b="0" i="0">
                <a:solidFill>
                  <a:srgbClr val="536B79"/>
                </a:solidFill>
                <a:latin typeface="Avenir Next"/>
                <a:ea typeface="Avenir Next"/>
                <a:cs typeface="Avenir Next"/>
              </a:defRPr>
            </a:pPr>
            <a:r>
              <a:rPr sz="1650" b="0" i="0">
                <a:solidFill>
                  <a:srgbClr val="536B79"/>
                </a:solidFill>
                <a:latin typeface="Avenir Next"/>
                <a:ea typeface="Avenir Next"/>
                <a:cs typeface="Avenir Next"/>
              </a:rPr>
              <a:t>Searches possibilities while enforcing constraints</a:t>
            </a:r>
          </a:p>
        </p:txBody>
      </p:sp>
    </p:spTree>
    <p:extLst>
      <p:ext uri="{BB962C8B-B14F-4D97-AF65-F5344CB8AC3E}">
        <p14:creationId xmlns:p14="http://schemas.microsoft.com/office/powerpoint/2010/main" val="266408413"/>
      </p:ext>
    </p:extLst>
  </p:cSld>
</p:sld>
</file>

<file path=ppt/slides/slide10.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44A33FF-EFAC-40BE-BDA1-EE6A24A19CEA}"/>
              </a:ext>
            </a:extLst>
          </p:cNvPr>
          <p:cNvSpPr>
            <a:spLocks xmlns:a="http://schemas.openxmlformats.org/drawingml/2006/main" noGrp="1"/>
          </p:cNvSpPr>
          <p:nvPr/>
        </p:nvSpPr>
        <p:spPr>
          <a:xfrm xmlns:a="http://schemas.openxmlformats.org/drawingml/2006/main">
            <a:off x="685800" y="5143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i="0">
                <a:solidFill>
                  <a:srgbClr val="F4F1E8"/>
                </a:solidFill>
                <a:latin typeface="Avenir Next"/>
                <a:ea typeface="Avenir Next"/>
                <a:cs typeface="Avenir Next"/>
              </a:defRPr>
            </a:defPPr>
          </a:lstStyle>
          <a:p xmlns:a="http://schemas.openxmlformats.org/drawingml/2006/main">
            <a:pPr algn="l">
              <a:lnSpc>
                <a:spcPct val="100000"/>
              </a:lnSpc>
              <a:buNone/>
              <a:defRPr sz="3300" b="1" i="0">
                <a:solidFill>
                  <a:srgbClr val="F4F1E8"/>
                </a:solidFill>
                <a:latin typeface="Avenir Next"/>
                <a:ea typeface="Avenir Next"/>
                <a:cs typeface="Avenir Next"/>
              </a:defRPr>
            </a:pPr>
            <a:r>
              <a:rPr sz="3300" b="1" i="0">
                <a:solidFill>
                  <a:srgbClr val="F4F1E8"/>
                </a:solidFill>
                <a:latin typeface="Avenir Next"/>
                <a:ea typeface="Avenir Next"/>
                <a:cs typeface="Avenir Next"/>
              </a:rPr>
              <a:t>The engineer’s AI toolbox</a:t>
            </a:r>
          </a:p>
        </p:txBody>
      </p:sp>
      <p:sp>
        <p:nvSpPr>
          <p:cNvPr id="2" name="">
            <a:extLst xmlns:a="http://schemas.openxmlformats.org/drawingml/2006/main">
              <a:ext uri="{FF2B5EF4-FFF2-40B4-BE49-F238E27FC236}">
                <a16:creationId xmlns:a16="http://schemas.microsoft.com/office/drawing/2014/main" id="{FB32C8E7-F70A-4237-B3FE-80B89D252302}"/>
              </a:ext>
            </a:extLst>
          </p:cNvPr>
          <p:cNvSpPr>
            <a:spLocks xmlns:a="http://schemas.openxmlformats.org/drawingml/2006/main" noGrp="1"/>
          </p:cNvSpPr>
          <p:nvPr/>
        </p:nvSpPr>
        <p:spPr>
          <a:xfrm xmlns:a="http://schemas.openxmlformats.org/drawingml/2006/main">
            <a:off x="685800" y="1257300"/>
            <a:ext cx="857250" cy="38100"/>
          </a:xfrm>
          <a:prstGeom xmlns:a="http://schemas.openxmlformats.org/drawingml/2006/main" prst="rect">
            <a:avLst/>
          </a:prstGeom>
          <a:solidFill xmlns:a="http://schemas.openxmlformats.org/drawingml/2006/main">
            <a:srgbClr val="55D6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B727822-8104-4C08-88C5-F5AB283018AD}"/>
              </a:ext>
            </a:extLst>
          </p:cNvPr>
          <p:cNvSpPr>
            <a:spLocks xmlns:a="http://schemas.openxmlformats.org/drawingml/2006/main" noGrp="1"/>
          </p:cNvSpPr>
          <p:nvPr/>
        </p:nvSpPr>
        <p:spPr>
          <a:xfrm xmlns:a="http://schemas.openxmlformats.org/drawingml/2006/main">
            <a:off x="1752600" y="1095375"/>
            <a:ext cx="933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A8BAC8"/>
                </a:solidFill>
                <a:latin typeface="Avenir Next"/>
                <a:ea typeface="Avenir Next"/>
                <a:cs typeface="Avenir Next"/>
              </a:defRPr>
            </a:defPPr>
          </a:lstStyle>
          <a:p xmlns:a="http://schemas.openxmlformats.org/drawingml/2006/main">
            <a:pPr algn="l">
              <a:lnSpc>
                <a:spcPct val="100000"/>
              </a:lnSpc>
              <a:buNone/>
              <a:defRPr sz="1500" b="0" i="0">
                <a:solidFill>
                  <a:srgbClr val="A8BAC8"/>
                </a:solidFill>
                <a:latin typeface="Avenir Next"/>
                <a:ea typeface="Avenir Next"/>
                <a:cs typeface="Avenir Next"/>
              </a:defRPr>
            </a:pPr>
            <a:r>
              <a:rPr sz="1500" b="0" i="0">
                <a:solidFill>
                  <a:srgbClr val="A8BAC8"/>
                </a:solidFill>
                <a:latin typeface="Avenir Next"/>
                <a:ea typeface="Avenir Next"/>
                <a:cs typeface="Avenir Next"/>
              </a:rPr>
              <a:t>Problem structure determines the method</a:t>
            </a:r>
          </a:p>
        </p:txBody>
      </p:sp>
      <p:sp>
        <p:nvSpPr>
          <p:cNvPr id="4" name="">
            <a:extLst xmlns:a="http://schemas.openxmlformats.org/drawingml/2006/main">
              <a:ext uri="{FF2B5EF4-FFF2-40B4-BE49-F238E27FC236}">
                <a16:creationId xmlns:a16="http://schemas.microsoft.com/office/drawing/2014/main" id="{49029195-2848-4340-904A-C4B827399C76}"/>
              </a:ext>
            </a:extLst>
          </p:cNvPr>
          <p:cNvSpPr>
            <a:spLocks xmlns:a="http://schemas.openxmlformats.org/drawingml/2006/main" noGrp="1"/>
          </p:cNvSpPr>
          <p:nvPr/>
        </p:nvSpPr>
        <p:spPr>
          <a:xfrm xmlns:a="http://schemas.openxmlformats.org/drawingml/2006/main">
            <a:off x="800100" y="18669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i="0">
                <a:solidFill>
                  <a:srgbClr val="5B8CFF"/>
                </a:solidFill>
                <a:latin typeface="Avenir Next"/>
                <a:ea typeface="Avenir Next"/>
                <a:cs typeface="Avenir Next"/>
              </a:defRPr>
            </a:defPPr>
          </a:lstStyle>
          <a:p xmlns:a="http://schemas.openxmlformats.org/drawingml/2006/main">
            <a:pPr algn="l">
              <a:lnSpc>
                <a:spcPct val="100000"/>
              </a:lnSpc>
              <a:buNone/>
              <a:defRPr sz="2025" b="1" i="0">
                <a:solidFill>
                  <a:srgbClr val="5B8CFF"/>
                </a:solidFill>
                <a:latin typeface="Avenir Next"/>
                <a:ea typeface="Avenir Next"/>
                <a:cs typeface="Avenir Next"/>
              </a:defRPr>
            </a:pPr>
            <a:r>
              <a:rPr sz="2025" b="1" i="0">
                <a:solidFill>
                  <a:srgbClr val="5B8CFF"/>
                </a:solidFill>
                <a:latin typeface="Avenir Next"/>
                <a:ea typeface="Avenir Next"/>
                <a:cs typeface="Avenir Next"/>
              </a:rPr>
              <a:t>Language models</a:t>
            </a:r>
          </a:p>
        </p:txBody>
      </p:sp>
      <p:sp>
        <p:nvSpPr>
          <p:cNvPr id="5" name="">
            <a:extLst xmlns:a="http://schemas.openxmlformats.org/drawingml/2006/main">
              <a:ext uri="{FF2B5EF4-FFF2-40B4-BE49-F238E27FC236}">
                <a16:creationId xmlns:a16="http://schemas.microsoft.com/office/drawing/2014/main" id="{893C964C-03AD-4CB4-8ED5-6FD07D0A058F}"/>
              </a:ext>
            </a:extLst>
          </p:cNvPr>
          <p:cNvSpPr>
            <a:spLocks xmlns:a="http://schemas.openxmlformats.org/drawingml/2006/main" noGrp="1"/>
          </p:cNvSpPr>
          <p:nvPr/>
        </p:nvSpPr>
        <p:spPr>
          <a:xfrm xmlns:a="http://schemas.openxmlformats.org/drawingml/2006/main">
            <a:off x="4476750" y="1895475"/>
            <a:ext cx="676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F4F1E8"/>
                </a:solidFill>
                <a:latin typeface="Avenir Next"/>
                <a:ea typeface="Avenir Next"/>
                <a:cs typeface="Avenir Next"/>
              </a:defRPr>
            </a:defPPr>
          </a:lstStyle>
          <a:p xmlns:a="http://schemas.openxmlformats.org/drawingml/2006/main">
            <a:pPr algn="l">
              <a:lnSpc>
                <a:spcPct val="100000"/>
              </a:lnSpc>
              <a:buNone/>
              <a:defRPr sz="1725" b="0" i="0">
                <a:solidFill>
                  <a:srgbClr val="F4F1E8"/>
                </a:solidFill>
                <a:latin typeface="Avenir Next"/>
                <a:ea typeface="Avenir Next"/>
                <a:cs typeface="Avenir Next"/>
              </a:defRPr>
            </a:pPr>
            <a:r>
              <a:rPr sz="1725" b="0" i="0">
                <a:solidFill>
                  <a:srgbClr val="F4F1E8"/>
                </a:solidFill>
                <a:latin typeface="Avenir Next"/>
                <a:ea typeface="Avenir Next"/>
                <a:cs typeface="Avenir Next"/>
              </a:rPr>
              <a:t>Language, summarization, drafting, code assistance</a:t>
            </a:r>
          </a:p>
        </p:txBody>
      </p:sp>
      <p:sp>
        <p:nvSpPr>
          <p:cNvPr id="6" name="">
            <a:extLst xmlns:a="http://schemas.openxmlformats.org/drawingml/2006/main">
              <a:ext uri="{FF2B5EF4-FFF2-40B4-BE49-F238E27FC236}">
                <a16:creationId xmlns:a16="http://schemas.microsoft.com/office/drawing/2014/main" id="{2E3B053C-EDFD-41D0-9A1A-9495FF99B49D}"/>
              </a:ext>
            </a:extLst>
          </p:cNvPr>
          <p:cNvSpPr>
            <a:spLocks xmlns:a="http://schemas.openxmlformats.org/drawingml/2006/main" noGrp="1"/>
          </p:cNvSpPr>
          <p:nvPr/>
        </p:nvSpPr>
        <p:spPr>
          <a:xfrm xmlns:a="http://schemas.openxmlformats.org/drawingml/2006/main">
            <a:off x="800100" y="2571750"/>
            <a:ext cx="1043940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B66161F-F6F0-4DDB-BA27-2B604533094B}"/>
              </a:ext>
            </a:extLst>
          </p:cNvPr>
          <p:cNvSpPr>
            <a:spLocks xmlns:a="http://schemas.openxmlformats.org/drawingml/2006/main" noGrp="1"/>
          </p:cNvSpPr>
          <p:nvPr/>
        </p:nvSpPr>
        <p:spPr>
          <a:xfrm xmlns:a="http://schemas.openxmlformats.org/drawingml/2006/main">
            <a:off x="800100" y="28575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i="0">
                <a:solidFill>
                  <a:srgbClr val="FF7A70"/>
                </a:solidFill>
                <a:latin typeface="Avenir Next"/>
                <a:ea typeface="Avenir Next"/>
                <a:cs typeface="Avenir Next"/>
              </a:defRPr>
            </a:defPPr>
          </a:lstStyle>
          <a:p xmlns:a="http://schemas.openxmlformats.org/drawingml/2006/main">
            <a:pPr algn="l">
              <a:lnSpc>
                <a:spcPct val="100000"/>
              </a:lnSpc>
              <a:buNone/>
              <a:defRPr sz="2025" b="1" i="0">
                <a:solidFill>
                  <a:srgbClr val="FF7A70"/>
                </a:solidFill>
                <a:latin typeface="Avenir Next"/>
                <a:ea typeface="Avenir Next"/>
                <a:cs typeface="Avenir Next"/>
              </a:defRPr>
            </a:pPr>
            <a:r>
              <a:rPr sz="2025" b="1" i="0">
                <a:solidFill>
                  <a:srgbClr val="FF7A70"/>
                </a:solidFill>
                <a:latin typeface="Avenir Next"/>
                <a:ea typeface="Avenir Next"/>
                <a:cs typeface="Avenir Next"/>
              </a:rPr>
              <a:t>Constraint solvers</a:t>
            </a:r>
          </a:p>
        </p:txBody>
      </p:sp>
      <p:sp>
        <p:nvSpPr>
          <p:cNvPr id="8" name="">
            <a:extLst xmlns:a="http://schemas.openxmlformats.org/drawingml/2006/main">
              <a:ext uri="{FF2B5EF4-FFF2-40B4-BE49-F238E27FC236}">
                <a16:creationId xmlns:a16="http://schemas.microsoft.com/office/drawing/2014/main" id="{94DA35F8-A105-4713-92D9-99BAAE72A33B}"/>
              </a:ext>
            </a:extLst>
          </p:cNvPr>
          <p:cNvSpPr>
            <a:spLocks xmlns:a="http://schemas.openxmlformats.org/drawingml/2006/main" noGrp="1"/>
          </p:cNvSpPr>
          <p:nvPr/>
        </p:nvSpPr>
        <p:spPr>
          <a:xfrm xmlns:a="http://schemas.openxmlformats.org/drawingml/2006/main">
            <a:off x="4476750" y="2886075"/>
            <a:ext cx="676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F4F1E8"/>
                </a:solidFill>
                <a:latin typeface="Avenir Next"/>
                <a:ea typeface="Avenir Next"/>
                <a:cs typeface="Avenir Next"/>
              </a:defRPr>
            </a:defPPr>
          </a:lstStyle>
          <a:p xmlns:a="http://schemas.openxmlformats.org/drawingml/2006/main">
            <a:pPr algn="l">
              <a:lnSpc>
                <a:spcPct val="100000"/>
              </a:lnSpc>
              <a:buNone/>
              <a:defRPr sz="1725" b="0" i="0">
                <a:solidFill>
                  <a:srgbClr val="F4F1E8"/>
                </a:solidFill>
                <a:latin typeface="Avenir Next"/>
                <a:ea typeface="Avenir Next"/>
                <a:cs typeface="Avenir Next"/>
              </a:defRPr>
            </a:pPr>
            <a:r>
              <a:rPr sz="1725" b="0" i="0">
                <a:solidFill>
                  <a:srgbClr val="F4F1E8"/>
                </a:solidFill>
                <a:latin typeface="Avenir Next"/>
                <a:ea typeface="Avenir Next"/>
                <a:cs typeface="Avenir Next"/>
              </a:rPr>
              <a:t>Hard rules, feasibility, timetables, assignment</a:t>
            </a:r>
          </a:p>
        </p:txBody>
      </p:sp>
      <p:sp>
        <p:nvSpPr>
          <p:cNvPr id="9" name="">
            <a:extLst xmlns:a="http://schemas.openxmlformats.org/drawingml/2006/main">
              <a:ext uri="{FF2B5EF4-FFF2-40B4-BE49-F238E27FC236}">
                <a16:creationId xmlns:a16="http://schemas.microsoft.com/office/drawing/2014/main" id="{85885DF0-E8F2-4583-ABFA-42A7496982A9}"/>
              </a:ext>
            </a:extLst>
          </p:cNvPr>
          <p:cNvSpPr>
            <a:spLocks xmlns:a="http://schemas.openxmlformats.org/drawingml/2006/main" noGrp="1"/>
          </p:cNvSpPr>
          <p:nvPr/>
        </p:nvSpPr>
        <p:spPr>
          <a:xfrm xmlns:a="http://schemas.openxmlformats.org/drawingml/2006/main">
            <a:off x="800100" y="3562350"/>
            <a:ext cx="1043940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04A2BB3-92B5-4DDD-8781-B4E5C70D549A}"/>
              </a:ext>
            </a:extLst>
          </p:cNvPr>
          <p:cNvSpPr>
            <a:spLocks xmlns:a="http://schemas.openxmlformats.org/drawingml/2006/main" noGrp="1"/>
          </p:cNvSpPr>
          <p:nvPr/>
        </p:nvSpPr>
        <p:spPr>
          <a:xfrm xmlns:a="http://schemas.openxmlformats.org/drawingml/2006/main">
            <a:off x="800100" y="38481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i="0">
                <a:solidFill>
                  <a:srgbClr val="FFB454"/>
                </a:solidFill>
                <a:latin typeface="Avenir Next"/>
                <a:ea typeface="Avenir Next"/>
                <a:cs typeface="Avenir Next"/>
              </a:defRPr>
            </a:defPPr>
          </a:lstStyle>
          <a:p xmlns:a="http://schemas.openxmlformats.org/drawingml/2006/main">
            <a:pPr algn="l">
              <a:lnSpc>
                <a:spcPct val="100000"/>
              </a:lnSpc>
              <a:buNone/>
              <a:defRPr sz="2025" b="1" i="0">
                <a:solidFill>
                  <a:srgbClr val="FFB454"/>
                </a:solidFill>
                <a:latin typeface="Avenir Next"/>
                <a:ea typeface="Avenir Next"/>
                <a:cs typeface="Avenir Next"/>
              </a:defRPr>
            </a:pPr>
            <a:r>
              <a:rPr sz="2025" b="1" i="0">
                <a:solidFill>
                  <a:srgbClr val="FFB454"/>
                </a:solidFill>
                <a:latin typeface="Avenir Next"/>
                <a:ea typeface="Avenir Next"/>
                <a:cs typeface="Avenir Next"/>
              </a:rPr>
              <a:t>Evolutionary algorithms</a:t>
            </a:r>
          </a:p>
        </p:txBody>
      </p:sp>
      <p:sp>
        <p:nvSpPr>
          <p:cNvPr id="11" name="">
            <a:extLst xmlns:a="http://schemas.openxmlformats.org/drawingml/2006/main">
              <a:ext uri="{FF2B5EF4-FFF2-40B4-BE49-F238E27FC236}">
                <a16:creationId xmlns:a16="http://schemas.microsoft.com/office/drawing/2014/main" id="{5C07D240-D337-45E5-AB1F-6FF60D826BCA}"/>
              </a:ext>
            </a:extLst>
          </p:cNvPr>
          <p:cNvSpPr>
            <a:spLocks xmlns:a="http://schemas.openxmlformats.org/drawingml/2006/main" noGrp="1"/>
          </p:cNvSpPr>
          <p:nvPr/>
        </p:nvSpPr>
        <p:spPr>
          <a:xfrm xmlns:a="http://schemas.openxmlformats.org/drawingml/2006/main">
            <a:off x="4476750" y="3876675"/>
            <a:ext cx="676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F4F1E8"/>
                </a:solidFill>
                <a:latin typeface="Avenir Next"/>
                <a:ea typeface="Avenir Next"/>
                <a:cs typeface="Avenir Next"/>
              </a:defRPr>
            </a:defPPr>
          </a:lstStyle>
          <a:p xmlns:a="http://schemas.openxmlformats.org/drawingml/2006/main">
            <a:pPr algn="l">
              <a:lnSpc>
                <a:spcPct val="100000"/>
              </a:lnSpc>
              <a:buNone/>
              <a:defRPr sz="1725" b="0" i="0">
                <a:solidFill>
                  <a:srgbClr val="F4F1E8"/>
                </a:solidFill>
                <a:latin typeface="Avenir Next"/>
                <a:ea typeface="Avenir Next"/>
                <a:cs typeface="Avenir Next"/>
              </a:defRPr>
            </a:pPr>
            <a:r>
              <a:rPr sz="1725" b="0" i="0">
                <a:solidFill>
                  <a:srgbClr val="F4F1E8"/>
                </a:solidFill>
                <a:latin typeface="Avenir Next"/>
                <a:ea typeface="Avenir Next"/>
                <a:cs typeface="Avenir Next"/>
              </a:rPr>
              <a:t>Large search spaces with competing objectives</a:t>
            </a:r>
          </a:p>
        </p:txBody>
      </p:sp>
      <p:sp>
        <p:nvSpPr>
          <p:cNvPr id="12" name="">
            <a:extLst xmlns:a="http://schemas.openxmlformats.org/drawingml/2006/main">
              <a:ext uri="{FF2B5EF4-FFF2-40B4-BE49-F238E27FC236}">
                <a16:creationId xmlns:a16="http://schemas.microsoft.com/office/drawing/2014/main" id="{8FEA109F-32C6-4B2B-9A90-3CAF6BD96FCC}"/>
              </a:ext>
            </a:extLst>
          </p:cNvPr>
          <p:cNvSpPr>
            <a:spLocks xmlns:a="http://schemas.openxmlformats.org/drawingml/2006/main" noGrp="1"/>
          </p:cNvSpPr>
          <p:nvPr/>
        </p:nvSpPr>
        <p:spPr>
          <a:xfrm xmlns:a="http://schemas.openxmlformats.org/drawingml/2006/main">
            <a:off x="800100" y="4552950"/>
            <a:ext cx="1043940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F966128-07AC-43BA-A679-3A7F42BAA939}"/>
              </a:ext>
            </a:extLst>
          </p:cNvPr>
          <p:cNvSpPr>
            <a:spLocks xmlns:a="http://schemas.openxmlformats.org/drawingml/2006/main" noGrp="1"/>
          </p:cNvSpPr>
          <p:nvPr/>
        </p:nvSpPr>
        <p:spPr>
          <a:xfrm xmlns:a="http://schemas.openxmlformats.org/drawingml/2006/main">
            <a:off x="800100" y="48387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i="0">
                <a:solidFill>
                  <a:srgbClr val="55D6D2"/>
                </a:solidFill>
                <a:latin typeface="Avenir Next"/>
                <a:ea typeface="Avenir Next"/>
                <a:cs typeface="Avenir Next"/>
              </a:defRPr>
            </a:defPPr>
          </a:lstStyle>
          <a:p xmlns:a="http://schemas.openxmlformats.org/drawingml/2006/main">
            <a:pPr algn="l">
              <a:lnSpc>
                <a:spcPct val="100000"/>
              </a:lnSpc>
              <a:buNone/>
              <a:defRPr sz="2025" b="1" i="0">
                <a:solidFill>
                  <a:srgbClr val="55D6D2"/>
                </a:solidFill>
                <a:latin typeface="Avenir Next"/>
                <a:ea typeface="Avenir Next"/>
                <a:cs typeface="Avenir Next"/>
              </a:defRPr>
            </a:pPr>
            <a:r>
              <a:rPr sz="2025" b="1" i="0">
                <a:solidFill>
                  <a:srgbClr val="55D6D2"/>
                </a:solidFill>
                <a:latin typeface="Avenir Next"/>
                <a:ea typeface="Avenir Next"/>
                <a:cs typeface="Avenir Next"/>
              </a:rPr>
              <a:t>Simulation</a:t>
            </a:r>
          </a:p>
        </p:txBody>
      </p:sp>
      <p:sp>
        <p:nvSpPr>
          <p:cNvPr id="14" name="">
            <a:extLst xmlns:a="http://schemas.openxmlformats.org/drawingml/2006/main">
              <a:ext uri="{FF2B5EF4-FFF2-40B4-BE49-F238E27FC236}">
                <a16:creationId xmlns:a16="http://schemas.microsoft.com/office/drawing/2014/main" id="{AD06DE1A-295B-4EB0-AAA7-3935D64431DF}"/>
              </a:ext>
            </a:extLst>
          </p:cNvPr>
          <p:cNvSpPr>
            <a:spLocks xmlns:a="http://schemas.openxmlformats.org/drawingml/2006/main" noGrp="1"/>
          </p:cNvSpPr>
          <p:nvPr/>
        </p:nvSpPr>
        <p:spPr>
          <a:xfrm xmlns:a="http://schemas.openxmlformats.org/drawingml/2006/main">
            <a:off x="4476750" y="4867275"/>
            <a:ext cx="676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F4F1E8"/>
                </a:solidFill>
                <a:latin typeface="Avenir Next"/>
                <a:ea typeface="Avenir Next"/>
                <a:cs typeface="Avenir Next"/>
              </a:defRPr>
            </a:defPPr>
          </a:lstStyle>
          <a:p xmlns:a="http://schemas.openxmlformats.org/drawingml/2006/main">
            <a:pPr algn="l">
              <a:lnSpc>
                <a:spcPct val="100000"/>
              </a:lnSpc>
              <a:buNone/>
              <a:defRPr sz="1725" b="0" i="0">
                <a:solidFill>
                  <a:srgbClr val="F4F1E8"/>
                </a:solidFill>
                <a:latin typeface="Avenir Next"/>
                <a:ea typeface="Avenir Next"/>
                <a:cs typeface="Avenir Next"/>
              </a:defRPr>
            </a:pPr>
            <a:r>
              <a:rPr sz="1725" b="0" i="0">
                <a:solidFill>
                  <a:srgbClr val="F4F1E8"/>
                </a:solidFill>
                <a:latin typeface="Avenir Next"/>
                <a:ea typeface="Avenir Next"/>
                <a:cs typeface="Avenir Next"/>
              </a:rPr>
              <a:t>Testing behavior before building physical systems</a:t>
            </a:r>
          </a:p>
        </p:txBody>
      </p:sp>
      <p:sp>
        <p:nvSpPr>
          <p:cNvPr id="15" name="">
            <a:extLst xmlns:a="http://schemas.openxmlformats.org/drawingml/2006/main">
              <a:ext uri="{FF2B5EF4-FFF2-40B4-BE49-F238E27FC236}">
                <a16:creationId xmlns:a16="http://schemas.microsoft.com/office/drawing/2014/main" id="{87E8C55B-BE69-4B63-B0C1-33B09CF91785}"/>
              </a:ext>
            </a:extLst>
          </p:cNvPr>
          <p:cNvSpPr>
            <a:spLocks xmlns:a="http://schemas.openxmlformats.org/drawingml/2006/main" noGrp="1"/>
          </p:cNvSpPr>
          <p:nvPr/>
        </p:nvSpPr>
        <p:spPr>
          <a:xfrm xmlns:a="http://schemas.openxmlformats.org/drawingml/2006/main">
            <a:off x="800100" y="5543550"/>
            <a:ext cx="1043940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2740472-0FD2-4B40-AEB4-6BC237F19F22}"/>
              </a:ext>
            </a:extLst>
          </p:cNvPr>
          <p:cNvSpPr>
            <a:spLocks xmlns:a="http://schemas.openxmlformats.org/drawingml/2006/main" noGrp="1"/>
          </p:cNvSpPr>
          <p:nvPr/>
        </p:nvSpPr>
        <p:spPr>
          <a:xfrm xmlns:a="http://schemas.openxmlformats.org/drawingml/2006/main">
            <a:off x="2095500" y="5981700"/>
            <a:ext cx="800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i="0">
                <a:solidFill>
                  <a:srgbClr val="A8BAC8"/>
                </a:solidFill>
                <a:latin typeface="Avenir Next"/>
                <a:ea typeface="Avenir Next"/>
                <a:cs typeface="Avenir Next"/>
              </a:defRPr>
            </a:defPPr>
          </a:lstStyle>
          <a:p xmlns:a="http://schemas.openxmlformats.org/drawingml/2006/main">
            <a:pPr algn="ctr">
              <a:lnSpc>
                <a:spcPct val="100000"/>
              </a:lnSpc>
              <a:buNone/>
              <a:defRPr sz="2025" b="1" i="0">
                <a:solidFill>
                  <a:srgbClr val="A8BAC8"/>
                </a:solidFill>
                <a:latin typeface="Avenir Next"/>
                <a:ea typeface="Avenir Next"/>
                <a:cs typeface="Avenir Next"/>
              </a:defRPr>
            </a:pPr>
            <a:r>
              <a:rPr sz="2025" b="1" i="0">
                <a:solidFill>
                  <a:srgbClr val="A8BAC8"/>
                </a:solidFill>
                <a:latin typeface="Avenir Next"/>
                <a:ea typeface="Avenir Next"/>
                <a:cs typeface="Avenir Next"/>
              </a:rPr>
              <a:t>Engineering judgment begins before the prompt.</a:t>
            </a:r>
          </a:p>
        </p:txBody>
      </p:sp>
    </p:spTree>
    <p:extLst>
      <p:ext uri="{BB962C8B-B14F-4D97-AF65-F5344CB8AC3E}">
        <p14:creationId xmlns:p14="http://schemas.microsoft.com/office/powerpoint/2010/main" val="901895227"/>
      </p:ext>
    </p:extLst>
  </p:cSld>
</p:sld>
</file>

<file path=ppt/slides/slide11.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97BE825-F919-4C4C-A9A0-E5EE9414235B}"/>
              </a:ext>
            </a:extLst>
          </p:cNvPr>
          <p:cNvSpPr>
            <a:spLocks xmlns:a="http://schemas.openxmlformats.org/drawingml/2006/main" noGrp="1"/>
          </p:cNvSpPr>
          <p:nvPr/>
        </p:nvSpPr>
        <p:spPr>
          <a:xfrm xmlns:a="http://schemas.openxmlformats.org/drawingml/2006/main">
            <a:off x="685800" y="5143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i="0">
                <a:solidFill>
                  <a:srgbClr val="F4F1E8"/>
                </a:solidFill>
                <a:latin typeface="Avenir Next"/>
                <a:ea typeface="Avenir Next"/>
                <a:cs typeface="Avenir Next"/>
              </a:defRPr>
            </a:defPPr>
          </a:lstStyle>
          <a:p xmlns:a="http://schemas.openxmlformats.org/drawingml/2006/main">
            <a:pPr algn="l">
              <a:lnSpc>
                <a:spcPct val="100000"/>
              </a:lnSpc>
              <a:buNone/>
              <a:defRPr sz="3300" b="1" i="0">
                <a:solidFill>
                  <a:srgbClr val="F4F1E8"/>
                </a:solidFill>
                <a:latin typeface="Avenir Next"/>
                <a:ea typeface="Avenir Next"/>
                <a:cs typeface="Avenir Next"/>
              </a:defRPr>
            </a:pPr>
            <a:r>
              <a:rPr sz="3300" b="1" i="0">
                <a:solidFill>
                  <a:srgbClr val="F4F1E8"/>
                </a:solidFill>
                <a:latin typeface="Avenir Next"/>
                <a:ea typeface="Avenir Next"/>
                <a:cs typeface="Avenir Next"/>
              </a:rPr>
              <a:t>Ant Colony Optimization</a:t>
            </a:r>
          </a:p>
        </p:txBody>
      </p:sp>
      <p:sp>
        <p:nvSpPr>
          <p:cNvPr id="2" name="">
            <a:extLst xmlns:a="http://schemas.openxmlformats.org/drawingml/2006/main">
              <a:ext uri="{FF2B5EF4-FFF2-40B4-BE49-F238E27FC236}">
                <a16:creationId xmlns:a16="http://schemas.microsoft.com/office/drawing/2014/main" id="{F1626C61-2D56-4F50-9D48-CD735139515B}"/>
              </a:ext>
            </a:extLst>
          </p:cNvPr>
          <p:cNvSpPr>
            <a:spLocks xmlns:a="http://schemas.openxmlformats.org/drawingml/2006/main" noGrp="1"/>
          </p:cNvSpPr>
          <p:nvPr/>
        </p:nvSpPr>
        <p:spPr>
          <a:xfrm xmlns:a="http://schemas.openxmlformats.org/drawingml/2006/main">
            <a:off x="685800" y="1257300"/>
            <a:ext cx="857250" cy="38100"/>
          </a:xfrm>
          <a:prstGeom xmlns:a="http://schemas.openxmlformats.org/drawingml/2006/main" prst="rect">
            <a:avLst/>
          </a:prstGeom>
          <a:solidFill xmlns:a="http://schemas.openxmlformats.org/drawingml/2006/main">
            <a:srgbClr val="55D6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BD9950-27F3-4E43-8442-0E53F9153B1F}"/>
              </a:ext>
            </a:extLst>
          </p:cNvPr>
          <p:cNvSpPr>
            <a:spLocks xmlns:a="http://schemas.openxmlformats.org/drawingml/2006/main" noGrp="1"/>
          </p:cNvSpPr>
          <p:nvPr/>
        </p:nvSpPr>
        <p:spPr>
          <a:xfrm xmlns:a="http://schemas.openxmlformats.org/drawingml/2006/main">
            <a:off x="1752600" y="1095375"/>
            <a:ext cx="933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A8BAC8"/>
                </a:solidFill>
                <a:latin typeface="Avenir Next"/>
                <a:ea typeface="Avenir Next"/>
                <a:cs typeface="Avenir Next"/>
              </a:defRPr>
            </a:defPPr>
          </a:lstStyle>
          <a:p xmlns:a="http://schemas.openxmlformats.org/drawingml/2006/main">
            <a:pPr algn="l">
              <a:lnSpc>
                <a:spcPct val="100000"/>
              </a:lnSpc>
              <a:buNone/>
              <a:defRPr sz="1500" b="0" i="0">
                <a:solidFill>
                  <a:srgbClr val="A8BAC8"/>
                </a:solidFill>
                <a:latin typeface="Avenir Next"/>
                <a:ea typeface="Avenir Next"/>
                <a:cs typeface="Avenir Next"/>
              </a:defRPr>
            </a:pPr>
            <a:r>
              <a:rPr sz="1500" b="0" i="0">
                <a:solidFill>
                  <a:srgbClr val="A8BAC8"/>
                </a:solidFill>
                <a:latin typeface="Avenir Next"/>
                <a:ea typeface="Avenir Next"/>
                <a:cs typeface="Avenir Next"/>
              </a:rPr>
              <a:t>Simple local rules can produce useful group behavior</a:t>
            </a:r>
          </a:p>
        </p:txBody>
      </p:sp>
      <p:sp>
        <p:nvSpPr>
          <p:cNvPr id="4" name="">
            <a:extLst xmlns:a="http://schemas.openxmlformats.org/drawingml/2006/main">
              <a:ext uri="{FF2B5EF4-FFF2-40B4-BE49-F238E27FC236}">
                <a16:creationId xmlns:a16="http://schemas.microsoft.com/office/drawing/2014/main" id="{58F38291-D4B1-4DD6-B6C6-FB18A5CFFB25}"/>
              </a:ext>
            </a:extLst>
          </p:cNvPr>
          <p:cNvSpPr>
            <a:spLocks xmlns:a="http://schemas.openxmlformats.org/drawingml/2006/main" noGrp="1"/>
          </p:cNvSpPr>
          <p:nvPr/>
        </p:nvSpPr>
        <p:spPr>
          <a:xfrm xmlns:a="http://schemas.openxmlformats.org/drawingml/2006/main">
            <a:off x="781050" y="1790700"/>
            <a:ext cx="723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i="0">
                <a:solidFill>
                  <a:srgbClr val="55D6D2"/>
                </a:solidFill>
                <a:latin typeface="Avenir Next"/>
                <a:ea typeface="Avenir Next"/>
                <a:cs typeface="Avenir Next"/>
              </a:defRPr>
            </a:defPPr>
          </a:lstStyle>
          <a:p xmlns:a="http://schemas.openxmlformats.org/drawingml/2006/main">
            <a:pPr algn="l">
              <a:lnSpc>
                <a:spcPct val="100000"/>
              </a:lnSpc>
              <a:buNone/>
              <a:defRPr sz="2400" b="1" i="0">
                <a:solidFill>
                  <a:srgbClr val="55D6D2"/>
                </a:solidFill>
                <a:latin typeface="Avenir Next"/>
                <a:ea typeface="Avenir Next"/>
                <a:cs typeface="Avenir Next"/>
              </a:defRPr>
            </a:pPr>
            <a:r>
              <a:rPr sz="2400" b="1" i="0">
                <a:solidFill>
                  <a:srgbClr val="55D6D2"/>
                </a:solidFill>
                <a:latin typeface="Avenir Next"/>
                <a:ea typeface="Avenir Next"/>
                <a:cs typeface="Avenir Next"/>
              </a:rPr>
              <a:t>01</a:t>
            </a:r>
          </a:p>
        </p:txBody>
      </p:sp>
      <p:sp>
        <p:nvSpPr>
          <p:cNvPr id="5" name="">
            <a:extLst xmlns:a="http://schemas.openxmlformats.org/drawingml/2006/main">
              <a:ext uri="{FF2B5EF4-FFF2-40B4-BE49-F238E27FC236}">
                <a16:creationId xmlns:a16="http://schemas.microsoft.com/office/drawing/2014/main" id="{0DBDF341-84F6-439C-B41D-1D602B9BD31A}"/>
              </a:ext>
            </a:extLst>
          </p:cNvPr>
          <p:cNvSpPr>
            <a:spLocks xmlns:a="http://schemas.openxmlformats.org/drawingml/2006/main" noGrp="1"/>
          </p:cNvSpPr>
          <p:nvPr/>
        </p:nvSpPr>
        <p:spPr>
          <a:xfrm xmlns:a="http://schemas.openxmlformats.org/drawingml/2006/main">
            <a:off x="1714500" y="1809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i="0">
                <a:solidFill>
                  <a:srgbClr val="F4F1E8"/>
                </a:solidFill>
                <a:latin typeface="Avenir Next"/>
                <a:ea typeface="Avenir Next"/>
                <a:cs typeface="Avenir Next"/>
              </a:defRPr>
            </a:defPPr>
          </a:lstStyle>
          <a:p xmlns:a="http://schemas.openxmlformats.org/drawingml/2006/main">
            <a:pPr algn="l">
              <a:lnSpc>
                <a:spcPct val="100000"/>
              </a:lnSpc>
              <a:buNone/>
              <a:defRPr sz="1575" b="1" i="0">
                <a:solidFill>
                  <a:srgbClr val="F4F1E8"/>
                </a:solidFill>
                <a:latin typeface="Avenir Next"/>
                <a:ea typeface="Avenir Next"/>
                <a:cs typeface="Avenir Next"/>
              </a:defRPr>
            </a:pPr>
            <a:r>
              <a:rPr sz="1575" b="1" i="0">
                <a:solidFill>
                  <a:srgbClr val="F4F1E8"/>
                </a:solidFill>
                <a:latin typeface="Avenir Next"/>
                <a:ea typeface="Avenir Next"/>
                <a:cs typeface="Avenir Next"/>
              </a:rPr>
              <a:t>LOCAL SIGNAL</a:t>
            </a:r>
          </a:p>
        </p:txBody>
      </p:sp>
      <p:sp>
        <p:nvSpPr>
          <p:cNvPr id="6" name="">
            <a:extLst xmlns:a="http://schemas.openxmlformats.org/drawingml/2006/main">
              <a:ext uri="{FF2B5EF4-FFF2-40B4-BE49-F238E27FC236}">
                <a16:creationId xmlns:a16="http://schemas.microsoft.com/office/drawing/2014/main" id="{9FDB42D1-120D-470D-A087-5EBF2626302F}"/>
              </a:ext>
            </a:extLst>
          </p:cNvPr>
          <p:cNvSpPr>
            <a:spLocks xmlns:a="http://schemas.openxmlformats.org/drawingml/2006/main" noGrp="1"/>
          </p:cNvSpPr>
          <p:nvPr/>
        </p:nvSpPr>
        <p:spPr>
          <a:xfrm xmlns:a="http://schemas.openxmlformats.org/drawingml/2006/main">
            <a:off x="4857750" y="1781175"/>
            <a:ext cx="6381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A8BAC8"/>
                </a:solidFill>
                <a:latin typeface="Avenir Next"/>
                <a:ea typeface="Avenir Next"/>
                <a:cs typeface="Avenir Next"/>
              </a:defRPr>
            </a:defPPr>
          </a:lstStyle>
          <a:p xmlns:a="http://schemas.openxmlformats.org/drawingml/2006/main">
            <a:pPr algn="l">
              <a:lnSpc>
                <a:spcPct val="102000"/>
              </a:lnSpc>
              <a:buNone/>
              <a:defRPr sz="1650" b="0" i="0">
                <a:solidFill>
                  <a:srgbClr val="A8BAC8"/>
                </a:solidFill>
                <a:latin typeface="Avenir Next"/>
                <a:ea typeface="Avenir Next"/>
                <a:cs typeface="Avenir Next"/>
              </a:defRPr>
            </a:pPr>
            <a:r>
              <a:rPr sz="1650" b="0" i="0">
                <a:solidFill>
                  <a:srgbClr val="A8BAC8"/>
                </a:solidFill>
                <a:latin typeface="Avenir Next"/>
                <a:ea typeface="Avenir Next"/>
                <a:cs typeface="Avenir Next"/>
              </a:rPr>
              <a:t>Each ant follows nearby pheromone traces. No ant sees the complete network.</a:t>
            </a:r>
          </a:p>
        </p:txBody>
      </p:sp>
      <p:sp>
        <p:nvSpPr>
          <p:cNvPr id="7" name="">
            <a:extLst xmlns:a="http://schemas.openxmlformats.org/drawingml/2006/main">
              <a:ext uri="{FF2B5EF4-FFF2-40B4-BE49-F238E27FC236}">
                <a16:creationId xmlns:a16="http://schemas.microsoft.com/office/drawing/2014/main" id="{4FE7C4D2-9761-4D3E-8655-6042387E69A6}"/>
              </a:ext>
            </a:extLst>
          </p:cNvPr>
          <p:cNvSpPr>
            <a:spLocks xmlns:a="http://schemas.openxmlformats.org/drawingml/2006/main" noGrp="1"/>
          </p:cNvSpPr>
          <p:nvPr/>
        </p:nvSpPr>
        <p:spPr>
          <a:xfrm xmlns:a="http://schemas.openxmlformats.org/drawingml/2006/main">
            <a:off x="1714500" y="2514600"/>
            <a:ext cx="952500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EE49522-E722-4812-B4FB-60403D079244}"/>
              </a:ext>
            </a:extLst>
          </p:cNvPr>
          <p:cNvSpPr>
            <a:spLocks xmlns:a="http://schemas.openxmlformats.org/drawingml/2006/main" noGrp="1"/>
          </p:cNvSpPr>
          <p:nvPr/>
        </p:nvSpPr>
        <p:spPr>
          <a:xfrm xmlns:a="http://schemas.openxmlformats.org/drawingml/2006/main">
            <a:off x="781050" y="2771775"/>
            <a:ext cx="723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i="0">
                <a:solidFill>
                  <a:srgbClr val="55D6D2"/>
                </a:solidFill>
                <a:latin typeface="Avenir Next"/>
                <a:ea typeface="Avenir Next"/>
                <a:cs typeface="Avenir Next"/>
              </a:defRPr>
            </a:defPPr>
          </a:lstStyle>
          <a:p xmlns:a="http://schemas.openxmlformats.org/drawingml/2006/main">
            <a:pPr algn="l">
              <a:lnSpc>
                <a:spcPct val="100000"/>
              </a:lnSpc>
              <a:buNone/>
              <a:defRPr sz="2400" b="1" i="0">
                <a:solidFill>
                  <a:srgbClr val="55D6D2"/>
                </a:solidFill>
                <a:latin typeface="Avenir Next"/>
                <a:ea typeface="Avenir Next"/>
                <a:cs typeface="Avenir Next"/>
              </a:defRPr>
            </a:pPr>
            <a:r>
              <a:rPr sz="2400" b="1" i="0">
                <a:solidFill>
                  <a:srgbClr val="55D6D2"/>
                </a:solidFill>
                <a:latin typeface="Avenir Next"/>
                <a:ea typeface="Avenir Next"/>
                <a:cs typeface="Avenir Next"/>
              </a:rPr>
              <a:t>02</a:t>
            </a:r>
          </a:p>
        </p:txBody>
      </p:sp>
      <p:sp>
        <p:nvSpPr>
          <p:cNvPr id="9" name="">
            <a:extLst xmlns:a="http://schemas.openxmlformats.org/drawingml/2006/main">
              <a:ext uri="{FF2B5EF4-FFF2-40B4-BE49-F238E27FC236}">
                <a16:creationId xmlns:a16="http://schemas.microsoft.com/office/drawing/2014/main" id="{9C4F3B7D-4773-4D1F-9E70-EB10A004835E}"/>
              </a:ext>
            </a:extLst>
          </p:cNvPr>
          <p:cNvSpPr>
            <a:spLocks xmlns:a="http://schemas.openxmlformats.org/drawingml/2006/main" noGrp="1"/>
          </p:cNvSpPr>
          <p:nvPr/>
        </p:nvSpPr>
        <p:spPr>
          <a:xfrm xmlns:a="http://schemas.openxmlformats.org/drawingml/2006/main">
            <a:off x="1714500" y="279082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i="0">
                <a:solidFill>
                  <a:srgbClr val="F4F1E8"/>
                </a:solidFill>
                <a:latin typeface="Avenir Next"/>
                <a:ea typeface="Avenir Next"/>
                <a:cs typeface="Avenir Next"/>
              </a:defRPr>
            </a:defPPr>
          </a:lstStyle>
          <a:p xmlns:a="http://schemas.openxmlformats.org/drawingml/2006/main">
            <a:pPr algn="l">
              <a:lnSpc>
                <a:spcPct val="100000"/>
              </a:lnSpc>
              <a:buNone/>
              <a:defRPr sz="1575" b="1" i="0">
                <a:solidFill>
                  <a:srgbClr val="F4F1E8"/>
                </a:solidFill>
                <a:latin typeface="Avenir Next"/>
                <a:ea typeface="Avenir Next"/>
                <a:cs typeface="Avenir Next"/>
              </a:defRPr>
            </a:pPr>
            <a:r>
              <a:rPr sz="1575" b="1" i="0">
                <a:solidFill>
                  <a:srgbClr val="F4F1E8"/>
                </a:solidFill>
                <a:latin typeface="Avenir Next"/>
                <a:ea typeface="Avenir Next"/>
                <a:cs typeface="Avenir Next"/>
              </a:rPr>
              <a:t>REINFORCEMENT</a:t>
            </a:r>
          </a:p>
        </p:txBody>
      </p:sp>
      <p:sp>
        <p:nvSpPr>
          <p:cNvPr id="10" name="">
            <a:extLst xmlns:a="http://schemas.openxmlformats.org/drawingml/2006/main">
              <a:ext uri="{FF2B5EF4-FFF2-40B4-BE49-F238E27FC236}">
                <a16:creationId xmlns:a16="http://schemas.microsoft.com/office/drawing/2014/main" id="{9A20936E-6D41-4460-ABE8-E8757A27A8E6}"/>
              </a:ext>
            </a:extLst>
          </p:cNvPr>
          <p:cNvSpPr>
            <a:spLocks xmlns:a="http://schemas.openxmlformats.org/drawingml/2006/main" noGrp="1"/>
          </p:cNvSpPr>
          <p:nvPr/>
        </p:nvSpPr>
        <p:spPr>
          <a:xfrm xmlns:a="http://schemas.openxmlformats.org/drawingml/2006/main">
            <a:off x="4857750" y="2762250"/>
            <a:ext cx="6381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A8BAC8"/>
                </a:solidFill>
                <a:latin typeface="Avenir Next"/>
                <a:ea typeface="Avenir Next"/>
                <a:cs typeface="Avenir Next"/>
              </a:defRPr>
            </a:defPPr>
          </a:lstStyle>
          <a:p xmlns:a="http://schemas.openxmlformats.org/drawingml/2006/main">
            <a:pPr algn="l">
              <a:lnSpc>
                <a:spcPct val="102000"/>
              </a:lnSpc>
              <a:buNone/>
              <a:defRPr sz="1650" b="0" i="0">
                <a:solidFill>
                  <a:srgbClr val="A8BAC8"/>
                </a:solidFill>
                <a:latin typeface="Avenir Next"/>
                <a:ea typeface="Avenir Next"/>
                <a:cs typeface="Avenir Next"/>
              </a:defRPr>
            </a:pPr>
            <a:r>
              <a:rPr sz="1650" b="0" i="0">
                <a:solidFill>
                  <a:srgbClr val="A8BAC8"/>
                </a:solidFill>
                <a:latin typeface="Avenir Next"/>
                <a:ea typeface="Avenir Next"/>
                <a:cs typeface="Avenir Next"/>
              </a:rPr>
              <a:t>Ants using a shorter route return sooner and strengthen that route more often.</a:t>
            </a:r>
          </a:p>
        </p:txBody>
      </p:sp>
      <p:sp>
        <p:nvSpPr>
          <p:cNvPr id="11" name="">
            <a:extLst xmlns:a="http://schemas.openxmlformats.org/drawingml/2006/main">
              <a:ext uri="{FF2B5EF4-FFF2-40B4-BE49-F238E27FC236}">
                <a16:creationId xmlns:a16="http://schemas.microsoft.com/office/drawing/2014/main" id="{E6076500-DAD3-44C3-958B-0209961510E2}"/>
              </a:ext>
            </a:extLst>
          </p:cNvPr>
          <p:cNvSpPr>
            <a:spLocks xmlns:a="http://schemas.openxmlformats.org/drawingml/2006/main" noGrp="1"/>
          </p:cNvSpPr>
          <p:nvPr/>
        </p:nvSpPr>
        <p:spPr>
          <a:xfrm xmlns:a="http://schemas.openxmlformats.org/drawingml/2006/main">
            <a:off x="1714500" y="3495675"/>
            <a:ext cx="952500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B320AAE-CEE4-4A62-83DA-68FABF76D4E9}"/>
              </a:ext>
            </a:extLst>
          </p:cNvPr>
          <p:cNvSpPr>
            <a:spLocks xmlns:a="http://schemas.openxmlformats.org/drawingml/2006/main" noGrp="1"/>
          </p:cNvSpPr>
          <p:nvPr/>
        </p:nvSpPr>
        <p:spPr>
          <a:xfrm xmlns:a="http://schemas.openxmlformats.org/drawingml/2006/main">
            <a:off x="781050" y="3752850"/>
            <a:ext cx="723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i="0">
                <a:solidFill>
                  <a:srgbClr val="55D6D2"/>
                </a:solidFill>
                <a:latin typeface="Avenir Next"/>
                <a:ea typeface="Avenir Next"/>
                <a:cs typeface="Avenir Next"/>
              </a:defRPr>
            </a:defPPr>
          </a:lstStyle>
          <a:p xmlns:a="http://schemas.openxmlformats.org/drawingml/2006/main">
            <a:pPr algn="l">
              <a:lnSpc>
                <a:spcPct val="100000"/>
              </a:lnSpc>
              <a:buNone/>
              <a:defRPr sz="2400" b="1" i="0">
                <a:solidFill>
                  <a:srgbClr val="55D6D2"/>
                </a:solidFill>
                <a:latin typeface="Avenir Next"/>
                <a:ea typeface="Avenir Next"/>
                <a:cs typeface="Avenir Next"/>
              </a:defRPr>
            </a:pPr>
            <a:r>
              <a:rPr sz="2400" b="1" i="0">
                <a:solidFill>
                  <a:srgbClr val="55D6D2"/>
                </a:solidFill>
                <a:latin typeface="Avenir Next"/>
                <a:ea typeface="Avenir Next"/>
                <a:cs typeface="Avenir Next"/>
              </a:rPr>
              <a:t>03</a:t>
            </a:r>
          </a:p>
        </p:txBody>
      </p:sp>
      <p:sp>
        <p:nvSpPr>
          <p:cNvPr id="13" name="">
            <a:extLst xmlns:a="http://schemas.openxmlformats.org/drawingml/2006/main">
              <a:ext uri="{FF2B5EF4-FFF2-40B4-BE49-F238E27FC236}">
                <a16:creationId xmlns:a16="http://schemas.microsoft.com/office/drawing/2014/main" id="{3BBDA47B-810B-4CB9-836C-C0064BBDD717}"/>
              </a:ext>
            </a:extLst>
          </p:cNvPr>
          <p:cNvSpPr>
            <a:spLocks xmlns:a="http://schemas.openxmlformats.org/drawingml/2006/main" noGrp="1"/>
          </p:cNvSpPr>
          <p:nvPr/>
        </p:nvSpPr>
        <p:spPr>
          <a:xfrm xmlns:a="http://schemas.openxmlformats.org/drawingml/2006/main">
            <a:off x="1714500" y="37719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i="0">
                <a:solidFill>
                  <a:srgbClr val="F4F1E8"/>
                </a:solidFill>
                <a:latin typeface="Avenir Next"/>
                <a:ea typeface="Avenir Next"/>
                <a:cs typeface="Avenir Next"/>
              </a:defRPr>
            </a:defPPr>
          </a:lstStyle>
          <a:p xmlns:a="http://schemas.openxmlformats.org/drawingml/2006/main">
            <a:pPr algn="l">
              <a:lnSpc>
                <a:spcPct val="100000"/>
              </a:lnSpc>
              <a:buNone/>
              <a:defRPr sz="1575" b="1" i="0">
                <a:solidFill>
                  <a:srgbClr val="F4F1E8"/>
                </a:solidFill>
                <a:latin typeface="Avenir Next"/>
                <a:ea typeface="Avenir Next"/>
                <a:cs typeface="Avenir Next"/>
              </a:defRPr>
            </a:pPr>
            <a:r>
              <a:rPr sz="1575" b="1" i="0">
                <a:solidFill>
                  <a:srgbClr val="F4F1E8"/>
                </a:solidFill>
                <a:latin typeface="Avenir Next"/>
                <a:ea typeface="Avenir Next"/>
                <a:cs typeface="Avenir Next"/>
              </a:rPr>
              <a:t>COLLECTIVE RESULT</a:t>
            </a:r>
          </a:p>
        </p:txBody>
      </p:sp>
      <p:sp>
        <p:nvSpPr>
          <p:cNvPr id="14" name="">
            <a:extLst xmlns:a="http://schemas.openxmlformats.org/drawingml/2006/main">
              <a:ext uri="{FF2B5EF4-FFF2-40B4-BE49-F238E27FC236}">
                <a16:creationId xmlns:a16="http://schemas.microsoft.com/office/drawing/2014/main" id="{0212C0ED-12AB-45F0-A2DF-4FD497E28E4E}"/>
              </a:ext>
            </a:extLst>
          </p:cNvPr>
          <p:cNvSpPr>
            <a:spLocks xmlns:a="http://schemas.openxmlformats.org/drawingml/2006/main" noGrp="1"/>
          </p:cNvSpPr>
          <p:nvPr/>
        </p:nvSpPr>
        <p:spPr>
          <a:xfrm xmlns:a="http://schemas.openxmlformats.org/drawingml/2006/main">
            <a:off x="4857750" y="3743325"/>
            <a:ext cx="6381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A8BAC8"/>
                </a:solidFill>
                <a:latin typeface="Avenir Next"/>
                <a:ea typeface="Avenir Next"/>
                <a:cs typeface="Avenir Next"/>
              </a:defRPr>
            </a:defPPr>
          </a:lstStyle>
          <a:p xmlns:a="http://schemas.openxmlformats.org/drawingml/2006/main">
            <a:pPr algn="l">
              <a:lnSpc>
                <a:spcPct val="102000"/>
              </a:lnSpc>
              <a:buNone/>
              <a:defRPr sz="1650" b="0" i="0">
                <a:solidFill>
                  <a:srgbClr val="A8BAC8"/>
                </a:solidFill>
                <a:latin typeface="Avenir Next"/>
                <a:ea typeface="Avenir Next"/>
                <a:cs typeface="Avenir Next"/>
              </a:defRPr>
            </a:pPr>
            <a:r>
              <a:rPr sz="1650" b="0" i="0">
                <a:solidFill>
                  <a:srgbClr val="A8BAC8"/>
                </a:solidFill>
                <a:latin typeface="Avenir Next"/>
                <a:ea typeface="Avenir Next"/>
                <a:cs typeface="Avenir Next"/>
              </a:rPr>
              <a:t>The colony gradually concentrates on the shorter path without a central controller.</a:t>
            </a:r>
          </a:p>
        </p:txBody>
      </p:sp>
      <p:sp>
        <p:nvSpPr>
          <p:cNvPr id="15" name="">
            <a:extLst xmlns:a="http://schemas.openxmlformats.org/drawingml/2006/main">
              <a:ext uri="{FF2B5EF4-FFF2-40B4-BE49-F238E27FC236}">
                <a16:creationId xmlns:a16="http://schemas.microsoft.com/office/drawing/2014/main" id="{028E12E1-D13C-44BF-8EFC-960704E6D365}"/>
              </a:ext>
            </a:extLst>
          </p:cNvPr>
          <p:cNvSpPr>
            <a:spLocks xmlns:a="http://schemas.openxmlformats.org/drawingml/2006/main" noGrp="1"/>
          </p:cNvSpPr>
          <p:nvPr/>
        </p:nvSpPr>
        <p:spPr>
          <a:xfrm xmlns:a="http://schemas.openxmlformats.org/drawingml/2006/main">
            <a:off x="1714500" y="4476750"/>
            <a:ext cx="952500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A3FDDCD-9CC5-4993-8C70-901CE626F4B1}"/>
              </a:ext>
            </a:extLst>
          </p:cNvPr>
          <p:cNvSpPr>
            <a:spLocks xmlns:a="http://schemas.openxmlformats.org/drawingml/2006/main" noGrp="1"/>
          </p:cNvSpPr>
          <p:nvPr/>
        </p:nvSpPr>
        <p:spPr>
          <a:xfrm xmlns:a="http://schemas.openxmlformats.org/drawingml/2006/main">
            <a:off x="781050" y="4733925"/>
            <a:ext cx="723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i="0">
                <a:solidFill>
                  <a:srgbClr val="FFB454"/>
                </a:solidFill>
                <a:latin typeface="Avenir Next"/>
                <a:ea typeface="Avenir Next"/>
                <a:cs typeface="Avenir Next"/>
              </a:defRPr>
            </a:defPPr>
          </a:lstStyle>
          <a:p xmlns:a="http://schemas.openxmlformats.org/drawingml/2006/main">
            <a:pPr algn="l">
              <a:lnSpc>
                <a:spcPct val="100000"/>
              </a:lnSpc>
              <a:buNone/>
              <a:defRPr sz="2400" b="1" i="0">
                <a:solidFill>
                  <a:srgbClr val="FFB454"/>
                </a:solidFill>
                <a:latin typeface="Avenir Next"/>
                <a:ea typeface="Avenir Next"/>
                <a:cs typeface="Avenir Next"/>
              </a:defRPr>
            </a:pPr>
            <a:r>
              <a:rPr sz="2400" b="1" i="0">
                <a:solidFill>
                  <a:srgbClr val="FFB454"/>
                </a:solidFill>
                <a:latin typeface="Avenir Next"/>
                <a:ea typeface="Avenir Next"/>
                <a:cs typeface="Avenir Next"/>
              </a:rPr>
              <a:t>04</a:t>
            </a:r>
          </a:p>
        </p:txBody>
      </p:sp>
      <p:sp>
        <p:nvSpPr>
          <p:cNvPr id="17" name="">
            <a:extLst xmlns:a="http://schemas.openxmlformats.org/drawingml/2006/main">
              <a:ext uri="{FF2B5EF4-FFF2-40B4-BE49-F238E27FC236}">
                <a16:creationId xmlns:a16="http://schemas.microsoft.com/office/drawing/2014/main" id="{ECD2A993-FB6B-4982-A489-B72C94534002}"/>
              </a:ext>
            </a:extLst>
          </p:cNvPr>
          <p:cNvSpPr>
            <a:spLocks xmlns:a="http://schemas.openxmlformats.org/drawingml/2006/main" noGrp="1"/>
          </p:cNvSpPr>
          <p:nvPr/>
        </p:nvSpPr>
        <p:spPr>
          <a:xfrm xmlns:a="http://schemas.openxmlformats.org/drawingml/2006/main">
            <a:off x="1714500" y="47529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i="0">
                <a:solidFill>
                  <a:srgbClr val="F4F1E8"/>
                </a:solidFill>
                <a:latin typeface="Avenir Next"/>
                <a:ea typeface="Avenir Next"/>
                <a:cs typeface="Avenir Next"/>
              </a:defRPr>
            </a:defPPr>
          </a:lstStyle>
          <a:p xmlns:a="http://schemas.openxmlformats.org/drawingml/2006/main">
            <a:pPr algn="l">
              <a:lnSpc>
                <a:spcPct val="100000"/>
              </a:lnSpc>
              <a:buNone/>
              <a:defRPr sz="1575" b="1" i="0">
                <a:solidFill>
                  <a:srgbClr val="F4F1E8"/>
                </a:solidFill>
                <a:latin typeface="Avenir Next"/>
                <a:ea typeface="Avenir Next"/>
                <a:cs typeface="Avenir Next"/>
              </a:defRPr>
            </a:pPr>
            <a:r>
              <a:rPr sz="1575" b="1" i="0">
                <a:solidFill>
                  <a:srgbClr val="F4F1E8"/>
                </a:solidFill>
                <a:latin typeface="Avenir Next"/>
                <a:ea typeface="Avenir Next"/>
                <a:cs typeface="Avenir Next"/>
              </a:rPr>
              <a:t>ENGINEERING USE</a:t>
            </a:r>
          </a:p>
        </p:txBody>
      </p:sp>
      <p:sp>
        <p:nvSpPr>
          <p:cNvPr id="18" name="">
            <a:extLst xmlns:a="http://schemas.openxmlformats.org/drawingml/2006/main">
              <a:ext uri="{FF2B5EF4-FFF2-40B4-BE49-F238E27FC236}">
                <a16:creationId xmlns:a16="http://schemas.microsoft.com/office/drawing/2014/main" id="{63F88A71-3117-4CA4-9AAA-1551A903628A}"/>
              </a:ext>
            </a:extLst>
          </p:cNvPr>
          <p:cNvSpPr>
            <a:spLocks xmlns:a="http://schemas.openxmlformats.org/drawingml/2006/main" noGrp="1"/>
          </p:cNvSpPr>
          <p:nvPr/>
        </p:nvSpPr>
        <p:spPr>
          <a:xfrm xmlns:a="http://schemas.openxmlformats.org/drawingml/2006/main">
            <a:off x="4857750" y="4724400"/>
            <a:ext cx="6381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A8BAC8"/>
                </a:solidFill>
                <a:latin typeface="Avenir Next"/>
                <a:ea typeface="Avenir Next"/>
                <a:cs typeface="Avenir Next"/>
              </a:defRPr>
            </a:defPPr>
          </a:lstStyle>
          <a:p xmlns:a="http://schemas.openxmlformats.org/drawingml/2006/main">
            <a:pPr algn="l">
              <a:lnSpc>
                <a:spcPct val="102000"/>
              </a:lnSpc>
              <a:buNone/>
              <a:defRPr sz="1650" b="0" i="0">
                <a:solidFill>
                  <a:srgbClr val="A8BAC8"/>
                </a:solidFill>
                <a:latin typeface="Avenir Next"/>
                <a:ea typeface="Avenir Next"/>
                <a:cs typeface="Avenir Next"/>
              </a:defRPr>
            </a:pPr>
            <a:r>
              <a:rPr sz="1650" b="0" i="0">
                <a:solidFill>
                  <a:srgbClr val="A8BAC8"/>
                </a:solidFill>
                <a:latin typeface="Avenir Next"/>
                <a:ea typeface="Avenir Next"/>
                <a:cs typeface="Avenir Next"/>
              </a:rPr>
              <a:t>Algorithms apply this principle to routing, scheduling, and network design.</a:t>
            </a:r>
          </a:p>
        </p:txBody>
      </p:sp>
      <p:sp>
        <p:nvSpPr>
          <p:cNvPr id="19" name="">
            <a:extLst xmlns:a="http://schemas.openxmlformats.org/drawingml/2006/main">
              <a:ext uri="{FF2B5EF4-FFF2-40B4-BE49-F238E27FC236}">
                <a16:creationId xmlns:a16="http://schemas.microsoft.com/office/drawing/2014/main" id="{AB0AF6FD-5BD6-47EC-A519-1712564886FF}"/>
              </a:ext>
            </a:extLst>
          </p:cNvPr>
          <p:cNvSpPr>
            <a:spLocks xmlns:a="http://schemas.openxmlformats.org/drawingml/2006/main" noGrp="1"/>
          </p:cNvSpPr>
          <p:nvPr/>
        </p:nvSpPr>
        <p:spPr>
          <a:xfrm xmlns:a="http://schemas.openxmlformats.org/drawingml/2006/main">
            <a:off x="1714500" y="598170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i="0">
                <a:solidFill>
                  <a:srgbClr val="557083"/>
                </a:solidFill>
                <a:latin typeface="Avenir Next"/>
                <a:ea typeface="Avenir Next"/>
                <a:cs typeface="Avenir Next"/>
              </a:defRPr>
            </a:defPPr>
          </a:lstStyle>
          <a:p xmlns:a="http://schemas.openxmlformats.org/drawingml/2006/main">
            <a:pPr algn="l">
              <a:lnSpc>
                <a:spcPct val="100000"/>
              </a:lnSpc>
              <a:buNone/>
              <a:defRPr sz="1350" b="0" i="0">
                <a:solidFill>
                  <a:srgbClr val="557083"/>
                </a:solidFill>
                <a:latin typeface="Avenir Next"/>
                <a:ea typeface="Avenir Next"/>
                <a:cs typeface="Avenir Next"/>
              </a:defRPr>
            </a:pPr>
            <a:r>
              <a:rPr sz="1350" b="0" i="0">
                <a:solidFill>
                  <a:srgbClr val="557083"/>
                </a:solidFill>
                <a:latin typeface="Avenir Next"/>
                <a:ea typeface="Avenir Next"/>
                <a:cs typeface="Avenir Next"/>
              </a:rPr>
              <a:t>Marco Dorigo introduced the method in his 1992 doctoral research.</a:t>
            </a:r>
          </a:p>
        </p:txBody>
      </p:sp>
    </p:spTree>
    <p:extLst>
      <p:ext uri="{BB962C8B-B14F-4D97-AF65-F5344CB8AC3E}">
        <p14:creationId xmlns:p14="http://schemas.microsoft.com/office/powerpoint/2010/main" val="831274518"/>
      </p:ext>
    </p:extLst>
  </p:cSld>
</p:sld>
</file>

<file path=ppt/slides/slide12.xml><?xml version="1.0" encoding="utf-8"?>
<p:sld xmlns:p="http://schemas.openxmlformats.org/presentationml/2006/main">
  <p:cSld>
    <p:bg>
      <p:bgPr>
        <a:solidFill xmlns:a="http://schemas.openxmlformats.org/drawingml/2006/main">
          <a:srgbClr val="0B1D2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F84C9C6-E5E2-4CDF-BE21-CEF76A479E59}"/>
              </a:ext>
            </a:extLst>
          </p:cNvPr>
          <p:cNvSpPr>
            <a:spLocks xmlns:a="http://schemas.openxmlformats.org/drawingml/2006/main" noGrp="1"/>
          </p:cNvSpPr>
          <p:nvPr/>
        </p:nvSpPr>
        <p:spPr>
          <a:xfrm xmlns:a="http://schemas.openxmlformats.org/drawingml/2006/main">
            <a:off x="685800" y="5143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i="0">
                <a:solidFill>
                  <a:srgbClr val="F4F1E8"/>
                </a:solidFill>
                <a:latin typeface="Avenir Next"/>
                <a:ea typeface="Avenir Next"/>
                <a:cs typeface="Avenir Next"/>
              </a:defRPr>
            </a:defPPr>
          </a:lstStyle>
          <a:p xmlns:a="http://schemas.openxmlformats.org/drawingml/2006/main">
            <a:pPr algn="l">
              <a:lnSpc>
                <a:spcPct val="100000"/>
              </a:lnSpc>
              <a:buNone/>
              <a:defRPr sz="3300" b="1" i="0">
                <a:solidFill>
                  <a:srgbClr val="F4F1E8"/>
                </a:solidFill>
                <a:latin typeface="Avenir Next"/>
                <a:ea typeface="Avenir Next"/>
                <a:cs typeface="Avenir Next"/>
              </a:defRPr>
            </a:pPr>
            <a:r>
              <a:rPr sz="3300" b="1" i="0">
                <a:solidFill>
                  <a:srgbClr val="F4F1E8"/>
                </a:solidFill>
                <a:latin typeface="Avenir Next"/>
                <a:ea typeface="Avenir Next"/>
                <a:cs typeface="Avenir Next"/>
              </a:rPr>
              <a:t>A drone show executes a central plan</a:t>
            </a:r>
          </a:p>
        </p:txBody>
      </p:sp>
      <p:sp>
        <p:nvSpPr>
          <p:cNvPr id="2" name="">
            <a:extLst xmlns:a="http://schemas.openxmlformats.org/drawingml/2006/main">
              <a:ext uri="{FF2B5EF4-FFF2-40B4-BE49-F238E27FC236}">
                <a16:creationId xmlns:a16="http://schemas.microsoft.com/office/drawing/2014/main" id="{ABBDD2EE-1289-4C28-A704-E80395DC5F26}"/>
              </a:ext>
            </a:extLst>
          </p:cNvPr>
          <p:cNvSpPr>
            <a:spLocks xmlns:a="http://schemas.openxmlformats.org/drawingml/2006/main" noGrp="1"/>
          </p:cNvSpPr>
          <p:nvPr/>
        </p:nvSpPr>
        <p:spPr>
          <a:xfrm xmlns:a="http://schemas.openxmlformats.org/drawingml/2006/main">
            <a:off x="685800" y="1257300"/>
            <a:ext cx="857250" cy="38100"/>
          </a:xfrm>
          <a:prstGeom xmlns:a="http://schemas.openxmlformats.org/drawingml/2006/main" prst="rect">
            <a:avLst/>
          </a:prstGeom>
          <a:solidFill xmlns:a="http://schemas.openxmlformats.org/drawingml/2006/main">
            <a:srgbClr val="55D6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9F45C0E-0983-40B6-AD90-6787602B3F0D}"/>
              </a:ext>
            </a:extLst>
          </p:cNvPr>
          <p:cNvSpPr>
            <a:spLocks xmlns:a="http://schemas.openxmlformats.org/drawingml/2006/main" noGrp="1"/>
          </p:cNvSpPr>
          <p:nvPr/>
        </p:nvSpPr>
        <p:spPr>
          <a:xfrm xmlns:a="http://schemas.openxmlformats.org/drawingml/2006/main">
            <a:off x="1752600" y="1095375"/>
            <a:ext cx="933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A8BAC8"/>
                </a:solidFill>
                <a:latin typeface="Avenir Next"/>
                <a:ea typeface="Avenir Next"/>
                <a:cs typeface="Avenir Next"/>
              </a:defRPr>
            </a:defPPr>
          </a:lstStyle>
          <a:p xmlns:a="http://schemas.openxmlformats.org/drawingml/2006/main">
            <a:pPr algn="l">
              <a:lnSpc>
                <a:spcPct val="100000"/>
              </a:lnSpc>
              <a:buNone/>
              <a:defRPr sz="1500" b="0" i="0">
                <a:solidFill>
                  <a:srgbClr val="A8BAC8"/>
                </a:solidFill>
                <a:latin typeface="Avenir Next"/>
                <a:ea typeface="Avenir Next"/>
                <a:cs typeface="Avenir Next"/>
              </a:defRPr>
            </a:pPr>
            <a:r>
              <a:rPr sz="1500" b="0" i="0">
                <a:solidFill>
                  <a:srgbClr val="A8BAC8"/>
                </a:solidFill>
                <a:latin typeface="Avenir Next"/>
                <a:ea typeface="Avenir Next"/>
                <a:cs typeface="Avenir Next"/>
              </a:rPr>
              <a:t>The opening question, answered</a:t>
            </a:r>
          </a:p>
        </p:txBody>
      </p:sp>
      <p:sp>
        <p:nvSpPr>
          <p:cNvPr id="4" name="">
            <a:extLst xmlns:a="http://schemas.openxmlformats.org/drawingml/2006/main">
              <a:ext uri="{FF2B5EF4-FFF2-40B4-BE49-F238E27FC236}">
                <a16:creationId xmlns:a16="http://schemas.microsoft.com/office/drawing/2014/main" id="{EAF5A3B0-14C4-434F-A2FF-869AB36CF8DA}"/>
              </a:ext>
            </a:extLst>
          </p:cNvPr>
          <p:cNvSpPr>
            <a:spLocks xmlns:a="http://schemas.openxmlformats.org/drawingml/2006/main" noGrp="1"/>
          </p:cNvSpPr>
          <p:nvPr/>
        </p:nvSpPr>
        <p:spPr>
          <a:xfrm xmlns:a="http://schemas.openxmlformats.org/drawingml/2006/main">
            <a:off x="781050" y="20383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i="0">
                <a:solidFill>
                  <a:srgbClr val="FFB454"/>
                </a:solidFill>
                <a:latin typeface="Avenir Next"/>
                <a:ea typeface="Avenir Next"/>
                <a:cs typeface="Avenir Next"/>
              </a:defRPr>
            </a:defPPr>
          </a:lstStyle>
          <a:p xmlns:a="http://schemas.openxmlformats.org/drawingml/2006/main">
            <a:pPr algn="l">
              <a:lnSpc>
                <a:spcPct val="100000"/>
              </a:lnSpc>
              <a:buNone/>
              <a:defRPr sz="1575" b="1" i="0">
                <a:solidFill>
                  <a:srgbClr val="FFB454"/>
                </a:solidFill>
                <a:latin typeface="Avenir Next"/>
                <a:ea typeface="Avenir Next"/>
                <a:cs typeface="Avenir Next"/>
              </a:defRPr>
            </a:pPr>
            <a:r>
              <a:rPr sz="1575" b="1" i="0">
                <a:solidFill>
                  <a:srgbClr val="FFB454"/>
                </a:solidFill>
                <a:latin typeface="Avenir Next"/>
                <a:ea typeface="Avenir Next"/>
                <a:cs typeface="Avenir Next"/>
              </a:rPr>
              <a:t>CENTRAL AUTOMATION</a:t>
            </a:r>
          </a:p>
        </p:txBody>
      </p:sp>
      <p:sp>
        <p:nvSpPr>
          <p:cNvPr id="5" name="">
            <a:extLst xmlns:a="http://schemas.openxmlformats.org/drawingml/2006/main">
              <a:ext uri="{FF2B5EF4-FFF2-40B4-BE49-F238E27FC236}">
                <a16:creationId xmlns:a16="http://schemas.microsoft.com/office/drawing/2014/main" id="{CE16B028-37F2-4E2E-9923-B82CD13DB975}"/>
              </a:ext>
            </a:extLst>
          </p:cNvPr>
          <p:cNvSpPr>
            <a:spLocks xmlns:a="http://schemas.openxmlformats.org/drawingml/2006/main" noGrp="1"/>
          </p:cNvSpPr>
          <p:nvPr/>
        </p:nvSpPr>
        <p:spPr>
          <a:xfrm xmlns:a="http://schemas.openxmlformats.org/drawingml/2006/main">
            <a:off x="781050" y="262890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i="0">
                <a:solidFill>
                  <a:srgbClr val="F4F1E8"/>
                </a:solidFill>
                <a:latin typeface="Avenir Next"/>
                <a:ea typeface="Avenir Next"/>
                <a:cs typeface="Avenir Next"/>
              </a:defRPr>
            </a:defPPr>
          </a:lstStyle>
          <a:p xmlns:a="http://schemas.openxmlformats.org/drawingml/2006/main">
            <a:pPr algn="l">
              <a:lnSpc>
                <a:spcPct val="100000"/>
              </a:lnSpc>
              <a:buNone/>
              <a:defRPr sz="2250" b="1" i="0">
                <a:solidFill>
                  <a:srgbClr val="F4F1E8"/>
                </a:solidFill>
                <a:latin typeface="Avenir Next"/>
                <a:ea typeface="Avenir Next"/>
                <a:cs typeface="Avenir Next"/>
              </a:defRPr>
            </a:pPr>
            <a:r>
              <a:rPr sz="2250" b="1" i="0">
                <a:solidFill>
                  <a:srgbClr val="F4F1E8"/>
                </a:solidFill>
                <a:latin typeface="Avenir Next"/>
                <a:ea typeface="Avenir Next"/>
                <a:cs typeface="Avenir Next"/>
              </a:rPr>
              <a:t>Precomputed trajectories</a:t>
            </a:r>
          </a:p>
        </p:txBody>
      </p:sp>
      <p:sp>
        <p:nvSpPr>
          <p:cNvPr id="6" name="">
            <a:extLst xmlns:a="http://schemas.openxmlformats.org/drawingml/2006/main">
              <a:ext uri="{FF2B5EF4-FFF2-40B4-BE49-F238E27FC236}">
                <a16:creationId xmlns:a16="http://schemas.microsoft.com/office/drawing/2014/main" id="{FABF650A-D418-471A-8C01-ED7163CBD9C6}"/>
              </a:ext>
            </a:extLst>
          </p:cNvPr>
          <p:cNvSpPr>
            <a:spLocks xmlns:a="http://schemas.openxmlformats.org/drawingml/2006/main" noGrp="1"/>
          </p:cNvSpPr>
          <p:nvPr/>
        </p:nvSpPr>
        <p:spPr>
          <a:xfrm xmlns:a="http://schemas.openxmlformats.org/drawingml/2006/main">
            <a:off x="781050" y="3314700"/>
            <a:ext cx="4476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A8BAC8"/>
                </a:solidFill>
                <a:latin typeface="Avenir Next"/>
                <a:ea typeface="Avenir Next"/>
                <a:cs typeface="Avenir Next"/>
              </a:defRPr>
            </a:defPPr>
          </a:lstStyle>
          <a:p xmlns:a="http://schemas.openxmlformats.org/drawingml/2006/main">
            <a:pPr algn="l">
              <a:lnSpc>
                <a:spcPct val="105000"/>
              </a:lnSpc>
              <a:buNone/>
              <a:defRPr sz="1725" b="0" i="0">
                <a:solidFill>
                  <a:srgbClr val="A8BAC8"/>
                </a:solidFill>
                <a:latin typeface="Avenir Next"/>
                <a:ea typeface="Avenir Next"/>
                <a:cs typeface="Avenir Next"/>
              </a:defRPr>
            </a:pPr>
            <a:r>
              <a:rPr sz="1725" b="0" i="0">
                <a:solidFill>
                  <a:srgbClr val="A8BAC8"/>
                </a:solidFill>
                <a:latin typeface="Avenir Next"/>
                <a:ea typeface="Avenir Next"/>
                <a:cs typeface="Avenir Next"/>
              </a:rPr>
              <a:t>A ground computer plans every route. Each drone follows its assigned position and time.</a:t>
            </a:r>
          </a:p>
        </p:txBody>
      </p:sp>
      <p:sp>
        <p:nvSpPr>
          <p:cNvPr id="7" name="">
            <a:extLst xmlns:a="http://schemas.openxmlformats.org/drawingml/2006/main">
              <a:ext uri="{FF2B5EF4-FFF2-40B4-BE49-F238E27FC236}">
                <a16:creationId xmlns:a16="http://schemas.microsoft.com/office/drawing/2014/main" id="{1511780B-DD14-45C6-889C-AA3DCDE9C293}"/>
              </a:ext>
            </a:extLst>
          </p:cNvPr>
          <p:cNvSpPr>
            <a:spLocks xmlns:a="http://schemas.openxmlformats.org/drawingml/2006/main" noGrp="1"/>
          </p:cNvSpPr>
          <p:nvPr/>
        </p:nvSpPr>
        <p:spPr>
          <a:xfrm xmlns:a="http://schemas.openxmlformats.org/drawingml/2006/main">
            <a:off x="781050" y="46672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i="0">
                <a:solidFill>
                  <a:srgbClr val="FFB454"/>
                </a:solidFill>
                <a:latin typeface="Avenir Next"/>
                <a:ea typeface="Avenir Next"/>
                <a:cs typeface="Avenir Next"/>
              </a:defRPr>
            </a:defPPr>
          </a:lstStyle>
          <a:p xmlns:a="http://schemas.openxmlformats.org/drawingml/2006/main">
            <a:pPr algn="l">
              <a:lnSpc>
                <a:spcPct val="100000"/>
              </a:lnSpc>
              <a:buNone/>
              <a:defRPr sz="1650" b="1" i="0">
                <a:solidFill>
                  <a:srgbClr val="FFB454"/>
                </a:solidFill>
                <a:latin typeface="Avenir Next"/>
                <a:ea typeface="Avenir Next"/>
                <a:cs typeface="Avenir Next"/>
              </a:defRPr>
            </a:pPr>
            <a:r>
              <a:rPr sz="1650" b="1" i="0">
                <a:solidFill>
                  <a:srgbClr val="FFB454"/>
                </a:solidFill>
                <a:latin typeface="Avenir Next"/>
                <a:ea typeface="Avenir Next"/>
                <a:cs typeface="Avenir Next"/>
              </a:rPr>
              <a:t>A failed drone leaves a hole in the image.</a:t>
            </a:r>
          </a:p>
        </p:txBody>
      </p:sp>
      <p:sp>
        <p:nvSpPr>
          <p:cNvPr id="8" name="">
            <a:extLst xmlns:a="http://schemas.openxmlformats.org/drawingml/2006/main">
              <a:ext uri="{FF2B5EF4-FFF2-40B4-BE49-F238E27FC236}">
                <a16:creationId xmlns:a16="http://schemas.microsoft.com/office/drawing/2014/main" id="{0256F28F-B7AE-451F-9562-EA9E60D6CCB8}"/>
              </a:ext>
            </a:extLst>
          </p:cNvPr>
          <p:cNvSpPr>
            <a:spLocks xmlns:a="http://schemas.openxmlformats.org/drawingml/2006/main" noGrp="1"/>
          </p:cNvSpPr>
          <p:nvPr/>
        </p:nvSpPr>
        <p:spPr>
          <a:xfrm xmlns:a="http://schemas.openxmlformats.org/drawingml/2006/main">
            <a:off x="5943600" y="1962150"/>
            <a:ext cx="19050" cy="0"/>
          </a:xfrm>
          <a:prstGeom xmlns:a="http://schemas.openxmlformats.org/drawingml/2006/main" prst="rect">
            <a:avLst/>
          </a:prstGeom>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8550297-693D-45F4-BB5C-ECF58420E6ED}"/>
              </a:ext>
            </a:extLst>
          </p:cNvPr>
          <p:cNvSpPr>
            <a:spLocks xmlns:a="http://schemas.openxmlformats.org/drawingml/2006/main" noGrp="1"/>
          </p:cNvSpPr>
          <p:nvPr/>
        </p:nvSpPr>
        <p:spPr>
          <a:xfrm xmlns:a="http://schemas.openxmlformats.org/drawingml/2006/main">
            <a:off x="6667500" y="20383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i="0">
                <a:solidFill>
                  <a:srgbClr val="55D6D2"/>
                </a:solidFill>
                <a:latin typeface="Avenir Next"/>
                <a:ea typeface="Avenir Next"/>
                <a:cs typeface="Avenir Next"/>
              </a:defRPr>
            </a:defPPr>
          </a:lstStyle>
          <a:p xmlns:a="http://schemas.openxmlformats.org/drawingml/2006/main">
            <a:pPr algn="l">
              <a:lnSpc>
                <a:spcPct val="100000"/>
              </a:lnSpc>
              <a:buNone/>
              <a:defRPr sz="1575" b="1" i="0">
                <a:solidFill>
                  <a:srgbClr val="55D6D2"/>
                </a:solidFill>
                <a:latin typeface="Avenir Next"/>
                <a:ea typeface="Avenir Next"/>
                <a:cs typeface="Avenir Next"/>
              </a:defRPr>
            </a:pPr>
            <a:r>
              <a:rPr sz="1575" b="1" i="0">
                <a:solidFill>
                  <a:srgbClr val="55D6D2"/>
                </a:solidFill>
                <a:latin typeface="Avenir Next"/>
                <a:ea typeface="Avenir Next"/>
                <a:cs typeface="Avenir Next"/>
              </a:rPr>
              <a:t>EMERGENT INTELLIGENCE</a:t>
            </a:r>
          </a:p>
        </p:txBody>
      </p:sp>
      <p:sp>
        <p:nvSpPr>
          <p:cNvPr id="10" name="">
            <a:extLst xmlns:a="http://schemas.openxmlformats.org/drawingml/2006/main">
              <a:ext uri="{FF2B5EF4-FFF2-40B4-BE49-F238E27FC236}">
                <a16:creationId xmlns:a16="http://schemas.microsoft.com/office/drawing/2014/main" id="{39DD8EA8-AA62-4EFE-B34C-0C39668659B8}"/>
              </a:ext>
            </a:extLst>
          </p:cNvPr>
          <p:cNvSpPr>
            <a:spLocks xmlns:a="http://schemas.openxmlformats.org/drawingml/2006/main" noGrp="1"/>
          </p:cNvSpPr>
          <p:nvPr/>
        </p:nvSpPr>
        <p:spPr>
          <a:xfrm xmlns:a="http://schemas.openxmlformats.org/drawingml/2006/main">
            <a:off x="6667500" y="262890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i="0">
                <a:solidFill>
                  <a:srgbClr val="F4F1E8"/>
                </a:solidFill>
                <a:latin typeface="Avenir Next"/>
                <a:ea typeface="Avenir Next"/>
                <a:cs typeface="Avenir Next"/>
              </a:defRPr>
            </a:defPPr>
          </a:lstStyle>
          <a:p xmlns:a="http://schemas.openxmlformats.org/drawingml/2006/main">
            <a:pPr algn="l">
              <a:lnSpc>
                <a:spcPct val="100000"/>
              </a:lnSpc>
              <a:buNone/>
              <a:defRPr sz="2250" b="1" i="0">
                <a:solidFill>
                  <a:srgbClr val="F4F1E8"/>
                </a:solidFill>
                <a:latin typeface="Avenir Next"/>
                <a:ea typeface="Avenir Next"/>
                <a:cs typeface="Avenir Next"/>
              </a:defRPr>
            </a:pPr>
            <a:r>
              <a:rPr sz="2250" b="1" i="0">
                <a:solidFill>
                  <a:srgbClr val="F4F1E8"/>
                </a:solidFill>
                <a:latin typeface="Avenir Next"/>
                <a:ea typeface="Avenir Next"/>
                <a:cs typeface="Avenir Next"/>
              </a:rPr>
              <a:t>Local response</a:t>
            </a:r>
          </a:p>
        </p:txBody>
      </p:sp>
      <p:sp>
        <p:nvSpPr>
          <p:cNvPr id="11" name="">
            <a:extLst xmlns:a="http://schemas.openxmlformats.org/drawingml/2006/main">
              <a:ext uri="{FF2B5EF4-FFF2-40B4-BE49-F238E27FC236}">
                <a16:creationId xmlns:a16="http://schemas.microsoft.com/office/drawing/2014/main" id="{28B19F0E-4479-4EA8-BC7B-8BA50D3F5E60}"/>
              </a:ext>
            </a:extLst>
          </p:cNvPr>
          <p:cNvSpPr>
            <a:spLocks xmlns:a="http://schemas.openxmlformats.org/drawingml/2006/main" noGrp="1"/>
          </p:cNvSpPr>
          <p:nvPr/>
        </p:nvSpPr>
        <p:spPr>
          <a:xfrm xmlns:a="http://schemas.openxmlformats.org/drawingml/2006/main">
            <a:off x="6667500" y="3314700"/>
            <a:ext cx="4476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A8BAC8"/>
                </a:solidFill>
                <a:latin typeface="Avenir Next"/>
                <a:ea typeface="Avenir Next"/>
                <a:cs typeface="Avenir Next"/>
              </a:defRPr>
            </a:defPPr>
          </a:lstStyle>
          <a:p xmlns:a="http://schemas.openxmlformats.org/drawingml/2006/main">
            <a:pPr algn="l">
              <a:lnSpc>
                <a:spcPct val="105000"/>
              </a:lnSpc>
              <a:buNone/>
              <a:defRPr sz="1725" b="0" i="0">
                <a:solidFill>
                  <a:srgbClr val="A8BAC8"/>
                </a:solidFill>
                <a:latin typeface="Avenir Next"/>
                <a:ea typeface="Avenir Next"/>
                <a:cs typeface="Avenir Next"/>
              </a:defRPr>
            </a:pPr>
            <a:r>
              <a:rPr sz="1725" b="0" i="0">
                <a:solidFill>
                  <a:srgbClr val="A8BAC8"/>
                </a:solidFill>
                <a:latin typeface="Avenir Next"/>
                <a:ea typeface="Avenir Next"/>
                <a:cs typeface="Avenir Next"/>
              </a:rPr>
              <a:t>Each unit reacts to nearby units. The global pattern emerges from repeated local decisions.</a:t>
            </a:r>
          </a:p>
        </p:txBody>
      </p:sp>
      <p:sp>
        <p:nvSpPr>
          <p:cNvPr id="12" name="">
            <a:extLst xmlns:a="http://schemas.openxmlformats.org/drawingml/2006/main">
              <a:ext uri="{FF2B5EF4-FFF2-40B4-BE49-F238E27FC236}">
                <a16:creationId xmlns:a16="http://schemas.microsoft.com/office/drawing/2014/main" id="{B6A9B8B3-726C-461E-8C6F-AC7943C9CE9A}"/>
              </a:ext>
            </a:extLst>
          </p:cNvPr>
          <p:cNvSpPr>
            <a:spLocks xmlns:a="http://schemas.openxmlformats.org/drawingml/2006/main" noGrp="1"/>
          </p:cNvSpPr>
          <p:nvPr/>
        </p:nvSpPr>
        <p:spPr>
          <a:xfrm xmlns:a="http://schemas.openxmlformats.org/drawingml/2006/main">
            <a:off x="6667500" y="46672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i="0">
                <a:solidFill>
                  <a:srgbClr val="55D6D2"/>
                </a:solidFill>
                <a:latin typeface="Avenir Next"/>
                <a:ea typeface="Avenir Next"/>
                <a:cs typeface="Avenir Next"/>
              </a:defRPr>
            </a:defPPr>
          </a:lstStyle>
          <a:p xmlns:a="http://schemas.openxmlformats.org/drawingml/2006/main">
            <a:pPr algn="l">
              <a:lnSpc>
                <a:spcPct val="100000"/>
              </a:lnSpc>
              <a:buNone/>
              <a:defRPr sz="1650" b="1" i="0">
                <a:solidFill>
                  <a:srgbClr val="55D6D2"/>
                </a:solidFill>
                <a:latin typeface="Avenir Next"/>
                <a:ea typeface="Avenir Next"/>
                <a:cs typeface="Avenir Next"/>
              </a:defRPr>
            </a:pPr>
            <a:r>
              <a:rPr sz="1650" b="1" i="0">
                <a:solidFill>
                  <a:srgbClr val="55D6D2"/>
                </a:solidFill>
                <a:latin typeface="Avenir Next"/>
                <a:ea typeface="Avenir Next"/>
                <a:cs typeface="Avenir Next"/>
              </a:rPr>
              <a:t>The group can adapt when conditions change.</a:t>
            </a:r>
          </a:p>
        </p:txBody>
      </p:sp>
      <p:sp>
        <p:nvSpPr>
          <p:cNvPr id="13" name="">
            <a:extLst xmlns:a="http://schemas.openxmlformats.org/drawingml/2006/main">
              <a:ext uri="{FF2B5EF4-FFF2-40B4-BE49-F238E27FC236}">
                <a16:creationId xmlns:a16="http://schemas.microsoft.com/office/drawing/2014/main" id="{CD65BDA1-74F1-4CE2-B349-CB06564D3992}"/>
              </a:ext>
            </a:extLst>
          </p:cNvPr>
          <p:cNvSpPr>
            <a:spLocks xmlns:a="http://schemas.openxmlformats.org/drawingml/2006/main" noGrp="1"/>
          </p:cNvSpPr>
          <p:nvPr/>
        </p:nvSpPr>
        <p:spPr>
          <a:xfrm xmlns:a="http://schemas.openxmlformats.org/drawingml/2006/main">
            <a:off x="1219200" y="5848350"/>
            <a:ext cx="975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i="0">
                <a:solidFill>
                  <a:srgbClr val="F4F1E8"/>
                </a:solidFill>
                <a:latin typeface="Avenir Next"/>
                <a:ea typeface="Avenir Next"/>
                <a:cs typeface="Avenir Next"/>
              </a:defRPr>
            </a:defPPr>
          </a:lstStyle>
          <a:p xmlns:a="http://schemas.openxmlformats.org/drawingml/2006/main">
            <a:pPr algn="ctr">
              <a:lnSpc>
                <a:spcPct val="100000"/>
              </a:lnSpc>
              <a:buNone/>
              <a:defRPr sz="2100" b="1" i="0">
                <a:solidFill>
                  <a:srgbClr val="F4F1E8"/>
                </a:solidFill>
                <a:latin typeface="Avenir Next"/>
                <a:ea typeface="Avenir Next"/>
                <a:cs typeface="Avenir Next"/>
              </a:defRPr>
            </a:pPr>
            <a:r>
              <a:rPr sz="2100" b="1" i="0">
                <a:solidFill>
                  <a:srgbClr val="F4F1E8"/>
                </a:solidFill>
                <a:latin typeface="Avenir Next"/>
                <a:ea typeface="Avenir Next"/>
                <a:cs typeface="Avenir Next"/>
              </a:rPr>
              <a:t>Automation executes a plan. Emergent intelligence produces adaptive behavior.</a:t>
            </a:r>
          </a:p>
        </p:txBody>
      </p:sp>
    </p:spTree>
    <p:extLst>
      <p:ext uri="{BB962C8B-B14F-4D97-AF65-F5344CB8AC3E}">
        <p14:creationId xmlns:p14="http://schemas.microsoft.com/office/powerpoint/2010/main" val="290836010"/>
      </p:ext>
    </p:extLst>
  </p:cSld>
</p:sld>
</file>

<file path=ppt/slides/slide13.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638FCE9-AFFF-4D16-AD6A-DD5A0FA7237E}"/>
              </a:ext>
            </a:extLst>
          </p:cNvPr>
          <p:cNvSpPr>
            <a:spLocks xmlns:a="http://schemas.openxmlformats.org/drawingml/2006/main" noGrp="1"/>
          </p:cNvSpPr>
          <p:nvPr/>
        </p:nvSpPr>
        <p:spPr>
          <a:xfrm xmlns:a="http://schemas.openxmlformats.org/drawingml/2006/main">
            <a:off x="685800" y="4953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10202C"/>
                </a:solidFill>
                <a:latin typeface="Avenir Next"/>
                <a:ea typeface="Avenir Next"/>
                <a:cs typeface="Avenir Next"/>
              </a:defRPr>
            </a:defPPr>
          </a:lstStyle>
          <a:p xmlns:a="http://schemas.openxmlformats.org/drawingml/2006/main">
            <a:pPr algn="l">
              <a:lnSpc>
                <a:spcPct val="100000"/>
              </a:lnSpc>
              <a:buNone/>
              <a:defRPr sz="3450" b="1" i="0">
                <a:solidFill>
                  <a:srgbClr val="10202C"/>
                </a:solidFill>
                <a:latin typeface="Avenir Next"/>
                <a:ea typeface="Avenir Next"/>
                <a:cs typeface="Avenir Next"/>
              </a:defRPr>
            </a:pPr>
            <a:r>
              <a:rPr sz="3450" b="1" i="0">
                <a:solidFill>
                  <a:srgbClr val="10202C"/>
                </a:solidFill>
                <a:latin typeface="Avenir Next"/>
                <a:ea typeface="Avenir Next"/>
                <a:cs typeface="Avenir Next"/>
              </a:rPr>
              <a:t>Smart cities can begin as software</a:t>
            </a:r>
          </a:p>
        </p:txBody>
      </p:sp>
      <p:sp>
        <p:nvSpPr>
          <p:cNvPr id="2" name="">
            <a:extLst xmlns:a="http://schemas.openxmlformats.org/drawingml/2006/main">
              <a:ext uri="{FF2B5EF4-FFF2-40B4-BE49-F238E27FC236}">
                <a16:creationId xmlns:a16="http://schemas.microsoft.com/office/drawing/2014/main" id="{15910DD3-CD47-4A28-A4A2-511B841A71A0}"/>
              </a:ext>
            </a:extLst>
          </p:cNvPr>
          <p:cNvSpPr>
            <a:spLocks xmlns:a="http://schemas.openxmlformats.org/drawingml/2006/main" noGrp="1"/>
          </p:cNvSpPr>
          <p:nvPr/>
        </p:nvSpPr>
        <p:spPr>
          <a:xfrm xmlns:a="http://schemas.openxmlformats.org/drawingml/2006/main">
            <a:off x="685800" y="1333500"/>
            <a:ext cx="857250" cy="38100"/>
          </a:xfrm>
          <a:prstGeom xmlns:a="http://schemas.openxmlformats.org/drawingml/2006/main" prst="rect">
            <a:avLst/>
          </a:prstGeom>
          <a:solidFill xmlns:a="http://schemas.openxmlformats.org/drawingml/2006/main">
            <a:srgbClr val="55D6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1A3E05A-DD13-4FC1-A2C2-8FB065F7A9B6}"/>
              </a:ext>
            </a:extLst>
          </p:cNvPr>
          <p:cNvSpPr>
            <a:spLocks xmlns:a="http://schemas.openxmlformats.org/drawingml/2006/main" noGrp="1"/>
          </p:cNvSpPr>
          <p:nvPr/>
        </p:nvSpPr>
        <p:spPr>
          <a:xfrm xmlns:a="http://schemas.openxmlformats.org/drawingml/2006/main">
            <a:off x="742950" y="19240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5B8CFF"/>
                </a:solidFill>
                <a:latin typeface="Avenir Next"/>
                <a:ea typeface="Avenir Next"/>
                <a:cs typeface="Avenir Next"/>
              </a:defRPr>
            </a:defPPr>
          </a:lstStyle>
          <a:p xmlns:a="http://schemas.openxmlformats.org/drawingml/2006/main">
            <a:pPr algn="l">
              <a:lnSpc>
                <a:spcPct val="100000"/>
              </a:lnSpc>
              <a:buNone/>
              <a:defRPr sz="1950" b="1" i="0">
                <a:solidFill>
                  <a:srgbClr val="5B8CFF"/>
                </a:solidFill>
                <a:latin typeface="Avenir Next"/>
                <a:ea typeface="Avenir Next"/>
                <a:cs typeface="Avenir Next"/>
              </a:defRPr>
            </a:pPr>
            <a:r>
              <a:rPr sz="1950" b="1" i="0">
                <a:solidFill>
                  <a:srgbClr val="5B8CFF"/>
                </a:solidFill>
                <a:latin typeface="Avenir Next"/>
                <a:ea typeface="Avenir Next"/>
                <a:cs typeface="Avenir Next"/>
              </a:rPr>
              <a:t>Simulation before infrastructure</a:t>
            </a:r>
          </a:p>
        </p:txBody>
      </p:sp>
      <p:sp>
        <p:nvSpPr>
          <p:cNvPr id="4" name="">
            <a:extLst xmlns:a="http://schemas.openxmlformats.org/drawingml/2006/main">
              <a:ext uri="{FF2B5EF4-FFF2-40B4-BE49-F238E27FC236}">
                <a16:creationId xmlns:a16="http://schemas.microsoft.com/office/drawing/2014/main" id="{EA7C0D05-7C51-42C2-AECC-D9388F48BBC0}"/>
              </a:ext>
            </a:extLst>
          </p:cNvPr>
          <p:cNvSpPr>
            <a:spLocks xmlns:a="http://schemas.openxmlformats.org/drawingml/2006/main" noGrp="1"/>
          </p:cNvSpPr>
          <p:nvPr/>
        </p:nvSpPr>
        <p:spPr>
          <a:xfrm xmlns:a="http://schemas.openxmlformats.org/drawingml/2006/main">
            <a:off x="742950" y="2495550"/>
            <a:ext cx="4762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536B79"/>
                </a:solidFill>
                <a:latin typeface="Avenir Next"/>
                <a:ea typeface="Avenir Next"/>
                <a:cs typeface="Avenir Next"/>
              </a:defRPr>
            </a:defPPr>
          </a:lstStyle>
          <a:p xmlns:a="http://schemas.openxmlformats.org/drawingml/2006/main">
            <a:pPr algn="l">
              <a:lnSpc>
                <a:spcPct val="105000"/>
              </a:lnSpc>
              <a:buNone/>
              <a:defRPr sz="1725" b="0" i="0">
                <a:solidFill>
                  <a:srgbClr val="536B79"/>
                </a:solidFill>
                <a:latin typeface="Avenir Next"/>
                <a:ea typeface="Avenir Next"/>
                <a:cs typeface="Avenir Next"/>
              </a:defRPr>
            </a:pPr>
            <a:r>
              <a:rPr sz="1725" b="0" i="0">
                <a:solidFill>
                  <a:srgbClr val="536B79"/>
                </a:solidFill>
                <a:latin typeface="Avenir Next"/>
                <a:ea typeface="Avenir Next"/>
                <a:cs typeface="Avenir Next"/>
              </a:rPr>
              <a:t>Students can model traffic behavior on ordinary computers before a city invests in sensors, roads, or new vehicles.</a:t>
            </a:r>
          </a:p>
        </p:txBody>
      </p:sp>
      <p:sp>
        <p:nvSpPr>
          <p:cNvPr id="5" name="">
            <a:extLst xmlns:a="http://schemas.openxmlformats.org/drawingml/2006/main">
              <a:ext uri="{FF2B5EF4-FFF2-40B4-BE49-F238E27FC236}">
                <a16:creationId xmlns:a16="http://schemas.microsoft.com/office/drawing/2014/main" id="{B0AE6FF6-77B8-48DC-B160-FF9ECA5CFC1D}"/>
              </a:ext>
            </a:extLst>
          </p:cNvPr>
          <p:cNvSpPr>
            <a:spLocks xmlns:a="http://schemas.openxmlformats.org/drawingml/2006/main" noGrp="1"/>
          </p:cNvSpPr>
          <p:nvPr/>
        </p:nvSpPr>
        <p:spPr>
          <a:xfrm xmlns:a="http://schemas.openxmlformats.org/drawingml/2006/main">
            <a:off x="6572250" y="1924050"/>
            <a:ext cx="390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FF7A70"/>
                </a:solidFill>
                <a:latin typeface="Avenir Next"/>
                <a:ea typeface="Avenir Next"/>
                <a:cs typeface="Avenir Next"/>
              </a:defRPr>
            </a:defPPr>
          </a:lstStyle>
          <a:p xmlns:a="http://schemas.openxmlformats.org/drawingml/2006/main">
            <a:pPr algn="l">
              <a:lnSpc>
                <a:spcPct val="100000"/>
              </a:lnSpc>
              <a:buNone/>
              <a:defRPr sz="1950" b="1" i="0">
                <a:solidFill>
                  <a:srgbClr val="FF7A70"/>
                </a:solidFill>
                <a:latin typeface="Avenir Next"/>
                <a:ea typeface="Avenir Next"/>
                <a:cs typeface="Avenir Next"/>
              </a:defRPr>
            </a:pPr>
            <a:r>
              <a:rPr sz="1950" b="1" i="0">
                <a:solidFill>
                  <a:srgbClr val="FF7A70"/>
                </a:solidFill>
                <a:latin typeface="Avenir Next"/>
                <a:ea typeface="Avenir Next"/>
                <a:cs typeface="Avenir Next"/>
              </a:rPr>
              <a:t>Local coordination</a:t>
            </a:r>
          </a:p>
        </p:txBody>
      </p:sp>
      <p:sp>
        <p:nvSpPr>
          <p:cNvPr id="6" name="">
            <a:extLst xmlns:a="http://schemas.openxmlformats.org/drawingml/2006/main">
              <a:ext uri="{FF2B5EF4-FFF2-40B4-BE49-F238E27FC236}">
                <a16:creationId xmlns:a16="http://schemas.microsoft.com/office/drawing/2014/main" id="{DFC28E3E-E4DD-4EBD-A2CE-B7193E409243}"/>
              </a:ext>
            </a:extLst>
          </p:cNvPr>
          <p:cNvSpPr>
            <a:spLocks xmlns:a="http://schemas.openxmlformats.org/drawingml/2006/main" noGrp="1"/>
          </p:cNvSpPr>
          <p:nvPr/>
        </p:nvSpPr>
        <p:spPr>
          <a:xfrm xmlns:a="http://schemas.openxmlformats.org/drawingml/2006/main">
            <a:off x="6572250" y="2495550"/>
            <a:ext cx="4762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536B79"/>
                </a:solidFill>
                <a:latin typeface="Avenir Next"/>
                <a:ea typeface="Avenir Next"/>
                <a:cs typeface="Avenir Next"/>
              </a:defRPr>
            </a:defPPr>
          </a:lstStyle>
          <a:p xmlns:a="http://schemas.openxmlformats.org/drawingml/2006/main">
            <a:pPr algn="l">
              <a:lnSpc>
                <a:spcPct val="105000"/>
              </a:lnSpc>
              <a:buNone/>
              <a:defRPr sz="1725" b="0" i="0">
                <a:solidFill>
                  <a:srgbClr val="536B79"/>
                </a:solidFill>
                <a:latin typeface="Avenir Next"/>
                <a:ea typeface="Avenir Next"/>
                <a:cs typeface="Avenir Next"/>
              </a:defRPr>
            </a:pPr>
            <a:r>
              <a:rPr sz="1725" b="0" i="0">
                <a:solidFill>
                  <a:srgbClr val="536B79"/>
                </a:solidFill>
                <a:latin typeface="Avenir Next"/>
                <a:ea typeface="Avenir Next"/>
                <a:cs typeface="Avenir Next"/>
              </a:rPr>
              <a:t>Vehicles and signals can respond to nearby conditions. The overall traffic pattern changes as those local decisions interact.</a:t>
            </a:r>
          </a:p>
        </p:txBody>
      </p:sp>
      <p:sp>
        <p:nvSpPr>
          <p:cNvPr id="7" name="">
            <a:extLst xmlns:a="http://schemas.openxmlformats.org/drawingml/2006/main">
              <a:ext uri="{FF2B5EF4-FFF2-40B4-BE49-F238E27FC236}">
                <a16:creationId xmlns:a16="http://schemas.microsoft.com/office/drawing/2014/main" id="{99EA12A4-CCD1-4BB1-A03B-A1D12B9D0098}"/>
              </a:ext>
            </a:extLst>
          </p:cNvPr>
          <p:cNvSpPr>
            <a:spLocks xmlns:a="http://schemas.openxmlformats.org/drawingml/2006/main" noGrp="1"/>
          </p:cNvSpPr>
          <p:nvPr/>
        </p:nvSpPr>
        <p:spPr>
          <a:xfrm xmlns:a="http://schemas.openxmlformats.org/drawingml/2006/main">
            <a:off x="742950" y="4057650"/>
            <a:ext cx="10572750" cy="19050"/>
          </a:xfrm>
          <a:prstGeom xmlns:a="http://schemas.openxmlformats.org/drawingml/2006/main" prst="rect">
            <a:avLst/>
          </a:prstGeom>
          <a:solidFill xmlns:a="http://schemas.openxmlformats.org/drawingml/2006/main">
            <a:srgbClr val="CCD7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7F398C7-45B5-41D3-B05F-74E8E15F0EA5}"/>
              </a:ext>
            </a:extLst>
          </p:cNvPr>
          <p:cNvSpPr>
            <a:spLocks xmlns:a="http://schemas.openxmlformats.org/drawingml/2006/main" noGrp="1"/>
          </p:cNvSpPr>
          <p:nvPr/>
        </p:nvSpPr>
        <p:spPr>
          <a:xfrm xmlns:a="http://schemas.openxmlformats.org/drawingml/2006/main">
            <a:off x="742950" y="4476750"/>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i="0">
                <a:solidFill>
                  <a:srgbClr val="55D6D2"/>
                </a:solidFill>
                <a:latin typeface="Avenir Next"/>
                <a:ea typeface="Avenir Next"/>
                <a:cs typeface="Avenir Next"/>
              </a:defRPr>
            </a:defPPr>
          </a:lstStyle>
          <a:p xmlns:a="http://schemas.openxmlformats.org/drawingml/2006/main">
            <a:pPr algn="l">
              <a:lnSpc>
                <a:spcPct val="100000"/>
              </a:lnSpc>
              <a:buNone/>
              <a:defRPr sz="1575" b="1" i="0">
                <a:solidFill>
                  <a:srgbClr val="55D6D2"/>
                </a:solidFill>
                <a:latin typeface="Avenir Next"/>
                <a:ea typeface="Avenir Next"/>
                <a:cs typeface="Avenir Next"/>
              </a:defRPr>
            </a:pPr>
            <a:r>
              <a:rPr sz="1575" b="1" i="0">
                <a:solidFill>
                  <a:srgbClr val="55D6D2"/>
                </a:solidFill>
                <a:latin typeface="Avenir Next"/>
                <a:ea typeface="Avenir Next"/>
                <a:cs typeface="Avenir Next"/>
              </a:rPr>
              <a:t>Student project</a:t>
            </a:r>
          </a:p>
        </p:txBody>
      </p:sp>
      <p:sp>
        <p:nvSpPr>
          <p:cNvPr id="9" name="">
            <a:extLst xmlns:a="http://schemas.openxmlformats.org/drawingml/2006/main">
              <a:ext uri="{FF2B5EF4-FFF2-40B4-BE49-F238E27FC236}">
                <a16:creationId xmlns:a16="http://schemas.microsoft.com/office/drawing/2014/main" id="{BCF669FD-9D86-4764-88A2-B1227D24410C}"/>
              </a:ext>
            </a:extLst>
          </p:cNvPr>
          <p:cNvSpPr>
            <a:spLocks xmlns:a="http://schemas.openxmlformats.org/drawingml/2006/main" noGrp="1"/>
          </p:cNvSpPr>
          <p:nvPr/>
        </p:nvSpPr>
        <p:spPr>
          <a:xfrm xmlns:a="http://schemas.openxmlformats.org/drawingml/2006/main">
            <a:off x="742950" y="5010150"/>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i="0">
                <a:solidFill>
                  <a:srgbClr val="10202C"/>
                </a:solidFill>
                <a:latin typeface="Avenir Next"/>
                <a:ea typeface="Avenir Next"/>
                <a:cs typeface="Avenir Next"/>
              </a:defRPr>
            </a:defPPr>
          </a:lstStyle>
          <a:p xmlns:a="http://schemas.openxmlformats.org/drawingml/2006/main">
            <a:pPr algn="l">
              <a:lnSpc>
                <a:spcPct val="104000"/>
              </a:lnSpc>
              <a:buNone/>
              <a:defRPr sz="2025" b="1" i="0">
                <a:solidFill>
                  <a:srgbClr val="10202C"/>
                </a:solidFill>
                <a:latin typeface="Avenir Next"/>
                <a:ea typeface="Avenir Next"/>
                <a:cs typeface="Avenir Next"/>
              </a:defRPr>
            </a:pPr>
            <a:r>
              <a:rPr sz="2025" b="1" i="0">
                <a:solidFill>
                  <a:srgbClr val="10202C"/>
                </a:solidFill>
                <a:latin typeface="Avenir Next"/>
                <a:ea typeface="Avenir Next"/>
                <a:cs typeface="Avenir Next"/>
              </a:rPr>
              <a:t>Model one congested intersection in Jordan. Compare queue length, travel time, and conflict points before and after a new control strategy.</a:t>
            </a:r>
          </a:p>
        </p:txBody>
      </p:sp>
    </p:spTree>
    <p:extLst>
      <p:ext uri="{BB962C8B-B14F-4D97-AF65-F5344CB8AC3E}">
        <p14:creationId xmlns:p14="http://schemas.microsoft.com/office/powerpoint/2010/main" val="819235871"/>
      </p:ext>
    </p:extLst>
  </p:cSld>
</p:sld>
</file>

<file path=ppt/slides/slide14.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5EA47F4-19FF-4667-8EE5-32F248905FF2}"/>
              </a:ext>
            </a:extLst>
          </p:cNvPr>
          <p:cNvSpPr>
            <a:spLocks xmlns:a="http://schemas.openxmlformats.org/drawingml/2006/main" noGrp="1"/>
          </p:cNvSpPr>
          <p:nvPr/>
        </p:nvSpPr>
        <p:spPr>
          <a:xfrm xmlns:a="http://schemas.openxmlformats.org/drawingml/2006/main">
            <a:off x="704850" y="1009650"/>
            <a:ext cx="1619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100" b="1" i="0">
                <a:solidFill>
                  <a:srgbClr val="55D6D2"/>
                </a:solidFill>
                <a:latin typeface="Avenir Next"/>
                <a:ea typeface="Avenir Next"/>
                <a:cs typeface="Avenir Next"/>
              </a:defRPr>
            </a:defPPr>
          </a:lstStyle>
          <a:p xmlns:a="http://schemas.openxmlformats.org/drawingml/2006/main">
            <a:pPr algn="l">
              <a:lnSpc>
                <a:spcPct val="100000"/>
              </a:lnSpc>
              <a:buNone/>
              <a:defRPr sz="11100" b="1" i="0">
                <a:solidFill>
                  <a:srgbClr val="55D6D2"/>
                </a:solidFill>
                <a:latin typeface="Avenir Next"/>
                <a:ea typeface="Avenir Next"/>
                <a:cs typeface="Avenir Next"/>
              </a:defRPr>
            </a:pPr>
            <a:r>
              <a:rPr sz="11100" b="1" i="0">
                <a:solidFill>
                  <a:srgbClr val="55D6D2"/>
                </a:solidFill>
                <a:latin typeface="Avenir Next"/>
                <a:ea typeface="Avenir Next"/>
                <a:cs typeface="Avenir Next"/>
              </a:rPr>
              <a:t>3</a:t>
            </a:r>
          </a:p>
        </p:txBody>
      </p:sp>
      <p:sp>
        <p:nvSpPr>
          <p:cNvPr id="2" name="">
            <a:extLst xmlns:a="http://schemas.openxmlformats.org/drawingml/2006/main">
              <a:ext uri="{FF2B5EF4-FFF2-40B4-BE49-F238E27FC236}">
                <a16:creationId xmlns:a16="http://schemas.microsoft.com/office/drawing/2014/main" id="{7A89608A-CA1D-4F30-B559-04899981F7A8}"/>
              </a:ext>
            </a:extLst>
          </p:cNvPr>
          <p:cNvSpPr>
            <a:spLocks xmlns:a="http://schemas.openxmlformats.org/drawingml/2006/main" noGrp="1"/>
          </p:cNvSpPr>
          <p:nvPr/>
        </p:nvSpPr>
        <p:spPr>
          <a:xfrm xmlns:a="http://schemas.openxmlformats.org/drawingml/2006/main">
            <a:off x="781050" y="28765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i="0">
                <a:solidFill>
                  <a:srgbClr val="A8BAC8"/>
                </a:solidFill>
                <a:latin typeface="Avenir Next"/>
                <a:ea typeface="Avenir Next"/>
                <a:cs typeface="Avenir Next"/>
              </a:defRPr>
            </a:defPPr>
          </a:lstStyle>
          <a:p xmlns:a="http://schemas.openxmlformats.org/drawingml/2006/main">
            <a:pPr algn="l">
              <a:lnSpc>
                <a:spcPct val="100000"/>
              </a:lnSpc>
              <a:buNone/>
              <a:defRPr sz="1350" b="1" i="0">
                <a:solidFill>
                  <a:srgbClr val="A8BAC8"/>
                </a:solidFill>
                <a:latin typeface="Avenir Next"/>
                <a:ea typeface="Avenir Next"/>
                <a:cs typeface="Avenir Next"/>
              </a:defRPr>
            </a:pPr>
            <a:r>
              <a:rPr sz="1350" b="1" i="0">
                <a:solidFill>
                  <a:srgbClr val="A8BAC8"/>
                </a:solidFill>
                <a:latin typeface="Avenir Next"/>
                <a:ea typeface="Avenir Next"/>
                <a:cs typeface="Avenir Next"/>
              </a:rPr>
              <a:t>LESSON THREE</a:t>
            </a:r>
          </a:p>
        </p:txBody>
      </p:sp>
      <p:sp>
        <p:nvSpPr>
          <p:cNvPr id="3" name="">
            <a:extLst xmlns:a="http://schemas.openxmlformats.org/drawingml/2006/main">
              <a:ext uri="{FF2B5EF4-FFF2-40B4-BE49-F238E27FC236}">
                <a16:creationId xmlns:a16="http://schemas.microsoft.com/office/drawing/2014/main" id="{2DA40264-7C16-4555-850E-13ED7E906C0B}"/>
              </a:ext>
            </a:extLst>
          </p:cNvPr>
          <p:cNvSpPr>
            <a:spLocks xmlns:a="http://schemas.openxmlformats.org/drawingml/2006/main" noGrp="1"/>
          </p:cNvSpPr>
          <p:nvPr/>
        </p:nvSpPr>
        <p:spPr>
          <a:xfrm xmlns:a="http://schemas.openxmlformats.org/drawingml/2006/main">
            <a:off x="2857500" y="971550"/>
            <a:ext cx="4572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i="0">
                <a:solidFill>
                  <a:srgbClr val="F4F1E8"/>
                </a:solidFill>
                <a:latin typeface="Avenir Next"/>
                <a:ea typeface="Avenir Next"/>
                <a:cs typeface="Avenir Next"/>
              </a:defRPr>
            </a:defPPr>
          </a:lstStyle>
          <a:p xmlns:a="http://schemas.openxmlformats.org/drawingml/2006/main">
            <a:pPr algn="l">
              <a:lnSpc>
                <a:spcPct val="95000"/>
              </a:lnSpc>
              <a:buNone/>
              <a:defRPr sz="4050" b="1" i="0">
                <a:solidFill>
                  <a:srgbClr val="F4F1E8"/>
                </a:solidFill>
                <a:latin typeface="Avenir Next"/>
                <a:ea typeface="Avenir Next"/>
                <a:cs typeface="Avenir Next"/>
              </a:defRPr>
            </a:pPr>
            <a:r>
              <a:rPr sz="4050" b="1" i="0">
                <a:solidFill>
                  <a:srgbClr val="F4F1E8"/>
                </a:solidFill>
                <a:latin typeface="Avenir Next"/>
                <a:ea typeface="Avenir Next"/>
                <a:cs typeface="Avenir Next"/>
              </a:rPr>
              <a:t>Keep the human</a:t>
            </a:r>
          </a:p>
          <a:p xmlns:a="http://schemas.openxmlformats.org/drawingml/2006/main">
            <a:pPr algn="l">
              <a:lnSpc>
                <a:spcPct val="95000"/>
              </a:lnSpc>
              <a:buNone/>
              <a:defRPr sz="4050" b="1" i="0">
                <a:solidFill>
                  <a:srgbClr val="F4F1E8"/>
                </a:solidFill>
                <a:latin typeface="Avenir Next"/>
                <a:ea typeface="Avenir Next"/>
                <a:cs typeface="Avenir Next"/>
              </a:defRPr>
            </a:pPr>
            <a:r>
              <a:rPr sz="4050" b="1" i="0">
                <a:solidFill>
                  <a:srgbClr val="F4F1E8"/>
                </a:solidFill>
                <a:latin typeface="Avenir Next"/>
                <a:ea typeface="Avenir Next"/>
                <a:cs typeface="Avenir Next"/>
              </a:rPr>
              <a:t>in the loop</a:t>
            </a:r>
          </a:p>
        </p:txBody>
      </p:sp>
      <p:sp>
        <p:nvSpPr>
          <p:cNvPr id="4" name="">
            <a:extLst xmlns:a="http://schemas.openxmlformats.org/drawingml/2006/main">
              <a:ext uri="{FF2B5EF4-FFF2-40B4-BE49-F238E27FC236}">
                <a16:creationId xmlns:a16="http://schemas.microsoft.com/office/drawing/2014/main" id="{351CD0C7-BB7E-4178-98B5-1F99B870BAC2}"/>
              </a:ext>
            </a:extLst>
          </p:cNvPr>
          <p:cNvSpPr>
            <a:spLocks xmlns:a="http://schemas.openxmlformats.org/drawingml/2006/main" noGrp="1"/>
          </p:cNvSpPr>
          <p:nvPr/>
        </p:nvSpPr>
        <p:spPr>
          <a:xfrm xmlns:a="http://schemas.openxmlformats.org/drawingml/2006/main">
            <a:off x="2914650" y="2609850"/>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i="0">
                <a:solidFill>
                  <a:srgbClr val="55D6D2"/>
                </a:solidFill>
                <a:latin typeface="Avenir Next"/>
                <a:ea typeface="Avenir Next"/>
                <a:cs typeface="Avenir Next"/>
              </a:defRPr>
            </a:defPPr>
          </a:lstStyle>
          <a:p xmlns:a="http://schemas.openxmlformats.org/drawingml/2006/main">
            <a:pPr algn="l">
              <a:lnSpc>
                <a:spcPct val="100000"/>
              </a:lnSpc>
              <a:buNone/>
              <a:defRPr sz="1800" b="1" i="0">
                <a:solidFill>
                  <a:srgbClr val="55D6D2"/>
                </a:solidFill>
                <a:latin typeface="Avenir Next"/>
                <a:ea typeface="Avenir Next"/>
                <a:cs typeface="Avenir Next"/>
              </a:defRPr>
            </a:pPr>
            <a:r>
              <a:rPr sz="1800" b="1" i="0">
                <a:solidFill>
                  <a:srgbClr val="55D6D2"/>
                </a:solidFill>
                <a:latin typeface="Avenir Next"/>
                <a:ea typeface="Avenir Next"/>
                <a:cs typeface="Avenir Next"/>
              </a:rPr>
              <a:t>The Bristol experiment</a:t>
            </a:r>
          </a:p>
        </p:txBody>
      </p:sp>
      <p:sp>
        <p:nvSpPr>
          <p:cNvPr id="5" name="">
            <a:extLst xmlns:a="http://schemas.openxmlformats.org/drawingml/2006/main">
              <a:ext uri="{FF2B5EF4-FFF2-40B4-BE49-F238E27FC236}">
                <a16:creationId xmlns:a16="http://schemas.microsoft.com/office/drawing/2014/main" id="{54CDC6CE-FB45-423B-92C7-1CA1210F89DA}"/>
              </a:ext>
            </a:extLst>
          </p:cNvPr>
          <p:cNvSpPr>
            <a:spLocks xmlns:a="http://schemas.openxmlformats.org/drawingml/2006/main" noGrp="1"/>
          </p:cNvSpPr>
          <p:nvPr/>
        </p:nvSpPr>
        <p:spPr>
          <a:xfrm xmlns:a="http://schemas.openxmlformats.org/drawingml/2006/main">
            <a:off x="2914650" y="337185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i="0">
                <a:solidFill>
                  <a:srgbClr val="A8BAC8"/>
                </a:solidFill>
                <a:latin typeface="Avenir Next"/>
                <a:ea typeface="Avenir Next"/>
                <a:cs typeface="Avenir Next"/>
              </a:defRPr>
            </a:defPPr>
          </a:lstStyle>
          <a:p xmlns:a="http://schemas.openxmlformats.org/drawingml/2006/main">
            <a:pPr algn="l">
              <a:lnSpc>
                <a:spcPct val="100000"/>
              </a:lnSpc>
              <a:buNone/>
              <a:defRPr sz="1500" b="1" i="0">
                <a:solidFill>
                  <a:srgbClr val="A8BAC8"/>
                </a:solidFill>
                <a:latin typeface="Avenir Next"/>
                <a:ea typeface="Avenir Next"/>
                <a:cs typeface="Avenir Next"/>
              </a:defRPr>
            </a:pPr>
            <a:r>
              <a:rPr sz="1500" b="1" i="0">
                <a:solidFill>
                  <a:srgbClr val="A8BAC8"/>
                </a:solidFill>
                <a:latin typeface="Avenir Next"/>
                <a:ea typeface="Avenir Next"/>
                <a:cs typeface="Avenir Next"/>
              </a:rPr>
              <a:t>HUMAN ONLY</a:t>
            </a:r>
          </a:p>
        </p:txBody>
      </p:sp>
      <p:sp>
        <p:nvSpPr>
          <p:cNvPr id="6" name="">
            <a:extLst xmlns:a="http://schemas.openxmlformats.org/drawingml/2006/main">
              <a:ext uri="{FF2B5EF4-FFF2-40B4-BE49-F238E27FC236}">
                <a16:creationId xmlns:a16="http://schemas.microsoft.com/office/drawing/2014/main" id="{6DB7976C-2423-4DA4-970C-F079B9A0481B}"/>
              </a:ext>
            </a:extLst>
          </p:cNvPr>
          <p:cNvSpPr>
            <a:spLocks xmlns:a="http://schemas.openxmlformats.org/drawingml/2006/main" noGrp="1"/>
          </p:cNvSpPr>
          <p:nvPr/>
        </p:nvSpPr>
        <p:spPr>
          <a:xfrm xmlns:a="http://schemas.openxmlformats.org/drawingml/2006/main">
            <a:off x="5219700" y="3352800"/>
            <a:ext cx="571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F4F1E8"/>
                </a:solidFill>
                <a:latin typeface="Avenir Next"/>
                <a:ea typeface="Avenir Next"/>
                <a:cs typeface="Avenir Next"/>
              </a:defRPr>
            </a:defPPr>
          </a:lstStyle>
          <a:p xmlns:a="http://schemas.openxmlformats.org/drawingml/2006/main">
            <a:pPr algn="l">
              <a:lnSpc>
                <a:spcPct val="100000"/>
              </a:lnSpc>
              <a:buNone/>
              <a:defRPr sz="1650" b="0" i="0">
                <a:solidFill>
                  <a:srgbClr val="F4F1E8"/>
                </a:solidFill>
                <a:latin typeface="Avenir Next"/>
                <a:ea typeface="Avenir Next"/>
                <a:cs typeface="Avenir Next"/>
              </a:defRPr>
            </a:pPr>
            <a:r>
              <a:rPr sz="1650" b="0" i="0">
                <a:solidFill>
                  <a:srgbClr val="F4F1E8"/>
                </a:solidFill>
                <a:latin typeface="Avenir Next"/>
                <a:ea typeface="Avenir Next"/>
                <a:cs typeface="Avenir Next"/>
              </a:rPr>
              <a:t>Experts build the complete solution from experience.</a:t>
            </a:r>
          </a:p>
        </p:txBody>
      </p:sp>
      <p:sp>
        <p:nvSpPr>
          <p:cNvPr id="7" name="">
            <a:extLst xmlns:a="http://schemas.openxmlformats.org/drawingml/2006/main">
              <a:ext uri="{FF2B5EF4-FFF2-40B4-BE49-F238E27FC236}">
                <a16:creationId xmlns:a16="http://schemas.microsoft.com/office/drawing/2014/main" id="{26179C2C-4242-47EA-87E1-E5975B590EB9}"/>
              </a:ext>
            </a:extLst>
          </p:cNvPr>
          <p:cNvSpPr>
            <a:spLocks xmlns:a="http://schemas.openxmlformats.org/drawingml/2006/main" noGrp="1"/>
          </p:cNvSpPr>
          <p:nvPr/>
        </p:nvSpPr>
        <p:spPr>
          <a:xfrm xmlns:a="http://schemas.openxmlformats.org/drawingml/2006/main">
            <a:off x="2914650" y="4019550"/>
            <a:ext cx="809625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D51B9C2-1934-4730-B5B3-8E41F4E272C3}"/>
              </a:ext>
            </a:extLst>
          </p:cNvPr>
          <p:cNvSpPr>
            <a:spLocks xmlns:a="http://schemas.openxmlformats.org/drawingml/2006/main" noGrp="1"/>
          </p:cNvSpPr>
          <p:nvPr/>
        </p:nvSpPr>
        <p:spPr>
          <a:xfrm xmlns:a="http://schemas.openxmlformats.org/drawingml/2006/main">
            <a:off x="2914650" y="424815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i="0">
                <a:solidFill>
                  <a:srgbClr val="A8BAC8"/>
                </a:solidFill>
                <a:latin typeface="Avenir Next"/>
                <a:ea typeface="Avenir Next"/>
                <a:cs typeface="Avenir Next"/>
              </a:defRPr>
            </a:defPPr>
          </a:lstStyle>
          <a:p xmlns:a="http://schemas.openxmlformats.org/drawingml/2006/main">
            <a:pPr algn="l">
              <a:lnSpc>
                <a:spcPct val="100000"/>
              </a:lnSpc>
              <a:buNone/>
              <a:defRPr sz="1500" b="1" i="0">
                <a:solidFill>
                  <a:srgbClr val="A8BAC8"/>
                </a:solidFill>
                <a:latin typeface="Avenir Next"/>
                <a:ea typeface="Avenir Next"/>
                <a:cs typeface="Avenir Next"/>
              </a:defRPr>
            </a:pPr>
            <a:r>
              <a:rPr sz="1500" b="1" i="0">
                <a:solidFill>
                  <a:srgbClr val="A8BAC8"/>
                </a:solidFill>
                <a:latin typeface="Avenir Next"/>
                <a:ea typeface="Avenir Next"/>
                <a:cs typeface="Avenir Next"/>
              </a:rPr>
              <a:t>AI ONLY</a:t>
            </a:r>
          </a:p>
        </p:txBody>
      </p:sp>
      <p:sp>
        <p:nvSpPr>
          <p:cNvPr id="9" name="">
            <a:extLst xmlns:a="http://schemas.openxmlformats.org/drawingml/2006/main">
              <a:ext uri="{FF2B5EF4-FFF2-40B4-BE49-F238E27FC236}">
                <a16:creationId xmlns:a16="http://schemas.microsoft.com/office/drawing/2014/main" id="{C6DD7253-808F-4BAF-BA6E-9702B4B18D04}"/>
              </a:ext>
            </a:extLst>
          </p:cNvPr>
          <p:cNvSpPr>
            <a:spLocks xmlns:a="http://schemas.openxmlformats.org/drawingml/2006/main" noGrp="1"/>
          </p:cNvSpPr>
          <p:nvPr/>
        </p:nvSpPr>
        <p:spPr>
          <a:xfrm xmlns:a="http://schemas.openxmlformats.org/drawingml/2006/main">
            <a:off x="5219700" y="4229100"/>
            <a:ext cx="571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F4F1E8"/>
                </a:solidFill>
                <a:latin typeface="Avenir Next"/>
                <a:ea typeface="Avenir Next"/>
                <a:cs typeface="Avenir Next"/>
              </a:defRPr>
            </a:defPPr>
          </a:lstStyle>
          <a:p xmlns:a="http://schemas.openxmlformats.org/drawingml/2006/main">
            <a:pPr algn="l">
              <a:lnSpc>
                <a:spcPct val="100000"/>
              </a:lnSpc>
              <a:buNone/>
              <a:defRPr sz="1650" b="0" i="0">
                <a:solidFill>
                  <a:srgbClr val="F4F1E8"/>
                </a:solidFill>
                <a:latin typeface="Avenir Next"/>
                <a:ea typeface="Avenir Next"/>
                <a:cs typeface="Avenir Next"/>
              </a:defRPr>
            </a:pPr>
            <a:r>
              <a:rPr sz="1650" b="0" i="0">
                <a:solidFill>
                  <a:srgbClr val="F4F1E8"/>
                </a:solidFill>
                <a:latin typeface="Avenir Next"/>
                <a:ea typeface="Avenir Next"/>
                <a:cs typeface="Avenir Next"/>
              </a:rPr>
              <a:t>An evolutionary algorithm builds the solution without intervention.</a:t>
            </a:r>
          </a:p>
        </p:txBody>
      </p:sp>
      <p:sp>
        <p:nvSpPr>
          <p:cNvPr id="10" name="">
            <a:extLst xmlns:a="http://schemas.openxmlformats.org/drawingml/2006/main">
              <a:ext uri="{FF2B5EF4-FFF2-40B4-BE49-F238E27FC236}">
                <a16:creationId xmlns:a16="http://schemas.microsoft.com/office/drawing/2014/main" id="{5151D348-D46F-4E6B-AC14-CDA878325164}"/>
              </a:ext>
            </a:extLst>
          </p:cNvPr>
          <p:cNvSpPr>
            <a:spLocks xmlns:a="http://schemas.openxmlformats.org/drawingml/2006/main" noGrp="1"/>
          </p:cNvSpPr>
          <p:nvPr/>
        </p:nvSpPr>
        <p:spPr>
          <a:xfrm xmlns:a="http://schemas.openxmlformats.org/drawingml/2006/main">
            <a:off x="2914650" y="4895850"/>
            <a:ext cx="809625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355D109-1520-44F2-BD83-0C2E0DC224CF}"/>
              </a:ext>
            </a:extLst>
          </p:cNvPr>
          <p:cNvSpPr>
            <a:spLocks xmlns:a="http://schemas.openxmlformats.org/drawingml/2006/main" noGrp="1"/>
          </p:cNvSpPr>
          <p:nvPr/>
        </p:nvSpPr>
        <p:spPr>
          <a:xfrm xmlns:a="http://schemas.openxmlformats.org/drawingml/2006/main">
            <a:off x="2914650" y="512445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i="0">
                <a:solidFill>
                  <a:srgbClr val="FFB454"/>
                </a:solidFill>
                <a:latin typeface="Avenir Next"/>
                <a:ea typeface="Avenir Next"/>
                <a:cs typeface="Avenir Next"/>
              </a:defRPr>
            </a:defPPr>
          </a:lstStyle>
          <a:p xmlns:a="http://schemas.openxmlformats.org/drawingml/2006/main">
            <a:pPr algn="l">
              <a:lnSpc>
                <a:spcPct val="100000"/>
              </a:lnSpc>
              <a:buNone/>
              <a:defRPr sz="1500" b="1" i="0">
                <a:solidFill>
                  <a:srgbClr val="FFB454"/>
                </a:solidFill>
                <a:latin typeface="Avenir Next"/>
                <a:ea typeface="Avenir Next"/>
                <a:cs typeface="Avenir Next"/>
              </a:defRPr>
            </a:pPr>
            <a:r>
              <a:rPr sz="1500" b="1" i="0">
                <a:solidFill>
                  <a:srgbClr val="FFB454"/>
                </a:solidFill>
                <a:latin typeface="Avenir Next"/>
                <a:ea typeface="Avenir Next"/>
                <a:cs typeface="Avenir Next"/>
              </a:rPr>
              <a:t>HYBRID</a:t>
            </a:r>
          </a:p>
        </p:txBody>
      </p:sp>
      <p:sp>
        <p:nvSpPr>
          <p:cNvPr id="12" name="">
            <a:extLst xmlns:a="http://schemas.openxmlformats.org/drawingml/2006/main">
              <a:ext uri="{FF2B5EF4-FFF2-40B4-BE49-F238E27FC236}">
                <a16:creationId xmlns:a16="http://schemas.microsoft.com/office/drawing/2014/main" id="{41A5C171-2531-44DD-B2A3-BCB8452E5C3C}"/>
              </a:ext>
            </a:extLst>
          </p:cNvPr>
          <p:cNvSpPr>
            <a:spLocks xmlns:a="http://schemas.openxmlformats.org/drawingml/2006/main" noGrp="1"/>
          </p:cNvSpPr>
          <p:nvPr/>
        </p:nvSpPr>
        <p:spPr>
          <a:xfrm xmlns:a="http://schemas.openxmlformats.org/drawingml/2006/main">
            <a:off x="5219700" y="5105400"/>
            <a:ext cx="571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i="0">
                <a:solidFill>
                  <a:srgbClr val="F4F1E8"/>
                </a:solidFill>
                <a:latin typeface="Avenir Next"/>
                <a:ea typeface="Avenir Next"/>
                <a:cs typeface="Avenir Next"/>
              </a:defRPr>
            </a:defPPr>
          </a:lstStyle>
          <a:p xmlns:a="http://schemas.openxmlformats.org/drawingml/2006/main">
            <a:pPr algn="l">
              <a:lnSpc>
                <a:spcPct val="100000"/>
              </a:lnSpc>
              <a:buNone/>
              <a:defRPr sz="1650" b="1" i="0">
                <a:solidFill>
                  <a:srgbClr val="F4F1E8"/>
                </a:solidFill>
                <a:latin typeface="Avenir Next"/>
                <a:ea typeface="Avenir Next"/>
                <a:cs typeface="Avenir Next"/>
              </a:defRPr>
            </a:pPr>
            <a:r>
              <a:rPr sz="1650" b="1" i="0">
                <a:solidFill>
                  <a:srgbClr val="F4F1E8"/>
                </a:solidFill>
                <a:latin typeface="Avenir Next"/>
                <a:ea typeface="Avenir Next"/>
                <a:cs typeface="Avenir Next"/>
              </a:rPr>
              <a:t>The algorithm proposes. The expert edits. The algorithm learns.</a:t>
            </a:r>
          </a:p>
        </p:txBody>
      </p:sp>
    </p:spTree>
    <p:extLst>
      <p:ext uri="{BB962C8B-B14F-4D97-AF65-F5344CB8AC3E}">
        <p14:creationId xmlns:p14="http://schemas.microsoft.com/office/powerpoint/2010/main" val="2063210678"/>
      </p:ext>
    </p:extLst>
  </p:cSld>
</p:sld>
</file>

<file path=ppt/slides/slide15.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799DA7A-484A-4E8A-BA90-937F2785D55F}"/>
              </a:ext>
            </a:extLst>
          </p:cNvPr>
          <p:cNvSpPr>
            <a:spLocks xmlns:a="http://schemas.openxmlformats.org/drawingml/2006/main" noGrp="1"/>
          </p:cNvSpPr>
          <p:nvPr/>
        </p:nvSpPr>
        <p:spPr>
          <a:xfrm xmlns:a="http://schemas.openxmlformats.org/drawingml/2006/main">
            <a:off x="685800" y="49530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i="0">
                <a:solidFill>
                  <a:srgbClr val="F4F1E8"/>
                </a:solidFill>
                <a:latin typeface="Avenir Next"/>
                <a:ea typeface="Avenir Next"/>
                <a:cs typeface="Avenir Next"/>
              </a:defRPr>
            </a:defPPr>
          </a:lstStyle>
          <a:p xmlns:a="http://schemas.openxmlformats.org/drawingml/2006/main">
            <a:pPr algn="l">
              <a:lnSpc>
                <a:spcPct val="100000"/>
              </a:lnSpc>
              <a:buNone/>
              <a:defRPr sz="3150" b="1" i="0">
                <a:solidFill>
                  <a:srgbClr val="F4F1E8"/>
                </a:solidFill>
                <a:latin typeface="Avenir Next"/>
                <a:ea typeface="Avenir Next"/>
                <a:cs typeface="Avenir Next"/>
              </a:defRPr>
            </a:pPr>
            <a:r>
              <a:rPr sz="3150" b="1" i="0">
                <a:solidFill>
                  <a:srgbClr val="F4F1E8"/>
                </a:solidFill>
                <a:latin typeface="Avenir Next"/>
                <a:ea typeface="Avenir Next"/>
                <a:cs typeface="Avenir Next"/>
              </a:rPr>
              <a:t>The algorithm scored 92. Experts still chose the hybrid.</a:t>
            </a:r>
          </a:p>
        </p:txBody>
      </p:sp>
      <p:sp>
        <p:nvSpPr>
          <p:cNvPr id="2" name="">
            <a:extLst xmlns:a="http://schemas.openxmlformats.org/drawingml/2006/main">
              <a:ext uri="{FF2B5EF4-FFF2-40B4-BE49-F238E27FC236}">
                <a16:creationId xmlns:a16="http://schemas.microsoft.com/office/drawing/2014/main" id="{5DA287A8-DF00-487C-9E46-D5302FA52E5B}"/>
              </a:ext>
            </a:extLst>
          </p:cNvPr>
          <p:cNvSpPr>
            <a:spLocks xmlns:a="http://schemas.openxmlformats.org/drawingml/2006/main" noGrp="1"/>
          </p:cNvSpPr>
          <p:nvPr/>
        </p:nvSpPr>
        <p:spPr>
          <a:xfrm xmlns:a="http://schemas.openxmlformats.org/drawingml/2006/main">
            <a:off x="685800" y="1390650"/>
            <a:ext cx="857250" cy="38100"/>
          </a:xfrm>
          <a:prstGeom xmlns:a="http://schemas.openxmlformats.org/drawingml/2006/main" prst="rect">
            <a:avLst/>
          </a:prstGeom>
          <a:solidFill xmlns:a="http://schemas.openxmlformats.org/drawingml/2006/main">
            <a:srgbClr val="55D6D2"/>
          </a:solidFill>
          <a:ln xmlns:a="http://schemas.openxmlformats.org/drawingml/2006/main" w="0">
            <a:noFill/>
            <a:prstDash val="solid"/>
          </a:ln>
        </p:spPr>
      </p:sp>
      <p:graphicFrame>
        <p:nvGraphicFramePr>
          <p:cNvPr id="3" name="Chart">
            <a:extLst xmlns:a="http://schemas.openxmlformats.org/drawingml/2006/main">
              <a:ext uri="{FF2B5EF4-FFF2-40B4-BE49-F238E27FC236}">
                <a16:creationId xmlns:a16="http://schemas.microsoft.com/office/drawing/2014/main" id="{25FC39A4-7B4E-4EE2-9D56-E9471FFFBE27}"/>
              </a:ext>
            </a:extLst>
          </p:cNvPr>
          <p:cNvGraphicFramePr/>
          <p:nvPr/>
        </p:nvGraphicFramePr>
        <p:xfrm>
          <a:off xmlns:a="http://schemas.openxmlformats.org/drawingml/2006/main" x="704850" y="1809750"/>
          <a:ext xmlns:a="http://schemas.openxmlformats.org/drawingml/2006/main" cx="6572250" cy="3676650"/>
        </p:xfrm>
        <a:graphic xmlns:a="http://schemas.openxmlformats.org/drawingml/2006/main">
          <a:graphicData uri="http://schemas.openxmlformats.org/drawingml/2006/chart">
            <c:chart xmlns:r="http://schemas.openxmlformats.org/officeDocument/2006/relationships" xmlns:c="http://schemas.openxmlformats.org/drawingml/2006/chart" r:id="R082cf624393c42e4"/>
          </a:graphicData>
        </a:graphic>
      </p:graphicFrame>
      <p:sp>
        <p:nvSpPr>
          <p:cNvPr id="4" name="">
            <a:extLst xmlns:a="http://schemas.openxmlformats.org/drawingml/2006/main">
              <a:ext uri="{FF2B5EF4-FFF2-40B4-BE49-F238E27FC236}">
                <a16:creationId xmlns:a16="http://schemas.microsoft.com/office/drawing/2014/main" id="{A135ECF0-F99E-430B-B768-FF2C616C99E3}"/>
              </a:ext>
            </a:extLst>
          </p:cNvPr>
          <p:cNvSpPr>
            <a:spLocks xmlns:a="http://schemas.openxmlformats.org/drawingml/2006/main" noGrp="1"/>
          </p:cNvSpPr>
          <p:nvPr/>
        </p:nvSpPr>
        <p:spPr>
          <a:xfrm xmlns:a="http://schemas.openxmlformats.org/drawingml/2006/main">
            <a:off x="7810500" y="1962150"/>
            <a:ext cx="19050" cy="0"/>
          </a:xfrm>
          <a:prstGeom xmlns:a="http://schemas.openxmlformats.org/drawingml/2006/main" prst="rect">
            <a:avLst/>
          </a:prstGeom>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15BD2D0-81E8-4DB6-A90D-2921DB1AF3C1}"/>
              </a:ext>
            </a:extLst>
          </p:cNvPr>
          <p:cNvSpPr>
            <a:spLocks xmlns:a="http://schemas.openxmlformats.org/drawingml/2006/main" noGrp="1"/>
          </p:cNvSpPr>
          <p:nvPr/>
        </p:nvSpPr>
        <p:spPr>
          <a:xfrm xmlns:a="http://schemas.openxmlformats.org/drawingml/2006/main">
            <a:off x="8362950" y="2095500"/>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i="0">
                <a:solidFill>
                  <a:srgbClr val="55D6D2"/>
                </a:solidFill>
                <a:latin typeface="Avenir Next"/>
                <a:ea typeface="Avenir Next"/>
                <a:cs typeface="Avenir Next"/>
              </a:defRPr>
            </a:defPPr>
          </a:lstStyle>
          <a:p xmlns:a="http://schemas.openxmlformats.org/drawingml/2006/main">
            <a:pPr algn="l">
              <a:lnSpc>
                <a:spcPct val="100000"/>
              </a:lnSpc>
              <a:buNone/>
              <a:defRPr sz="1575" b="1" i="0">
                <a:solidFill>
                  <a:srgbClr val="55D6D2"/>
                </a:solidFill>
                <a:latin typeface="Avenir Next"/>
                <a:ea typeface="Avenir Next"/>
                <a:cs typeface="Avenir Next"/>
              </a:defRPr>
            </a:pPr>
            <a:r>
              <a:rPr sz="1575" b="1" i="0">
                <a:solidFill>
                  <a:srgbClr val="55D6D2"/>
                </a:solidFill>
                <a:latin typeface="Avenir Next"/>
                <a:ea typeface="Avenir Next"/>
                <a:cs typeface="Avenir Next"/>
              </a:rPr>
              <a:t>UNANIMOUS</a:t>
            </a:r>
          </a:p>
        </p:txBody>
      </p:sp>
      <p:sp>
        <p:nvSpPr>
          <p:cNvPr id="6" name="">
            <a:extLst xmlns:a="http://schemas.openxmlformats.org/drawingml/2006/main">
              <a:ext uri="{FF2B5EF4-FFF2-40B4-BE49-F238E27FC236}">
                <a16:creationId xmlns:a16="http://schemas.microsoft.com/office/drawing/2014/main" id="{99EB9646-A028-4A01-ACD3-7DB1F4B72A81}"/>
              </a:ext>
            </a:extLst>
          </p:cNvPr>
          <p:cNvSpPr>
            <a:spLocks xmlns:a="http://schemas.openxmlformats.org/drawingml/2006/main" noGrp="1"/>
          </p:cNvSpPr>
          <p:nvPr/>
        </p:nvSpPr>
        <p:spPr>
          <a:xfrm xmlns:a="http://schemas.openxmlformats.org/drawingml/2006/main">
            <a:off x="8362950" y="2743200"/>
            <a:ext cx="2952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i="0">
                <a:solidFill>
                  <a:srgbClr val="F4F1E8"/>
                </a:solidFill>
                <a:latin typeface="Avenir Next"/>
                <a:ea typeface="Avenir Next"/>
                <a:cs typeface="Avenir Next"/>
              </a:defRPr>
            </a:defPPr>
          </a:lstStyle>
          <a:p xmlns:a="http://schemas.openxmlformats.org/drawingml/2006/main">
            <a:pPr algn="l">
              <a:lnSpc>
                <a:spcPct val="98000"/>
              </a:lnSpc>
              <a:buNone/>
              <a:defRPr sz="2475" b="1" i="0">
                <a:solidFill>
                  <a:srgbClr val="F4F1E8"/>
                </a:solidFill>
                <a:latin typeface="Avenir Next"/>
                <a:ea typeface="Avenir Next"/>
                <a:cs typeface="Avenir Next"/>
              </a:defRPr>
            </a:pPr>
            <a:r>
              <a:rPr sz="2475" b="1" i="0">
                <a:solidFill>
                  <a:srgbClr val="F4F1E8"/>
                </a:solidFill>
                <a:latin typeface="Avenir Next"/>
                <a:ea typeface="Avenir Next"/>
                <a:cs typeface="Avenir Next"/>
              </a:rPr>
              <a:t>Independent experts preferred the hybrid solution.</a:t>
            </a:r>
          </a:p>
        </p:txBody>
      </p:sp>
      <p:sp>
        <p:nvSpPr>
          <p:cNvPr id="7" name="">
            <a:extLst xmlns:a="http://schemas.openxmlformats.org/drawingml/2006/main">
              <a:ext uri="{FF2B5EF4-FFF2-40B4-BE49-F238E27FC236}">
                <a16:creationId xmlns:a16="http://schemas.microsoft.com/office/drawing/2014/main" id="{7E1941C3-F44C-4C5C-B0D1-55939C05C943}"/>
              </a:ext>
            </a:extLst>
          </p:cNvPr>
          <p:cNvSpPr>
            <a:spLocks xmlns:a="http://schemas.openxmlformats.org/drawingml/2006/main" noGrp="1"/>
          </p:cNvSpPr>
          <p:nvPr/>
        </p:nvSpPr>
        <p:spPr>
          <a:xfrm xmlns:a="http://schemas.openxmlformats.org/drawingml/2006/main">
            <a:off x="8362950" y="44386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A8BAC8"/>
                </a:solidFill>
                <a:latin typeface="Avenir Next"/>
                <a:ea typeface="Avenir Next"/>
                <a:cs typeface="Avenir Next"/>
              </a:defRPr>
            </a:defPPr>
          </a:lstStyle>
          <a:p xmlns:a="http://schemas.openxmlformats.org/drawingml/2006/main">
            <a:pPr algn="l">
              <a:lnSpc>
                <a:spcPct val="102000"/>
              </a:lnSpc>
              <a:buNone/>
              <a:defRPr sz="1725" b="0" i="0">
                <a:solidFill>
                  <a:srgbClr val="A8BAC8"/>
                </a:solidFill>
                <a:latin typeface="Avenir Next"/>
                <a:ea typeface="Avenir Next"/>
                <a:cs typeface="Avenir Next"/>
              </a:defRPr>
            </a:pPr>
            <a:r>
              <a:rPr sz="1725" b="0" i="0">
                <a:solidFill>
                  <a:srgbClr val="A8BAC8"/>
                </a:solidFill>
                <a:latin typeface="Avenir Next"/>
                <a:ea typeface="Avenir Next"/>
                <a:cs typeface="Avenir Next"/>
              </a:rPr>
              <a:t>They judged it more realistic and easier to apply.</a:t>
            </a:r>
          </a:p>
        </p:txBody>
      </p:sp>
      <p:sp>
        <p:nvSpPr>
          <p:cNvPr id="8" name="">
            <a:extLst xmlns:a="http://schemas.openxmlformats.org/drawingml/2006/main">
              <a:ext uri="{FF2B5EF4-FFF2-40B4-BE49-F238E27FC236}">
                <a16:creationId xmlns:a16="http://schemas.microsoft.com/office/drawing/2014/main" id="{E7276621-E075-4E8F-A636-878AB603A47B}"/>
              </a:ext>
            </a:extLst>
          </p:cNvPr>
          <p:cNvSpPr>
            <a:spLocks xmlns:a="http://schemas.openxmlformats.org/drawingml/2006/main" noGrp="1"/>
          </p:cNvSpPr>
          <p:nvPr/>
        </p:nvSpPr>
        <p:spPr>
          <a:xfrm xmlns:a="http://schemas.openxmlformats.org/drawingml/2006/main">
            <a:off x="742950" y="577215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i="0">
                <a:solidFill>
                  <a:srgbClr val="557083"/>
                </a:solidFill>
                <a:latin typeface="Avenir Next"/>
                <a:ea typeface="Avenir Next"/>
                <a:cs typeface="Avenir Next"/>
              </a:defRPr>
            </a:defPPr>
          </a:lstStyle>
          <a:p xmlns:a="http://schemas.openxmlformats.org/drawingml/2006/main">
            <a:pPr algn="l">
              <a:lnSpc>
                <a:spcPct val="100000"/>
              </a:lnSpc>
              <a:buNone/>
              <a:defRPr sz="1350" b="0" i="0">
                <a:solidFill>
                  <a:srgbClr val="557083"/>
                </a:solidFill>
                <a:latin typeface="Avenir Next"/>
                <a:ea typeface="Avenir Next"/>
                <a:cs typeface="Avenir Next"/>
              </a:defRPr>
            </a:pPr>
            <a:r>
              <a:rPr sz="1350" b="0" i="0">
                <a:solidFill>
                  <a:srgbClr val="557083"/>
                </a:solidFill>
                <a:latin typeface="Avenir Next"/>
                <a:ea typeface="Avenir Next"/>
                <a:cs typeface="Avenir Next"/>
              </a:rPr>
              <a:t>Fitness score out of 100</a:t>
            </a:r>
          </a:p>
        </p:txBody>
      </p:sp>
    </p:spTree>
    <p:extLst>
      <p:ext uri="{BB962C8B-B14F-4D97-AF65-F5344CB8AC3E}">
        <p14:creationId xmlns:p14="http://schemas.microsoft.com/office/powerpoint/2010/main" val="1833915213"/>
      </p:ext>
    </p:extLst>
  </p:cSld>
</p:sld>
</file>

<file path=ppt/slides/slide16.xml><?xml version="1.0" encoding="utf-8"?>
<p:sld xmlns:p="http://schemas.openxmlformats.org/presentationml/2006/main">
  <p:cSld>
    <p:bg>
      <p:bgPr>
        <a:solidFill xmlns:a="http://schemas.openxmlformats.org/drawingml/2006/main">
          <a:srgbClr val="0B1D2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B4807E0-556B-4141-B8BA-F7B76EB7DEF1}"/>
              </a:ext>
            </a:extLst>
          </p:cNvPr>
          <p:cNvSpPr>
            <a:spLocks xmlns:a="http://schemas.openxmlformats.org/drawingml/2006/main" noGrp="1"/>
          </p:cNvSpPr>
          <p:nvPr/>
        </p:nvSpPr>
        <p:spPr>
          <a:xfrm xmlns:a="http://schemas.openxmlformats.org/drawingml/2006/main">
            <a:off x="685800" y="5143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i="0">
                <a:solidFill>
                  <a:srgbClr val="F4F1E8"/>
                </a:solidFill>
                <a:latin typeface="Avenir Next"/>
                <a:ea typeface="Avenir Next"/>
                <a:cs typeface="Avenir Next"/>
              </a:defRPr>
            </a:defPPr>
          </a:lstStyle>
          <a:p xmlns:a="http://schemas.openxmlformats.org/drawingml/2006/main">
            <a:pPr algn="l">
              <a:lnSpc>
                <a:spcPct val="100000"/>
              </a:lnSpc>
              <a:buNone/>
              <a:defRPr sz="3300" b="1" i="0">
                <a:solidFill>
                  <a:srgbClr val="F4F1E8"/>
                </a:solidFill>
                <a:latin typeface="Avenir Next"/>
                <a:ea typeface="Avenir Next"/>
                <a:cs typeface="Avenir Next"/>
              </a:defRPr>
            </a:pPr>
            <a:r>
              <a:rPr sz="3300" b="1" i="0">
                <a:solidFill>
                  <a:srgbClr val="F4F1E8"/>
                </a:solidFill>
                <a:latin typeface="Avenir Next"/>
                <a:ea typeface="Avenir Next"/>
                <a:cs typeface="Avenir Next"/>
              </a:rPr>
              <a:t>What the metric missed</a:t>
            </a:r>
          </a:p>
        </p:txBody>
      </p:sp>
      <p:sp>
        <p:nvSpPr>
          <p:cNvPr id="2" name="">
            <a:extLst xmlns:a="http://schemas.openxmlformats.org/drawingml/2006/main">
              <a:ext uri="{FF2B5EF4-FFF2-40B4-BE49-F238E27FC236}">
                <a16:creationId xmlns:a16="http://schemas.microsoft.com/office/drawing/2014/main" id="{9AF13108-98E3-4CAD-943E-C40C02AF2788}"/>
              </a:ext>
            </a:extLst>
          </p:cNvPr>
          <p:cNvSpPr>
            <a:spLocks xmlns:a="http://schemas.openxmlformats.org/drawingml/2006/main" noGrp="1"/>
          </p:cNvSpPr>
          <p:nvPr/>
        </p:nvSpPr>
        <p:spPr>
          <a:xfrm xmlns:a="http://schemas.openxmlformats.org/drawingml/2006/main">
            <a:off x="685800" y="1257300"/>
            <a:ext cx="857250" cy="38100"/>
          </a:xfrm>
          <a:prstGeom xmlns:a="http://schemas.openxmlformats.org/drawingml/2006/main" prst="rect">
            <a:avLst/>
          </a:prstGeom>
          <a:solidFill xmlns:a="http://schemas.openxmlformats.org/drawingml/2006/main">
            <a:srgbClr val="55D6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813F714-2636-4710-AD73-D715E5AE3BE9}"/>
              </a:ext>
            </a:extLst>
          </p:cNvPr>
          <p:cNvSpPr>
            <a:spLocks xmlns:a="http://schemas.openxmlformats.org/drawingml/2006/main" noGrp="1"/>
          </p:cNvSpPr>
          <p:nvPr/>
        </p:nvSpPr>
        <p:spPr>
          <a:xfrm xmlns:a="http://schemas.openxmlformats.org/drawingml/2006/main">
            <a:off x="1752600" y="1095375"/>
            <a:ext cx="933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A8BAC8"/>
                </a:solidFill>
                <a:latin typeface="Avenir Next"/>
                <a:ea typeface="Avenir Next"/>
                <a:cs typeface="Avenir Next"/>
              </a:defRPr>
            </a:defPPr>
          </a:lstStyle>
          <a:p xmlns:a="http://schemas.openxmlformats.org/drawingml/2006/main">
            <a:pPr algn="l">
              <a:lnSpc>
                <a:spcPct val="100000"/>
              </a:lnSpc>
              <a:buNone/>
              <a:defRPr sz="1500" b="0" i="0">
                <a:solidFill>
                  <a:srgbClr val="A8BAC8"/>
                </a:solidFill>
                <a:latin typeface="Avenir Next"/>
                <a:ea typeface="Avenir Next"/>
                <a:cs typeface="Avenir Next"/>
              </a:defRPr>
            </a:pPr>
            <a:r>
              <a:rPr sz="1500" b="0" i="0">
                <a:solidFill>
                  <a:srgbClr val="A8BAC8"/>
                </a:solidFill>
                <a:latin typeface="Avenir Next"/>
                <a:ea typeface="Avenir Next"/>
                <a:cs typeface="Avenir Next"/>
              </a:rPr>
              <a:t>The score and the real decision answered different questions</a:t>
            </a:r>
          </a:p>
        </p:txBody>
      </p:sp>
      <p:sp>
        <p:nvSpPr>
          <p:cNvPr id="4" name="">
            <a:extLst xmlns:a="http://schemas.openxmlformats.org/drawingml/2006/main">
              <a:ext uri="{FF2B5EF4-FFF2-40B4-BE49-F238E27FC236}">
                <a16:creationId xmlns:a16="http://schemas.microsoft.com/office/drawing/2014/main" id="{7EF08C7C-D317-4277-A4AA-ED3E859ADBC8}"/>
              </a:ext>
            </a:extLst>
          </p:cNvPr>
          <p:cNvSpPr>
            <a:spLocks xmlns:a="http://schemas.openxmlformats.org/drawingml/2006/main" noGrp="1"/>
          </p:cNvSpPr>
          <p:nvPr/>
        </p:nvSpPr>
        <p:spPr>
          <a:xfrm xmlns:a="http://schemas.openxmlformats.org/drawingml/2006/main">
            <a:off x="800100" y="18478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i="0">
                <a:solidFill>
                  <a:srgbClr val="55D6D2"/>
                </a:solidFill>
                <a:latin typeface="Avenir Next"/>
                <a:ea typeface="Avenir Next"/>
                <a:cs typeface="Avenir Next"/>
              </a:defRPr>
            </a:defPPr>
          </a:lstStyle>
          <a:p xmlns:a="http://schemas.openxmlformats.org/drawingml/2006/main">
            <a:pPr algn="l">
              <a:lnSpc>
                <a:spcPct val="100000"/>
              </a:lnSpc>
              <a:buNone/>
              <a:defRPr sz="1575" b="1" i="0">
                <a:solidFill>
                  <a:srgbClr val="55D6D2"/>
                </a:solidFill>
                <a:latin typeface="Avenir Next"/>
                <a:ea typeface="Avenir Next"/>
                <a:cs typeface="Avenir Next"/>
              </a:defRPr>
            </a:pPr>
            <a:r>
              <a:rPr sz="1575" b="1" i="0">
                <a:solidFill>
                  <a:srgbClr val="55D6D2"/>
                </a:solidFill>
                <a:latin typeface="Avenir Next"/>
                <a:ea typeface="Avenir Next"/>
                <a:cs typeface="Avenir Next"/>
              </a:rPr>
              <a:t>THE FORMULA</a:t>
            </a:r>
          </a:p>
        </p:txBody>
      </p:sp>
      <p:sp>
        <p:nvSpPr>
          <p:cNvPr id="5" name="">
            <a:extLst xmlns:a="http://schemas.openxmlformats.org/drawingml/2006/main">
              <a:ext uri="{FF2B5EF4-FFF2-40B4-BE49-F238E27FC236}">
                <a16:creationId xmlns:a16="http://schemas.microsoft.com/office/drawing/2014/main" id="{442AB6BC-1E9C-4B72-A3C9-6D88B235C88D}"/>
              </a:ext>
            </a:extLst>
          </p:cNvPr>
          <p:cNvSpPr>
            <a:spLocks xmlns:a="http://schemas.openxmlformats.org/drawingml/2006/main" noGrp="1"/>
          </p:cNvSpPr>
          <p:nvPr/>
        </p:nvSpPr>
        <p:spPr>
          <a:xfrm xmlns:a="http://schemas.openxmlformats.org/drawingml/2006/main">
            <a:off x="4000500" y="18288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F4F1E8"/>
                </a:solidFill>
                <a:latin typeface="Avenir Next"/>
                <a:ea typeface="Avenir Next"/>
                <a:cs typeface="Avenir Next"/>
              </a:defRPr>
            </a:defPPr>
          </a:lstStyle>
          <a:p xmlns:a="http://schemas.openxmlformats.org/drawingml/2006/main">
            <a:pPr algn="l">
              <a:lnSpc>
                <a:spcPct val="103000"/>
              </a:lnSpc>
              <a:buNone/>
              <a:defRPr sz="1725" b="0" i="0">
                <a:solidFill>
                  <a:srgbClr val="F4F1E8"/>
                </a:solidFill>
                <a:latin typeface="Avenir Next"/>
                <a:ea typeface="Avenir Next"/>
                <a:cs typeface="Avenir Next"/>
              </a:defRPr>
            </a:pPr>
            <a:r>
              <a:rPr sz="1725" b="0" i="0">
                <a:solidFill>
                  <a:srgbClr val="F4F1E8"/>
                </a:solidFill>
                <a:latin typeface="Avenir Next"/>
                <a:ea typeface="Avenir Next"/>
                <a:cs typeface="Avenir Next"/>
              </a:rPr>
              <a:t>Measures the objectives and constraints that the research team encoded.</a:t>
            </a:r>
          </a:p>
        </p:txBody>
      </p:sp>
      <p:sp>
        <p:nvSpPr>
          <p:cNvPr id="6" name="">
            <a:extLst xmlns:a="http://schemas.openxmlformats.org/drawingml/2006/main">
              <a:ext uri="{FF2B5EF4-FFF2-40B4-BE49-F238E27FC236}">
                <a16:creationId xmlns:a16="http://schemas.microsoft.com/office/drawing/2014/main" id="{B2306B79-494D-47FF-9A4E-D5515211A479}"/>
              </a:ext>
            </a:extLst>
          </p:cNvPr>
          <p:cNvSpPr>
            <a:spLocks xmlns:a="http://schemas.openxmlformats.org/drawingml/2006/main" noGrp="1"/>
          </p:cNvSpPr>
          <p:nvPr/>
        </p:nvSpPr>
        <p:spPr>
          <a:xfrm xmlns:a="http://schemas.openxmlformats.org/drawingml/2006/main">
            <a:off x="800100" y="2571750"/>
            <a:ext cx="1043940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C94298F-9E60-4599-BD10-92014FF6B3BD}"/>
              </a:ext>
            </a:extLst>
          </p:cNvPr>
          <p:cNvSpPr>
            <a:spLocks xmlns:a="http://schemas.openxmlformats.org/drawingml/2006/main" noGrp="1"/>
          </p:cNvSpPr>
          <p:nvPr/>
        </p:nvSpPr>
        <p:spPr>
          <a:xfrm xmlns:a="http://schemas.openxmlformats.org/drawingml/2006/main">
            <a:off x="800100" y="28384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i="0">
                <a:solidFill>
                  <a:srgbClr val="55D6D2"/>
                </a:solidFill>
                <a:latin typeface="Avenir Next"/>
                <a:ea typeface="Avenir Next"/>
                <a:cs typeface="Avenir Next"/>
              </a:defRPr>
            </a:defPPr>
          </a:lstStyle>
          <a:p xmlns:a="http://schemas.openxmlformats.org/drawingml/2006/main">
            <a:pPr algn="l">
              <a:lnSpc>
                <a:spcPct val="100000"/>
              </a:lnSpc>
              <a:buNone/>
              <a:defRPr sz="1575" b="1" i="0">
                <a:solidFill>
                  <a:srgbClr val="55D6D2"/>
                </a:solidFill>
                <a:latin typeface="Avenir Next"/>
                <a:ea typeface="Avenir Next"/>
                <a:cs typeface="Avenir Next"/>
              </a:defRPr>
            </a:pPr>
            <a:r>
              <a:rPr sz="1575" b="1" i="0">
                <a:solidFill>
                  <a:srgbClr val="55D6D2"/>
                </a:solidFill>
                <a:latin typeface="Avenir Next"/>
                <a:ea typeface="Avenir Next"/>
                <a:cs typeface="Avenir Next"/>
              </a:rPr>
              <a:t>THE ALGORITHM</a:t>
            </a:r>
          </a:p>
        </p:txBody>
      </p:sp>
      <p:sp>
        <p:nvSpPr>
          <p:cNvPr id="8" name="">
            <a:extLst xmlns:a="http://schemas.openxmlformats.org/drawingml/2006/main">
              <a:ext uri="{FF2B5EF4-FFF2-40B4-BE49-F238E27FC236}">
                <a16:creationId xmlns:a16="http://schemas.microsoft.com/office/drawing/2014/main" id="{8F5C985A-132E-4EF5-A58B-914F61B71DFB}"/>
              </a:ext>
            </a:extLst>
          </p:cNvPr>
          <p:cNvSpPr>
            <a:spLocks xmlns:a="http://schemas.openxmlformats.org/drawingml/2006/main" noGrp="1"/>
          </p:cNvSpPr>
          <p:nvPr/>
        </p:nvSpPr>
        <p:spPr>
          <a:xfrm xmlns:a="http://schemas.openxmlformats.org/drawingml/2006/main">
            <a:off x="4000500" y="28194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F4F1E8"/>
                </a:solidFill>
                <a:latin typeface="Avenir Next"/>
                <a:ea typeface="Avenir Next"/>
                <a:cs typeface="Avenir Next"/>
              </a:defRPr>
            </a:defPPr>
          </a:lstStyle>
          <a:p xmlns:a="http://schemas.openxmlformats.org/drawingml/2006/main">
            <a:pPr algn="l">
              <a:lnSpc>
                <a:spcPct val="103000"/>
              </a:lnSpc>
              <a:buNone/>
              <a:defRPr sz="1725" b="0" i="0">
                <a:solidFill>
                  <a:srgbClr val="F4F1E8"/>
                </a:solidFill>
                <a:latin typeface="Avenir Next"/>
                <a:ea typeface="Avenir Next"/>
                <a:cs typeface="Avenir Next"/>
              </a:defRPr>
            </a:pPr>
            <a:r>
              <a:rPr sz="1725" b="0" i="0">
                <a:solidFill>
                  <a:srgbClr val="F4F1E8"/>
                </a:solidFill>
                <a:latin typeface="Avenir Next"/>
                <a:ea typeface="Avenir Next"/>
                <a:cs typeface="Avenir Next"/>
              </a:rPr>
              <a:t>Improves the score with no knowledge of values outside the formula.</a:t>
            </a:r>
          </a:p>
        </p:txBody>
      </p:sp>
      <p:sp>
        <p:nvSpPr>
          <p:cNvPr id="9" name="">
            <a:extLst xmlns:a="http://schemas.openxmlformats.org/drawingml/2006/main">
              <a:ext uri="{FF2B5EF4-FFF2-40B4-BE49-F238E27FC236}">
                <a16:creationId xmlns:a16="http://schemas.microsoft.com/office/drawing/2014/main" id="{635706CC-B66E-4B06-8558-B0291EA21BF7}"/>
              </a:ext>
            </a:extLst>
          </p:cNvPr>
          <p:cNvSpPr>
            <a:spLocks xmlns:a="http://schemas.openxmlformats.org/drawingml/2006/main" noGrp="1"/>
          </p:cNvSpPr>
          <p:nvPr/>
        </p:nvSpPr>
        <p:spPr>
          <a:xfrm xmlns:a="http://schemas.openxmlformats.org/drawingml/2006/main">
            <a:off x="800100" y="3562350"/>
            <a:ext cx="1043940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9C8971B-4776-4394-8D50-91705AC0EC8E}"/>
              </a:ext>
            </a:extLst>
          </p:cNvPr>
          <p:cNvSpPr>
            <a:spLocks xmlns:a="http://schemas.openxmlformats.org/drawingml/2006/main" noGrp="1"/>
          </p:cNvSpPr>
          <p:nvPr/>
        </p:nvSpPr>
        <p:spPr>
          <a:xfrm xmlns:a="http://schemas.openxmlformats.org/drawingml/2006/main">
            <a:off x="800100" y="38290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i="0">
                <a:solidFill>
                  <a:srgbClr val="55D6D2"/>
                </a:solidFill>
                <a:latin typeface="Avenir Next"/>
                <a:ea typeface="Avenir Next"/>
                <a:cs typeface="Avenir Next"/>
              </a:defRPr>
            </a:defPPr>
          </a:lstStyle>
          <a:p xmlns:a="http://schemas.openxmlformats.org/drawingml/2006/main">
            <a:pPr algn="l">
              <a:lnSpc>
                <a:spcPct val="100000"/>
              </a:lnSpc>
              <a:buNone/>
              <a:defRPr sz="1575" b="1" i="0">
                <a:solidFill>
                  <a:srgbClr val="55D6D2"/>
                </a:solidFill>
                <a:latin typeface="Avenir Next"/>
                <a:ea typeface="Avenir Next"/>
                <a:cs typeface="Avenir Next"/>
              </a:defRPr>
            </a:pPr>
            <a:r>
              <a:rPr sz="1575" b="1" i="0">
                <a:solidFill>
                  <a:srgbClr val="55D6D2"/>
                </a:solidFill>
                <a:latin typeface="Avenir Next"/>
                <a:ea typeface="Avenir Next"/>
                <a:cs typeface="Avenir Next"/>
              </a:rPr>
              <a:t>THE EXPERT</a:t>
            </a:r>
          </a:p>
        </p:txBody>
      </p:sp>
      <p:sp>
        <p:nvSpPr>
          <p:cNvPr id="11" name="">
            <a:extLst xmlns:a="http://schemas.openxmlformats.org/drawingml/2006/main">
              <a:ext uri="{FF2B5EF4-FFF2-40B4-BE49-F238E27FC236}">
                <a16:creationId xmlns:a16="http://schemas.microsoft.com/office/drawing/2014/main" id="{B24D21A9-A2E8-46BB-AB53-493E8E305499}"/>
              </a:ext>
            </a:extLst>
          </p:cNvPr>
          <p:cNvSpPr>
            <a:spLocks xmlns:a="http://schemas.openxmlformats.org/drawingml/2006/main" noGrp="1"/>
          </p:cNvSpPr>
          <p:nvPr/>
        </p:nvSpPr>
        <p:spPr>
          <a:xfrm xmlns:a="http://schemas.openxmlformats.org/drawingml/2006/main">
            <a:off x="4000500" y="38100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F4F1E8"/>
                </a:solidFill>
                <a:latin typeface="Avenir Next"/>
                <a:ea typeface="Avenir Next"/>
                <a:cs typeface="Avenir Next"/>
              </a:defRPr>
            </a:defPPr>
          </a:lstStyle>
          <a:p xmlns:a="http://schemas.openxmlformats.org/drawingml/2006/main">
            <a:pPr algn="l">
              <a:lnSpc>
                <a:spcPct val="103000"/>
              </a:lnSpc>
              <a:buNone/>
              <a:defRPr sz="1725" b="0" i="0">
                <a:solidFill>
                  <a:srgbClr val="F4F1E8"/>
                </a:solidFill>
                <a:latin typeface="Avenir Next"/>
                <a:ea typeface="Avenir Next"/>
                <a:cs typeface="Avenir Next"/>
              </a:defRPr>
            </a:pPr>
            <a:r>
              <a:rPr sz="1725" b="0" i="0">
                <a:solidFill>
                  <a:srgbClr val="F4F1E8"/>
                </a:solidFill>
                <a:latin typeface="Avenir Next"/>
                <a:ea typeface="Avenir Next"/>
                <a:cs typeface="Avenir Next"/>
              </a:rPr>
              <a:t>Checks whether the solution fits real practice, institutional limits, and field experience.</a:t>
            </a:r>
          </a:p>
        </p:txBody>
      </p:sp>
      <p:sp>
        <p:nvSpPr>
          <p:cNvPr id="12" name="">
            <a:extLst xmlns:a="http://schemas.openxmlformats.org/drawingml/2006/main">
              <a:ext uri="{FF2B5EF4-FFF2-40B4-BE49-F238E27FC236}">
                <a16:creationId xmlns:a16="http://schemas.microsoft.com/office/drawing/2014/main" id="{56CFE099-3674-4383-B849-339E6E31DC1F}"/>
              </a:ext>
            </a:extLst>
          </p:cNvPr>
          <p:cNvSpPr>
            <a:spLocks xmlns:a="http://schemas.openxmlformats.org/drawingml/2006/main" noGrp="1"/>
          </p:cNvSpPr>
          <p:nvPr/>
        </p:nvSpPr>
        <p:spPr>
          <a:xfrm xmlns:a="http://schemas.openxmlformats.org/drawingml/2006/main">
            <a:off x="800100" y="4552950"/>
            <a:ext cx="1043940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EABDC79-8B27-406E-9F5D-F9FA56B5E6DB}"/>
              </a:ext>
            </a:extLst>
          </p:cNvPr>
          <p:cNvSpPr>
            <a:spLocks xmlns:a="http://schemas.openxmlformats.org/drawingml/2006/main" noGrp="1"/>
          </p:cNvSpPr>
          <p:nvPr/>
        </p:nvSpPr>
        <p:spPr>
          <a:xfrm xmlns:a="http://schemas.openxmlformats.org/drawingml/2006/main">
            <a:off x="800100" y="48196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i="0">
                <a:solidFill>
                  <a:srgbClr val="FFB454"/>
                </a:solidFill>
                <a:latin typeface="Avenir Next"/>
                <a:ea typeface="Avenir Next"/>
                <a:cs typeface="Avenir Next"/>
              </a:defRPr>
            </a:defPPr>
          </a:lstStyle>
          <a:p xmlns:a="http://schemas.openxmlformats.org/drawingml/2006/main">
            <a:pPr algn="l">
              <a:lnSpc>
                <a:spcPct val="100000"/>
              </a:lnSpc>
              <a:buNone/>
              <a:defRPr sz="1575" b="1" i="0">
                <a:solidFill>
                  <a:srgbClr val="FFB454"/>
                </a:solidFill>
                <a:latin typeface="Avenir Next"/>
                <a:ea typeface="Avenir Next"/>
                <a:cs typeface="Avenir Next"/>
              </a:defRPr>
            </a:pPr>
            <a:r>
              <a:rPr sz="1575" b="1" i="0">
                <a:solidFill>
                  <a:srgbClr val="FFB454"/>
                </a:solidFill>
                <a:latin typeface="Avenir Next"/>
                <a:ea typeface="Avenir Next"/>
                <a:cs typeface="Avenir Next"/>
              </a:rPr>
              <a:t>THE DESIGN LESSON</a:t>
            </a:r>
          </a:p>
        </p:txBody>
      </p:sp>
      <p:sp>
        <p:nvSpPr>
          <p:cNvPr id="14" name="">
            <a:extLst xmlns:a="http://schemas.openxmlformats.org/drawingml/2006/main">
              <a:ext uri="{FF2B5EF4-FFF2-40B4-BE49-F238E27FC236}">
                <a16:creationId xmlns:a16="http://schemas.microsoft.com/office/drawing/2014/main" id="{87BCDCAA-7D3C-48E0-83F8-0EB06EE9799F}"/>
              </a:ext>
            </a:extLst>
          </p:cNvPr>
          <p:cNvSpPr>
            <a:spLocks xmlns:a="http://schemas.openxmlformats.org/drawingml/2006/main" noGrp="1"/>
          </p:cNvSpPr>
          <p:nvPr/>
        </p:nvSpPr>
        <p:spPr>
          <a:xfrm xmlns:a="http://schemas.openxmlformats.org/drawingml/2006/main">
            <a:off x="4000500" y="48006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i="0">
                <a:solidFill>
                  <a:srgbClr val="F4F1E8"/>
                </a:solidFill>
                <a:latin typeface="Avenir Next"/>
                <a:ea typeface="Avenir Next"/>
                <a:cs typeface="Avenir Next"/>
              </a:defRPr>
            </a:defPPr>
          </a:lstStyle>
          <a:p xmlns:a="http://schemas.openxmlformats.org/drawingml/2006/main">
            <a:pPr algn="l">
              <a:lnSpc>
                <a:spcPct val="103000"/>
              </a:lnSpc>
              <a:buNone/>
              <a:defRPr sz="1725" b="1" i="0">
                <a:solidFill>
                  <a:srgbClr val="F4F1E8"/>
                </a:solidFill>
                <a:latin typeface="Avenir Next"/>
                <a:ea typeface="Avenir Next"/>
                <a:cs typeface="Avenir Next"/>
              </a:defRPr>
            </a:pPr>
            <a:r>
              <a:rPr sz="1725" b="1" i="0">
                <a:solidFill>
                  <a:srgbClr val="F4F1E8"/>
                </a:solidFill>
                <a:latin typeface="Avenir Next"/>
                <a:ea typeface="Avenir Next"/>
                <a:cs typeface="Avenir Next"/>
              </a:rPr>
              <a:t>Keep human review wherever an important quality remains difficult to measure.</a:t>
            </a:r>
          </a:p>
        </p:txBody>
      </p:sp>
      <p:sp>
        <p:nvSpPr>
          <p:cNvPr id="15" name="">
            <a:extLst xmlns:a="http://schemas.openxmlformats.org/drawingml/2006/main">
              <a:ext uri="{FF2B5EF4-FFF2-40B4-BE49-F238E27FC236}">
                <a16:creationId xmlns:a16="http://schemas.microsoft.com/office/drawing/2014/main" id="{D326DCE6-C90E-4E49-A522-469456C283B4}"/>
              </a:ext>
            </a:extLst>
          </p:cNvPr>
          <p:cNvSpPr>
            <a:spLocks xmlns:a="http://schemas.openxmlformats.org/drawingml/2006/main" noGrp="1"/>
          </p:cNvSpPr>
          <p:nvPr/>
        </p:nvSpPr>
        <p:spPr>
          <a:xfrm xmlns:a="http://schemas.openxmlformats.org/drawingml/2006/main">
            <a:off x="1524000" y="5943600"/>
            <a:ext cx="914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i="0">
                <a:solidFill>
                  <a:srgbClr val="A8BAC8"/>
                </a:solidFill>
                <a:latin typeface="Avenir Next"/>
                <a:ea typeface="Avenir Next"/>
                <a:cs typeface="Avenir Next"/>
              </a:defRPr>
            </a:defPPr>
          </a:lstStyle>
          <a:p xmlns:a="http://schemas.openxmlformats.org/drawingml/2006/main">
            <a:pPr algn="ctr">
              <a:lnSpc>
                <a:spcPct val="100000"/>
              </a:lnSpc>
              <a:buNone/>
              <a:defRPr sz="1875" b="1" i="0">
                <a:solidFill>
                  <a:srgbClr val="A8BAC8"/>
                </a:solidFill>
                <a:latin typeface="Avenir Next"/>
                <a:ea typeface="Avenir Next"/>
                <a:cs typeface="Avenir Next"/>
              </a:defRPr>
            </a:pPr>
            <a:r>
              <a:rPr sz="1875" b="1" i="0">
                <a:solidFill>
                  <a:srgbClr val="A8BAC8"/>
                </a:solidFill>
                <a:latin typeface="Avenir Next"/>
                <a:ea typeface="Avenir Next"/>
                <a:cs typeface="Avenir Next"/>
              </a:rPr>
              <a:t>The human adds judgment about the outcome, not simply another calculation.</a:t>
            </a:r>
          </a:p>
        </p:txBody>
      </p:sp>
    </p:spTree>
    <p:extLst>
      <p:ext uri="{BB962C8B-B14F-4D97-AF65-F5344CB8AC3E}">
        <p14:creationId xmlns:p14="http://schemas.microsoft.com/office/powerpoint/2010/main" val="2136442868"/>
      </p:ext>
    </p:extLst>
  </p:cSld>
</p:sld>
</file>

<file path=ppt/slides/slide1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4436660-1CFF-4A87-8302-2092A39EBFD8}"/>
              </a:ext>
            </a:extLst>
          </p:cNvPr>
          <p:cNvSpPr>
            <a:spLocks xmlns:a="http://schemas.openxmlformats.org/drawingml/2006/main" noGrp="1"/>
          </p:cNvSpPr>
          <p:nvPr/>
        </p:nvSpPr>
        <p:spPr>
          <a:xfrm xmlns:a="http://schemas.openxmlformats.org/drawingml/2006/main">
            <a:off x="685800" y="4953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10202C"/>
                </a:solidFill>
                <a:latin typeface="Avenir Next"/>
                <a:ea typeface="Avenir Next"/>
                <a:cs typeface="Avenir Next"/>
              </a:defRPr>
            </a:defPPr>
          </a:lstStyle>
          <a:p xmlns:a="http://schemas.openxmlformats.org/drawingml/2006/main">
            <a:pPr algn="l">
              <a:lnSpc>
                <a:spcPct val="100000"/>
              </a:lnSpc>
              <a:buNone/>
              <a:defRPr sz="3450" b="1" i="0">
                <a:solidFill>
                  <a:srgbClr val="10202C"/>
                </a:solidFill>
                <a:latin typeface="Avenir Next"/>
                <a:ea typeface="Avenir Next"/>
                <a:cs typeface="Avenir Next"/>
              </a:defRPr>
            </a:pPr>
            <a:r>
              <a:rPr sz="3450" b="1" i="0">
                <a:solidFill>
                  <a:srgbClr val="10202C"/>
                </a:solidFill>
                <a:latin typeface="Avenir Next"/>
                <a:ea typeface="Avenir Next"/>
                <a:cs typeface="Avenir Next"/>
              </a:rPr>
              <a:t>Machine proposes. Teacher decides.</a:t>
            </a:r>
          </a:p>
        </p:txBody>
      </p:sp>
      <p:sp>
        <p:nvSpPr>
          <p:cNvPr id="2" name="">
            <a:extLst xmlns:a="http://schemas.openxmlformats.org/drawingml/2006/main">
              <a:ext uri="{FF2B5EF4-FFF2-40B4-BE49-F238E27FC236}">
                <a16:creationId xmlns:a16="http://schemas.microsoft.com/office/drawing/2014/main" id="{BB3B8A91-F440-4617-9501-D12B5C89788A}"/>
              </a:ext>
            </a:extLst>
          </p:cNvPr>
          <p:cNvSpPr>
            <a:spLocks xmlns:a="http://schemas.openxmlformats.org/drawingml/2006/main" noGrp="1"/>
          </p:cNvSpPr>
          <p:nvPr/>
        </p:nvSpPr>
        <p:spPr>
          <a:xfrm xmlns:a="http://schemas.openxmlformats.org/drawingml/2006/main">
            <a:off x="685800" y="1333500"/>
            <a:ext cx="857250" cy="38100"/>
          </a:xfrm>
          <a:prstGeom xmlns:a="http://schemas.openxmlformats.org/drawingml/2006/main" prst="rect">
            <a:avLst/>
          </a:prstGeom>
          <a:solidFill xmlns:a="http://schemas.openxmlformats.org/drawingml/2006/main">
            <a:srgbClr val="55D6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2F8D468-B07A-4586-A78C-73F3D8DCD76D}"/>
              </a:ext>
            </a:extLst>
          </p:cNvPr>
          <p:cNvSpPr>
            <a:spLocks xmlns:a="http://schemas.openxmlformats.org/drawingml/2006/main" noGrp="1"/>
          </p:cNvSpPr>
          <p:nvPr/>
        </p:nvSpPr>
        <p:spPr>
          <a:xfrm xmlns:a="http://schemas.openxmlformats.org/drawingml/2006/main">
            <a:off x="704850" y="1809750"/>
            <a:ext cx="68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i="0">
                <a:solidFill>
                  <a:srgbClr val="5B8CFF"/>
                </a:solidFill>
                <a:latin typeface="Avenir Next"/>
                <a:ea typeface="Avenir Next"/>
                <a:cs typeface="Avenir Next"/>
              </a:defRPr>
            </a:defPPr>
          </a:lstStyle>
          <a:p xmlns:a="http://schemas.openxmlformats.org/drawingml/2006/main">
            <a:pPr algn="l">
              <a:lnSpc>
                <a:spcPct val="100000"/>
              </a:lnSpc>
              <a:buNone/>
              <a:defRPr sz="2850" b="1" i="0">
                <a:solidFill>
                  <a:srgbClr val="5B8CFF"/>
                </a:solidFill>
                <a:latin typeface="Avenir Next"/>
                <a:ea typeface="Avenir Next"/>
                <a:cs typeface="Avenir Next"/>
              </a:defRPr>
            </a:pPr>
            <a:r>
              <a:rPr sz="2850" b="1" i="0">
                <a:solidFill>
                  <a:srgbClr val="5B8CFF"/>
                </a:solidFill>
                <a:latin typeface="Avenir Next"/>
                <a:ea typeface="Avenir Next"/>
                <a:cs typeface="Avenir Next"/>
              </a:rPr>
              <a:t>01</a:t>
            </a:r>
          </a:p>
        </p:txBody>
      </p:sp>
      <p:sp>
        <p:nvSpPr>
          <p:cNvPr id="4" name="">
            <a:extLst xmlns:a="http://schemas.openxmlformats.org/drawingml/2006/main">
              <a:ext uri="{FF2B5EF4-FFF2-40B4-BE49-F238E27FC236}">
                <a16:creationId xmlns:a16="http://schemas.microsoft.com/office/drawing/2014/main" id="{01F9ABA1-97FD-4B8F-94A7-FBBE0A02850E}"/>
              </a:ext>
            </a:extLst>
          </p:cNvPr>
          <p:cNvSpPr>
            <a:spLocks xmlns:a="http://schemas.openxmlformats.org/drawingml/2006/main" noGrp="1"/>
          </p:cNvSpPr>
          <p:nvPr/>
        </p:nvSpPr>
        <p:spPr>
          <a:xfrm xmlns:a="http://schemas.openxmlformats.org/drawingml/2006/main">
            <a:off x="1485900" y="18478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i="0">
                <a:solidFill>
                  <a:srgbClr val="10202C"/>
                </a:solidFill>
                <a:latin typeface="Avenir Next"/>
                <a:ea typeface="Avenir Next"/>
                <a:cs typeface="Avenir Next"/>
              </a:defRPr>
            </a:defPPr>
          </a:lstStyle>
          <a:p xmlns:a="http://schemas.openxmlformats.org/drawingml/2006/main">
            <a:pPr algn="l">
              <a:lnSpc>
                <a:spcPct val="100000"/>
              </a:lnSpc>
              <a:buNone/>
              <a:defRPr sz="1800" b="1" i="0">
                <a:solidFill>
                  <a:srgbClr val="10202C"/>
                </a:solidFill>
                <a:latin typeface="Avenir Next"/>
                <a:ea typeface="Avenir Next"/>
                <a:cs typeface="Avenir Next"/>
              </a:defRPr>
            </a:pPr>
            <a:r>
              <a:rPr sz="1800" b="1" i="0">
                <a:solidFill>
                  <a:srgbClr val="10202C"/>
                </a:solidFill>
                <a:latin typeface="Avenir Next"/>
                <a:ea typeface="Avenir Next"/>
                <a:cs typeface="Avenir Next"/>
              </a:rPr>
              <a:t>AI reads</a:t>
            </a:r>
          </a:p>
        </p:txBody>
      </p:sp>
      <p:sp>
        <p:nvSpPr>
          <p:cNvPr id="5" name="">
            <a:extLst xmlns:a="http://schemas.openxmlformats.org/drawingml/2006/main">
              <a:ext uri="{FF2B5EF4-FFF2-40B4-BE49-F238E27FC236}">
                <a16:creationId xmlns:a16="http://schemas.microsoft.com/office/drawing/2014/main" id="{B39492A9-653F-452F-87FC-369A76F5F6AD}"/>
              </a:ext>
            </a:extLst>
          </p:cNvPr>
          <p:cNvSpPr>
            <a:spLocks xmlns:a="http://schemas.openxmlformats.org/drawingml/2006/main" noGrp="1"/>
          </p:cNvSpPr>
          <p:nvPr/>
        </p:nvSpPr>
        <p:spPr>
          <a:xfrm xmlns:a="http://schemas.openxmlformats.org/drawingml/2006/main">
            <a:off x="1485900" y="2400300"/>
            <a:ext cx="2619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536B79"/>
                </a:solidFill>
                <a:latin typeface="Avenir Next"/>
                <a:ea typeface="Avenir Next"/>
                <a:cs typeface="Avenir Next"/>
              </a:defRPr>
            </a:defPPr>
          </a:lstStyle>
          <a:p xmlns:a="http://schemas.openxmlformats.org/drawingml/2006/main">
            <a:pPr algn="l">
              <a:lnSpc>
                <a:spcPct val="104000"/>
              </a:lnSpc>
              <a:buNone/>
              <a:defRPr sz="1500" b="0" i="0">
                <a:solidFill>
                  <a:srgbClr val="536B79"/>
                </a:solidFill>
                <a:latin typeface="Avenir Next"/>
                <a:ea typeface="Avenir Next"/>
                <a:cs typeface="Avenir Next"/>
              </a:defRPr>
            </a:pPr>
            <a:r>
              <a:rPr sz="1500" b="0" i="0">
                <a:solidFill>
                  <a:srgbClr val="536B79"/>
                </a:solidFill>
                <a:latin typeface="Avenir Next"/>
                <a:ea typeface="Avenir Next"/>
                <a:cs typeface="Avenir Next"/>
              </a:rPr>
              <a:t>Course material, learning goals, and lecture content</a:t>
            </a:r>
          </a:p>
        </p:txBody>
      </p:sp>
      <p:sp>
        <p:nvSpPr>
          <p:cNvPr id="6" name="">
            <a:extLst xmlns:a="http://schemas.openxmlformats.org/drawingml/2006/main">
              <a:ext uri="{FF2B5EF4-FFF2-40B4-BE49-F238E27FC236}">
                <a16:creationId xmlns:a16="http://schemas.microsoft.com/office/drawing/2014/main" id="{24E8E186-539F-47D0-814A-52E43F57233F}"/>
              </a:ext>
            </a:extLst>
          </p:cNvPr>
          <p:cNvSpPr>
            <a:spLocks xmlns:a="http://schemas.openxmlformats.org/drawingml/2006/main" noGrp="1"/>
          </p:cNvSpPr>
          <p:nvPr/>
        </p:nvSpPr>
        <p:spPr>
          <a:xfrm xmlns:a="http://schemas.openxmlformats.org/drawingml/2006/main">
            <a:off x="4400550" y="1809750"/>
            <a:ext cx="68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i="0">
                <a:solidFill>
                  <a:srgbClr val="5B8CFF"/>
                </a:solidFill>
                <a:latin typeface="Avenir Next"/>
                <a:ea typeface="Avenir Next"/>
                <a:cs typeface="Avenir Next"/>
              </a:defRPr>
            </a:defPPr>
          </a:lstStyle>
          <a:p xmlns:a="http://schemas.openxmlformats.org/drawingml/2006/main">
            <a:pPr algn="l">
              <a:lnSpc>
                <a:spcPct val="100000"/>
              </a:lnSpc>
              <a:buNone/>
              <a:defRPr sz="2850" b="1" i="0">
                <a:solidFill>
                  <a:srgbClr val="5B8CFF"/>
                </a:solidFill>
                <a:latin typeface="Avenir Next"/>
                <a:ea typeface="Avenir Next"/>
                <a:cs typeface="Avenir Next"/>
              </a:defRPr>
            </a:pPr>
            <a:r>
              <a:rPr sz="2850" b="1" i="0">
                <a:solidFill>
                  <a:srgbClr val="5B8CFF"/>
                </a:solidFill>
                <a:latin typeface="Avenir Next"/>
                <a:ea typeface="Avenir Next"/>
                <a:cs typeface="Avenir Next"/>
              </a:rPr>
              <a:t>02</a:t>
            </a:r>
          </a:p>
        </p:txBody>
      </p:sp>
      <p:sp>
        <p:nvSpPr>
          <p:cNvPr id="7" name="">
            <a:extLst xmlns:a="http://schemas.openxmlformats.org/drawingml/2006/main">
              <a:ext uri="{FF2B5EF4-FFF2-40B4-BE49-F238E27FC236}">
                <a16:creationId xmlns:a16="http://schemas.microsoft.com/office/drawing/2014/main" id="{2B66CED4-8E90-47A2-9718-C18ACA1758B2}"/>
              </a:ext>
            </a:extLst>
          </p:cNvPr>
          <p:cNvSpPr>
            <a:spLocks xmlns:a="http://schemas.openxmlformats.org/drawingml/2006/main" noGrp="1"/>
          </p:cNvSpPr>
          <p:nvPr/>
        </p:nvSpPr>
        <p:spPr>
          <a:xfrm xmlns:a="http://schemas.openxmlformats.org/drawingml/2006/main">
            <a:off x="5181600" y="18478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i="0">
                <a:solidFill>
                  <a:srgbClr val="10202C"/>
                </a:solidFill>
                <a:latin typeface="Avenir Next"/>
                <a:ea typeface="Avenir Next"/>
                <a:cs typeface="Avenir Next"/>
              </a:defRPr>
            </a:defPPr>
          </a:lstStyle>
          <a:p xmlns:a="http://schemas.openxmlformats.org/drawingml/2006/main">
            <a:pPr algn="l">
              <a:lnSpc>
                <a:spcPct val="100000"/>
              </a:lnSpc>
              <a:buNone/>
              <a:defRPr sz="1800" b="1" i="0">
                <a:solidFill>
                  <a:srgbClr val="10202C"/>
                </a:solidFill>
                <a:latin typeface="Avenir Next"/>
                <a:ea typeface="Avenir Next"/>
                <a:cs typeface="Avenir Next"/>
              </a:defRPr>
            </a:pPr>
            <a:r>
              <a:rPr sz="1800" b="1" i="0">
                <a:solidFill>
                  <a:srgbClr val="10202C"/>
                </a:solidFill>
                <a:latin typeface="Avenir Next"/>
                <a:ea typeface="Avenir Next"/>
                <a:cs typeface="Avenir Next"/>
              </a:rPr>
              <a:t>AI drafts</a:t>
            </a:r>
          </a:p>
        </p:txBody>
      </p:sp>
      <p:sp>
        <p:nvSpPr>
          <p:cNvPr id="8" name="">
            <a:extLst xmlns:a="http://schemas.openxmlformats.org/drawingml/2006/main">
              <a:ext uri="{FF2B5EF4-FFF2-40B4-BE49-F238E27FC236}">
                <a16:creationId xmlns:a16="http://schemas.microsoft.com/office/drawing/2014/main" id="{0DE816AD-C63B-487E-B38E-80E5FC9DB79D}"/>
              </a:ext>
            </a:extLst>
          </p:cNvPr>
          <p:cNvSpPr>
            <a:spLocks xmlns:a="http://schemas.openxmlformats.org/drawingml/2006/main" noGrp="1"/>
          </p:cNvSpPr>
          <p:nvPr/>
        </p:nvSpPr>
        <p:spPr>
          <a:xfrm xmlns:a="http://schemas.openxmlformats.org/drawingml/2006/main">
            <a:off x="5181600" y="2400300"/>
            <a:ext cx="2619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536B79"/>
                </a:solidFill>
                <a:latin typeface="Avenir Next"/>
                <a:ea typeface="Avenir Next"/>
                <a:cs typeface="Avenir Next"/>
              </a:defRPr>
            </a:defPPr>
          </a:lstStyle>
          <a:p xmlns:a="http://schemas.openxmlformats.org/drawingml/2006/main">
            <a:pPr algn="l">
              <a:lnSpc>
                <a:spcPct val="104000"/>
              </a:lnSpc>
              <a:buNone/>
              <a:defRPr sz="1500" b="0" i="0">
                <a:solidFill>
                  <a:srgbClr val="536B79"/>
                </a:solidFill>
                <a:latin typeface="Avenir Next"/>
                <a:ea typeface="Avenir Next"/>
                <a:cs typeface="Avenir Next"/>
              </a:defRPr>
            </a:pPr>
            <a:r>
              <a:rPr sz="1500" b="0" i="0">
                <a:solidFill>
                  <a:srgbClr val="536B79"/>
                </a:solidFill>
                <a:latin typeface="Avenir Next"/>
                <a:ea typeface="Avenir Next"/>
                <a:cs typeface="Avenir Next"/>
              </a:rPr>
              <a:t>Learning objectives and assessment questions</a:t>
            </a:r>
          </a:p>
        </p:txBody>
      </p:sp>
      <p:sp>
        <p:nvSpPr>
          <p:cNvPr id="9" name="">
            <a:extLst xmlns:a="http://schemas.openxmlformats.org/drawingml/2006/main">
              <a:ext uri="{FF2B5EF4-FFF2-40B4-BE49-F238E27FC236}">
                <a16:creationId xmlns:a16="http://schemas.microsoft.com/office/drawing/2014/main" id="{AA83A75E-CE0B-473E-9DB3-C2D1316A5E78}"/>
              </a:ext>
            </a:extLst>
          </p:cNvPr>
          <p:cNvSpPr>
            <a:spLocks xmlns:a="http://schemas.openxmlformats.org/drawingml/2006/main" noGrp="1"/>
          </p:cNvSpPr>
          <p:nvPr/>
        </p:nvSpPr>
        <p:spPr>
          <a:xfrm xmlns:a="http://schemas.openxmlformats.org/drawingml/2006/main">
            <a:off x="8096250" y="1809750"/>
            <a:ext cx="68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i="0">
                <a:solidFill>
                  <a:srgbClr val="FF7A70"/>
                </a:solidFill>
                <a:latin typeface="Avenir Next"/>
                <a:ea typeface="Avenir Next"/>
                <a:cs typeface="Avenir Next"/>
              </a:defRPr>
            </a:defPPr>
          </a:lstStyle>
          <a:p xmlns:a="http://schemas.openxmlformats.org/drawingml/2006/main">
            <a:pPr algn="l">
              <a:lnSpc>
                <a:spcPct val="100000"/>
              </a:lnSpc>
              <a:buNone/>
              <a:defRPr sz="2850" b="1" i="0">
                <a:solidFill>
                  <a:srgbClr val="FF7A70"/>
                </a:solidFill>
                <a:latin typeface="Avenir Next"/>
                <a:ea typeface="Avenir Next"/>
                <a:cs typeface="Avenir Next"/>
              </a:defRPr>
            </a:pPr>
            <a:r>
              <a:rPr sz="2850" b="1" i="0">
                <a:solidFill>
                  <a:srgbClr val="FF7A70"/>
                </a:solidFill>
                <a:latin typeface="Avenir Next"/>
                <a:ea typeface="Avenir Next"/>
                <a:cs typeface="Avenir Next"/>
              </a:rPr>
              <a:t>03</a:t>
            </a:r>
          </a:p>
        </p:txBody>
      </p:sp>
      <p:sp>
        <p:nvSpPr>
          <p:cNvPr id="10" name="">
            <a:extLst xmlns:a="http://schemas.openxmlformats.org/drawingml/2006/main">
              <a:ext uri="{FF2B5EF4-FFF2-40B4-BE49-F238E27FC236}">
                <a16:creationId xmlns:a16="http://schemas.microsoft.com/office/drawing/2014/main" id="{71CAFF5F-959E-4D90-8026-6A4A77DC062E}"/>
              </a:ext>
            </a:extLst>
          </p:cNvPr>
          <p:cNvSpPr>
            <a:spLocks xmlns:a="http://schemas.openxmlformats.org/drawingml/2006/main" noGrp="1"/>
          </p:cNvSpPr>
          <p:nvPr/>
        </p:nvSpPr>
        <p:spPr>
          <a:xfrm xmlns:a="http://schemas.openxmlformats.org/drawingml/2006/main">
            <a:off x="8877300" y="18478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i="0">
                <a:solidFill>
                  <a:srgbClr val="10202C"/>
                </a:solidFill>
                <a:latin typeface="Avenir Next"/>
                <a:ea typeface="Avenir Next"/>
                <a:cs typeface="Avenir Next"/>
              </a:defRPr>
            </a:defPPr>
          </a:lstStyle>
          <a:p xmlns:a="http://schemas.openxmlformats.org/drawingml/2006/main">
            <a:pPr algn="l">
              <a:lnSpc>
                <a:spcPct val="100000"/>
              </a:lnSpc>
              <a:buNone/>
              <a:defRPr sz="1800" b="1" i="0">
                <a:solidFill>
                  <a:srgbClr val="10202C"/>
                </a:solidFill>
                <a:latin typeface="Avenir Next"/>
                <a:ea typeface="Avenir Next"/>
                <a:cs typeface="Avenir Next"/>
              </a:defRPr>
            </a:pPr>
            <a:r>
              <a:rPr sz="1800" b="1" i="0">
                <a:solidFill>
                  <a:srgbClr val="10202C"/>
                </a:solidFill>
                <a:latin typeface="Avenir Next"/>
                <a:ea typeface="Avenir Next"/>
                <a:cs typeface="Avenir Next"/>
              </a:rPr>
              <a:t>Teacher reviews</a:t>
            </a:r>
          </a:p>
        </p:txBody>
      </p:sp>
      <p:sp>
        <p:nvSpPr>
          <p:cNvPr id="11" name="">
            <a:extLst xmlns:a="http://schemas.openxmlformats.org/drawingml/2006/main">
              <a:ext uri="{FF2B5EF4-FFF2-40B4-BE49-F238E27FC236}">
                <a16:creationId xmlns:a16="http://schemas.microsoft.com/office/drawing/2014/main" id="{1E912C49-BF02-484A-9035-F0D5045F0C96}"/>
              </a:ext>
            </a:extLst>
          </p:cNvPr>
          <p:cNvSpPr>
            <a:spLocks xmlns:a="http://schemas.openxmlformats.org/drawingml/2006/main" noGrp="1"/>
          </p:cNvSpPr>
          <p:nvPr/>
        </p:nvSpPr>
        <p:spPr>
          <a:xfrm xmlns:a="http://schemas.openxmlformats.org/drawingml/2006/main">
            <a:off x="8877300" y="2400300"/>
            <a:ext cx="2619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536B79"/>
                </a:solidFill>
                <a:latin typeface="Avenir Next"/>
                <a:ea typeface="Avenir Next"/>
                <a:cs typeface="Avenir Next"/>
              </a:defRPr>
            </a:defPPr>
          </a:lstStyle>
          <a:p xmlns:a="http://schemas.openxmlformats.org/drawingml/2006/main">
            <a:pPr algn="l">
              <a:lnSpc>
                <a:spcPct val="104000"/>
              </a:lnSpc>
              <a:buNone/>
              <a:defRPr sz="1500" b="0" i="0">
                <a:solidFill>
                  <a:srgbClr val="536B79"/>
                </a:solidFill>
                <a:latin typeface="Avenir Next"/>
                <a:ea typeface="Avenir Next"/>
                <a:cs typeface="Avenir Next"/>
              </a:defRPr>
            </a:pPr>
            <a:r>
              <a:rPr sz="1500" b="0" i="0">
                <a:solidFill>
                  <a:srgbClr val="536B79"/>
                </a:solidFill>
                <a:latin typeface="Avenir Next"/>
                <a:ea typeface="Avenir Next"/>
                <a:cs typeface="Avenir Next"/>
              </a:rPr>
              <a:t>Accept, edit, or reject every suggestion</a:t>
            </a:r>
          </a:p>
        </p:txBody>
      </p:sp>
      <p:sp>
        <p:nvSpPr>
          <p:cNvPr id="12" name="">
            <a:extLst xmlns:a="http://schemas.openxmlformats.org/drawingml/2006/main">
              <a:ext uri="{FF2B5EF4-FFF2-40B4-BE49-F238E27FC236}">
                <a16:creationId xmlns:a16="http://schemas.microsoft.com/office/drawing/2014/main" id="{B542913E-BB66-4A09-BB3A-90C7090F26FD}"/>
              </a:ext>
            </a:extLst>
          </p:cNvPr>
          <p:cNvSpPr>
            <a:spLocks xmlns:a="http://schemas.openxmlformats.org/drawingml/2006/main" noGrp="1"/>
          </p:cNvSpPr>
          <p:nvPr/>
        </p:nvSpPr>
        <p:spPr>
          <a:xfrm xmlns:a="http://schemas.openxmlformats.org/drawingml/2006/main">
            <a:off x="704850" y="3771900"/>
            <a:ext cx="10706100" cy="19050"/>
          </a:xfrm>
          <a:prstGeom xmlns:a="http://schemas.openxmlformats.org/drawingml/2006/main" prst="rect">
            <a:avLst/>
          </a:prstGeom>
          <a:solidFill xmlns:a="http://schemas.openxmlformats.org/drawingml/2006/main">
            <a:srgbClr val="CCD7D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3CDA004-0AF9-4C43-B57A-F53EA983AB34}"/>
              </a:ext>
            </a:extLst>
          </p:cNvPr>
          <p:cNvSpPr>
            <a:spLocks xmlns:a="http://schemas.openxmlformats.org/drawingml/2006/main" noGrp="1"/>
          </p:cNvSpPr>
          <p:nvPr/>
        </p:nvSpPr>
        <p:spPr>
          <a:xfrm xmlns:a="http://schemas.openxmlformats.org/drawingml/2006/main">
            <a:off x="704850" y="4095750"/>
            <a:ext cx="762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10202C"/>
                </a:solidFill>
                <a:latin typeface="Avenir Next"/>
                <a:ea typeface="Avenir Next"/>
                <a:cs typeface="Avenir Next"/>
              </a:defRPr>
            </a:defPPr>
          </a:lstStyle>
          <a:p xmlns:a="http://schemas.openxmlformats.org/drawingml/2006/main">
            <a:pPr algn="l">
              <a:lnSpc>
                <a:spcPct val="100000"/>
              </a:lnSpc>
              <a:buNone/>
              <a:defRPr sz="1950" b="1" i="0">
                <a:solidFill>
                  <a:srgbClr val="10202C"/>
                </a:solidFill>
                <a:latin typeface="Avenir Next"/>
                <a:ea typeface="Avenir Next"/>
                <a:cs typeface="Avenir Next"/>
              </a:defRPr>
            </a:pPr>
            <a:r>
              <a:rPr sz="1950" b="1" i="0">
                <a:solidFill>
                  <a:srgbClr val="10202C"/>
                </a:solidFill>
                <a:latin typeface="Avenir Next"/>
                <a:ea typeface="Avenir Next"/>
                <a:cs typeface="Avenir Next"/>
              </a:rPr>
              <a:t>The same pattern appears in time-critical systems</a:t>
            </a:r>
          </a:p>
        </p:txBody>
      </p:sp>
      <p:sp>
        <p:nvSpPr>
          <p:cNvPr id="14" name="">
            <a:extLst xmlns:a="http://schemas.openxmlformats.org/drawingml/2006/main">
              <a:ext uri="{FF2B5EF4-FFF2-40B4-BE49-F238E27FC236}">
                <a16:creationId xmlns:a16="http://schemas.microsoft.com/office/drawing/2014/main" id="{64D957CA-13D9-4566-81EC-F18CFC88A85C}"/>
              </a:ext>
            </a:extLst>
          </p:cNvPr>
          <p:cNvSpPr>
            <a:spLocks xmlns:a="http://schemas.openxmlformats.org/drawingml/2006/main" noGrp="1"/>
          </p:cNvSpPr>
          <p:nvPr/>
        </p:nvSpPr>
        <p:spPr>
          <a:xfrm xmlns:a="http://schemas.openxmlformats.org/drawingml/2006/main">
            <a:off x="723900" y="4876800"/>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i="0">
                <a:solidFill>
                  <a:srgbClr val="FF7A70"/>
                </a:solidFill>
                <a:latin typeface="Avenir Next"/>
                <a:ea typeface="Avenir Next"/>
                <a:cs typeface="Avenir Next"/>
              </a:defRPr>
            </a:defPPr>
          </a:lstStyle>
          <a:p xmlns:a="http://schemas.openxmlformats.org/drawingml/2006/main">
            <a:pPr algn="l">
              <a:lnSpc>
                <a:spcPct val="100000"/>
              </a:lnSpc>
              <a:buNone/>
              <a:defRPr sz="1725" b="1" i="0">
                <a:solidFill>
                  <a:srgbClr val="FF7A70"/>
                </a:solidFill>
                <a:latin typeface="Avenir Next"/>
                <a:ea typeface="Avenir Next"/>
                <a:cs typeface="Avenir Next"/>
              </a:defRPr>
            </a:pPr>
            <a:r>
              <a:rPr sz="1725" b="1" i="0">
                <a:solidFill>
                  <a:srgbClr val="FF7A70"/>
                </a:solidFill>
                <a:latin typeface="Avenir Next"/>
                <a:ea typeface="Avenir Next"/>
                <a:cs typeface="Avenir Next"/>
              </a:rPr>
              <a:t>Hybrid closed-loop insulin</a:t>
            </a:r>
          </a:p>
        </p:txBody>
      </p:sp>
      <p:sp>
        <p:nvSpPr>
          <p:cNvPr id="15" name="">
            <a:extLst xmlns:a="http://schemas.openxmlformats.org/drawingml/2006/main">
              <a:ext uri="{FF2B5EF4-FFF2-40B4-BE49-F238E27FC236}">
                <a16:creationId xmlns:a16="http://schemas.microsoft.com/office/drawing/2014/main" id="{4D2279CE-B4CD-46FD-B6E9-7A409783003A}"/>
              </a:ext>
            </a:extLst>
          </p:cNvPr>
          <p:cNvSpPr>
            <a:spLocks xmlns:a="http://schemas.openxmlformats.org/drawingml/2006/main" noGrp="1"/>
          </p:cNvSpPr>
          <p:nvPr/>
        </p:nvSpPr>
        <p:spPr>
          <a:xfrm xmlns:a="http://schemas.openxmlformats.org/drawingml/2006/main">
            <a:off x="723900" y="5314950"/>
            <a:ext cx="447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536B79"/>
                </a:solidFill>
                <a:latin typeface="Avenir Next"/>
                <a:ea typeface="Avenir Next"/>
                <a:cs typeface="Avenir Next"/>
              </a:defRPr>
            </a:defPPr>
          </a:lstStyle>
          <a:p xmlns:a="http://schemas.openxmlformats.org/drawingml/2006/main">
            <a:pPr algn="l">
              <a:lnSpc>
                <a:spcPct val="100000"/>
              </a:lnSpc>
              <a:buNone/>
              <a:defRPr sz="1500" b="0" i="0">
                <a:solidFill>
                  <a:srgbClr val="536B79"/>
                </a:solidFill>
                <a:latin typeface="Avenir Next"/>
                <a:ea typeface="Avenir Next"/>
                <a:cs typeface="Avenir Next"/>
              </a:defRPr>
            </a:pPr>
            <a:r>
              <a:rPr sz="1500" b="0" i="0">
                <a:solidFill>
                  <a:srgbClr val="536B79"/>
                </a:solidFill>
                <a:latin typeface="Avenir Next"/>
                <a:ea typeface="Avenir Next"/>
                <a:cs typeface="Avenir Next"/>
              </a:rPr>
              <a:t>The system adjusts delivery while the patient still provides meal information.</a:t>
            </a:r>
          </a:p>
        </p:txBody>
      </p:sp>
      <p:sp>
        <p:nvSpPr>
          <p:cNvPr id="16" name="">
            <a:extLst xmlns:a="http://schemas.openxmlformats.org/drawingml/2006/main">
              <a:ext uri="{FF2B5EF4-FFF2-40B4-BE49-F238E27FC236}">
                <a16:creationId xmlns:a16="http://schemas.microsoft.com/office/drawing/2014/main" id="{9958ED0A-5DE2-408D-8279-77E2F2A751B7}"/>
              </a:ext>
            </a:extLst>
          </p:cNvPr>
          <p:cNvSpPr>
            <a:spLocks xmlns:a="http://schemas.openxmlformats.org/drawingml/2006/main" noGrp="1"/>
          </p:cNvSpPr>
          <p:nvPr/>
        </p:nvSpPr>
        <p:spPr>
          <a:xfrm xmlns:a="http://schemas.openxmlformats.org/drawingml/2006/main">
            <a:off x="6572250" y="4876800"/>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i="0">
                <a:solidFill>
                  <a:srgbClr val="5B8CFF"/>
                </a:solidFill>
                <a:latin typeface="Avenir Next"/>
                <a:ea typeface="Avenir Next"/>
                <a:cs typeface="Avenir Next"/>
              </a:defRPr>
            </a:defPPr>
          </a:lstStyle>
          <a:p xmlns:a="http://schemas.openxmlformats.org/drawingml/2006/main">
            <a:pPr algn="l">
              <a:lnSpc>
                <a:spcPct val="100000"/>
              </a:lnSpc>
              <a:buNone/>
              <a:defRPr sz="1725" b="1" i="0">
                <a:solidFill>
                  <a:srgbClr val="5B8CFF"/>
                </a:solidFill>
                <a:latin typeface="Avenir Next"/>
                <a:ea typeface="Avenir Next"/>
                <a:cs typeface="Avenir Next"/>
              </a:defRPr>
            </a:pPr>
            <a:r>
              <a:rPr sz="1725" b="1" i="0">
                <a:solidFill>
                  <a:srgbClr val="5B8CFF"/>
                </a:solidFill>
                <a:latin typeface="Avenir Next"/>
                <a:ea typeface="Avenir Next"/>
                <a:cs typeface="Avenir Next"/>
              </a:rPr>
              <a:t>Market circuit breakers</a:t>
            </a:r>
          </a:p>
        </p:txBody>
      </p:sp>
      <p:sp>
        <p:nvSpPr>
          <p:cNvPr id="17" name="">
            <a:extLst xmlns:a="http://schemas.openxmlformats.org/drawingml/2006/main">
              <a:ext uri="{FF2B5EF4-FFF2-40B4-BE49-F238E27FC236}">
                <a16:creationId xmlns:a16="http://schemas.microsoft.com/office/drawing/2014/main" id="{BC471628-A719-449D-AE29-542D4A3FFA2C}"/>
              </a:ext>
            </a:extLst>
          </p:cNvPr>
          <p:cNvSpPr>
            <a:spLocks xmlns:a="http://schemas.openxmlformats.org/drawingml/2006/main" noGrp="1"/>
          </p:cNvSpPr>
          <p:nvPr/>
        </p:nvSpPr>
        <p:spPr>
          <a:xfrm xmlns:a="http://schemas.openxmlformats.org/drawingml/2006/main">
            <a:off x="6572250" y="5314950"/>
            <a:ext cx="447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536B79"/>
                </a:solidFill>
                <a:latin typeface="Avenir Next"/>
                <a:ea typeface="Avenir Next"/>
                <a:cs typeface="Avenir Next"/>
              </a:defRPr>
            </a:defPPr>
          </a:lstStyle>
          <a:p xmlns:a="http://schemas.openxmlformats.org/drawingml/2006/main">
            <a:pPr algn="l">
              <a:lnSpc>
                <a:spcPct val="100000"/>
              </a:lnSpc>
              <a:buNone/>
              <a:defRPr sz="1500" b="0" i="0">
                <a:solidFill>
                  <a:srgbClr val="536B79"/>
                </a:solidFill>
                <a:latin typeface="Avenir Next"/>
                <a:ea typeface="Avenir Next"/>
                <a:cs typeface="Avenir Next"/>
              </a:defRPr>
            </a:pPr>
            <a:r>
              <a:rPr sz="1500" b="0" i="0">
                <a:solidFill>
                  <a:srgbClr val="536B79"/>
                </a:solidFill>
                <a:latin typeface="Avenir Next"/>
                <a:ea typeface="Avenir Next"/>
                <a:cs typeface="Avenir Next"/>
              </a:rPr>
              <a:t>Automated pauses create time for review during extreme volatility.</a:t>
            </a:r>
          </a:p>
        </p:txBody>
      </p:sp>
    </p:spTree>
    <p:extLst>
      <p:ext uri="{BB962C8B-B14F-4D97-AF65-F5344CB8AC3E}">
        <p14:creationId xmlns:p14="http://schemas.microsoft.com/office/powerpoint/2010/main" val="215234388"/>
      </p:ext>
    </p:extLst>
  </p:cSld>
</p:sld>
</file>

<file path=ppt/slides/slide18.xml><?xml version="1.0" encoding="utf-8"?>
<p:sld xmlns:p="http://schemas.openxmlformats.org/presentationml/2006/main">
  <p:cSld>
    <p:bg>
      <p:bgPr>
        <a:solidFill xmlns:a="http://schemas.openxmlformats.org/drawingml/2006/main">
          <a:srgbClr val="0B1D2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74CDD98-B940-4157-AF0C-F34C6D00C346}"/>
              </a:ext>
            </a:extLst>
          </p:cNvPr>
          <p:cNvSpPr>
            <a:spLocks xmlns:a="http://schemas.openxmlformats.org/drawingml/2006/main" noGrp="1"/>
          </p:cNvSpPr>
          <p:nvPr/>
        </p:nvSpPr>
        <p:spPr>
          <a:xfrm xmlns:a="http://schemas.openxmlformats.org/drawingml/2006/main">
            <a:off x="685800" y="5143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i="0">
                <a:solidFill>
                  <a:srgbClr val="F4F1E8"/>
                </a:solidFill>
                <a:latin typeface="Avenir Next"/>
                <a:ea typeface="Avenir Next"/>
                <a:cs typeface="Avenir Next"/>
              </a:defRPr>
            </a:defPPr>
          </a:lstStyle>
          <a:p xmlns:a="http://schemas.openxmlformats.org/drawingml/2006/main">
            <a:pPr algn="l">
              <a:lnSpc>
                <a:spcPct val="100000"/>
              </a:lnSpc>
              <a:buNone/>
              <a:defRPr sz="3300" b="1" i="0">
                <a:solidFill>
                  <a:srgbClr val="F4F1E8"/>
                </a:solidFill>
                <a:latin typeface="Avenir Next"/>
                <a:ea typeface="Avenir Next"/>
                <a:cs typeface="Avenir Next"/>
              </a:defRPr>
            </a:pPr>
            <a:r>
              <a:rPr sz="3300" b="1" i="0">
                <a:solidFill>
                  <a:srgbClr val="F4F1E8"/>
                </a:solidFill>
                <a:latin typeface="Avenir Next"/>
                <a:ea typeface="Avenir Next"/>
                <a:cs typeface="Avenir Next"/>
              </a:rPr>
              <a:t>The costs outside the demo</a:t>
            </a:r>
          </a:p>
        </p:txBody>
      </p:sp>
      <p:sp>
        <p:nvSpPr>
          <p:cNvPr id="2" name="">
            <a:extLst xmlns:a="http://schemas.openxmlformats.org/drawingml/2006/main">
              <a:ext uri="{FF2B5EF4-FFF2-40B4-BE49-F238E27FC236}">
                <a16:creationId xmlns:a16="http://schemas.microsoft.com/office/drawing/2014/main" id="{1C62DEDE-8815-4B92-A8BE-1868F71EE118}"/>
              </a:ext>
            </a:extLst>
          </p:cNvPr>
          <p:cNvSpPr>
            <a:spLocks xmlns:a="http://schemas.openxmlformats.org/drawingml/2006/main" noGrp="1"/>
          </p:cNvSpPr>
          <p:nvPr/>
        </p:nvSpPr>
        <p:spPr>
          <a:xfrm xmlns:a="http://schemas.openxmlformats.org/drawingml/2006/main">
            <a:off x="685800" y="1257300"/>
            <a:ext cx="857250" cy="38100"/>
          </a:xfrm>
          <a:prstGeom xmlns:a="http://schemas.openxmlformats.org/drawingml/2006/main" prst="rect">
            <a:avLst/>
          </a:prstGeom>
          <a:solidFill xmlns:a="http://schemas.openxmlformats.org/drawingml/2006/main">
            <a:srgbClr val="55D6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F2BF20A-1521-47D7-A91B-0227ACF9D96A}"/>
              </a:ext>
            </a:extLst>
          </p:cNvPr>
          <p:cNvSpPr>
            <a:spLocks xmlns:a="http://schemas.openxmlformats.org/drawingml/2006/main" noGrp="1"/>
          </p:cNvSpPr>
          <p:nvPr/>
        </p:nvSpPr>
        <p:spPr>
          <a:xfrm xmlns:a="http://schemas.openxmlformats.org/drawingml/2006/main">
            <a:off x="1752600" y="1095375"/>
            <a:ext cx="933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A8BAC8"/>
                </a:solidFill>
                <a:latin typeface="Avenir Next"/>
                <a:ea typeface="Avenir Next"/>
                <a:cs typeface="Avenir Next"/>
              </a:defRPr>
            </a:defPPr>
          </a:lstStyle>
          <a:p xmlns:a="http://schemas.openxmlformats.org/drawingml/2006/main">
            <a:pPr algn="l">
              <a:lnSpc>
                <a:spcPct val="100000"/>
              </a:lnSpc>
              <a:buNone/>
              <a:defRPr sz="1500" b="0" i="0">
                <a:solidFill>
                  <a:srgbClr val="A8BAC8"/>
                </a:solidFill>
                <a:latin typeface="Avenir Next"/>
                <a:ea typeface="Avenir Next"/>
                <a:cs typeface="Avenir Next"/>
              </a:defRPr>
            </a:pPr>
            <a:r>
              <a:rPr sz="1500" b="0" i="0">
                <a:solidFill>
                  <a:srgbClr val="A8BAC8"/>
                </a:solidFill>
                <a:latin typeface="Avenir Next"/>
                <a:ea typeface="Avenir Next"/>
                <a:cs typeface="Avenir Next"/>
              </a:rPr>
              <a:t>Each one is an open engineering question</a:t>
            </a:r>
          </a:p>
        </p:txBody>
      </p:sp>
      <p:sp>
        <p:nvSpPr>
          <p:cNvPr id="4" name="">
            <a:extLst xmlns:a="http://schemas.openxmlformats.org/drawingml/2006/main">
              <a:ext uri="{FF2B5EF4-FFF2-40B4-BE49-F238E27FC236}">
                <a16:creationId xmlns:a16="http://schemas.microsoft.com/office/drawing/2014/main" id="{1341D5C0-A560-46D3-A9B5-A4993EC55DE3}"/>
              </a:ext>
            </a:extLst>
          </p:cNvPr>
          <p:cNvSpPr>
            <a:spLocks xmlns:a="http://schemas.openxmlformats.org/drawingml/2006/main" noGrp="1"/>
          </p:cNvSpPr>
          <p:nvPr/>
        </p:nvSpPr>
        <p:spPr>
          <a:xfrm xmlns:a="http://schemas.openxmlformats.org/drawingml/2006/main">
            <a:off x="723900" y="1981200"/>
            <a:ext cx="819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FF7A70"/>
                </a:solidFill>
                <a:latin typeface="Avenir Next"/>
                <a:ea typeface="Avenir Next"/>
                <a:cs typeface="Avenir Next"/>
              </a:defRPr>
            </a:defPPr>
          </a:lstStyle>
          <a:p xmlns:a="http://schemas.openxmlformats.org/drawingml/2006/main">
            <a:pPr algn="l">
              <a:lnSpc>
                <a:spcPct val="100000"/>
              </a:lnSpc>
              <a:buNone/>
              <a:defRPr sz="3450" b="1" i="0">
                <a:solidFill>
                  <a:srgbClr val="FF7A70"/>
                </a:solidFill>
                <a:latin typeface="Avenir Next"/>
                <a:ea typeface="Avenir Next"/>
                <a:cs typeface="Avenir Next"/>
              </a:defRPr>
            </a:pPr>
            <a:r>
              <a:rPr sz="3450" b="1" i="0">
                <a:solidFill>
                  <a:srgbClr val="FF7A70"/>
                </a:solidFill>
                <a:latin typeface="Avenir Next"/>
                <a:ea typeface="Avenir Next"/>
                <a:cs typeface="Avenir Next"/>
              </a:rPr>
              <a:t>01</a:t>
            </a:r>
          </a:p>
        </p:txBody>
      </p:sp>
      <p:sp>
        <p:nvSpPr>
          <p:cNvPr id="5" name="">
            <a:extLst xmlns:a="http://schemas.openxmlformats.org/drawingml/2006/main">
              <a:ext uri="{FF2B5EF4-FFF2-40B4-BE49-F238E27FC236}">
                <a16:creationId xmlns:a16="http://schemas.microsoft.com/office/drawing/2014/main" id="{E6B8F49D-38C3-494F-80BB-132A63372B2B}"/>
              </a:ext>
            </a:extLst>
          </p:cNvPr>
          <p:cNvSpPr>
            <a:spLocks xmlns:a="http://schemas.openxmlformats.org/drawingml/2006/main" noGrp="1"/>
          </p:cNvSpPr>
          <p:nvPr/>
        </p:nvSpPr>
        <p:spPr>
          <a:xfrm xmlns:a="http://schemas.openxmlformats.org/drawingml/2006/main">
            <a:off x="723900" y="278130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i="0">
                <a:solidFill>
                  <a:srgbClr val="F4F1E8"/>
                </a:solidFill>
                <a:latin typeface="Avenir Next"/>
                <a:ea typeface="Avenir Next"/>
                <a:cs typeface="Avenir Next"/>
              </a:defRPr>
            </a:defPPr>
          </a:lstStyle>
          <a:p xmlns:a="http://schemas.openxmlformats.org/drawingml/2006/main">
            <a:pPr algn="l">
              <a:lnSpc>
                <a:spcPct val="100000"/>
              </a:lnSpc>
              <a:buNone/>
              <a:defRPr sz="1650" b="1" i="0">
                <a:solidFill>
                  <a:srgbClr val="F4F1E8"/>
                </a:solidFill>
                <a:latin typeface="Avenir Next"/>
                <a:ea typeface="Avenir Next"/>
                <a:cs typeface="Avenir Next"/>
              </a:defRPr>
            </a:pPr>
            <a:r>
              <a:rPr sz="1650" b="1" i="0">
                <a:solidFill>
                  <a:srgbClr val="F4F1E8"/>
                </a:solidFill>
                <a:latin typeface="Avenir Next"/>
                <a:ea typeface="Avenir Next"/>
                <a:cs typeface="Avenir Next"/>
              </a:rPr>
              <a:t>RESPONSIBILITY</a:t>
            </a:r>
          </a:p>
        </p:txBody>
      </p:sp>
      <p:sp>
        <p:nvSpPr>
          <p:cNvPr id="6" name="">
            <a:extLst xmlns:a="http://schemas.openxmlformats.org/drawingml/2006/main">
              <a:ext uri="{FF2B5EF4-FFF2-40B4-BE49-F238E27FC236}">
                <a16:creationId xmlns:a16="http://schemas.microsoft.com/office/drawing/2014/main" id="{E653927F-FB88-480A-BB9D-32972C363B0D}"/>
              </a:ext>
            </a:extLst>
          </p:cNvPr>
          <p:cNvSpPr>
            <a:spLocks xmlns:a="http://schemas.openxmlformats.org/drawingml/2006/main" noGrp="1"/>
          </p:cNvSpPr>
          <p:nvPr/>
        </p:nvSpPr>
        <p:spPr>
          <a:xfrm xmlns:a="http://schemas.openxmlformats.org/drawingml/2006/main">
            <a:off x="723900" y="3314700"/>
            <a:ext cx="304800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2471C9F-825F-475E-A65E-59F787E16067}"/>
              </a:ext>
            </a:extLst>
          </p:cNvPr>
          <p:cNvSpPr>
            <a:spLocks xmlns:a="http://schemas.openxmlformats.org/drawingml/2006/main" noGrp="1"/>
          </p:cNvSpPr>
          <p:nvPr/>
        </p:nvSpPr>
        <p:spPr>
          <a:xfrm xmlns:a="http://schemas.openxmlformats.org/drawingml/2006/main">
            <a:off x="723900" y="3638550"/>
            <a:ext cx="30480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A8BAC8"/>
                </a:solidFill>
                <a:latin typeface="Avenir Next"/>
                <a:ea typeface="Avenir Next"/>
                <a:cs typeface="Avenir Next"/>
              </a:defRPr>
            </a:defPPr>
          </a:lstStyle>
          <a:p xmlns:a="http://schemas.openxmlformats.org/drawingml/2006/main">
            <a:pPr algn="l">
              <a:lnSpc>
                <a:spcPct val="105000"/>
              </a:lnSpc>
              <a:buNone/>
              <a:defRPr sz="1725" b="0" i="0">
                <a:solidFill>
                  <a:srgbClr val="A8BAC8"/>
                </a:solidFill>
                <a:latin typeface="Avenir Next"/>
                <a:ea typeface="Avenir Next"/>
                <a:cs typeface="Avenir Next"/>
              </a:defRPr>
            </a:pPr>
            <a:r>
              <a:rPr sz="1725" b="0" i="0">
                <a:solidFill>
                  <a:srgbClr val="A8BAC8"/>
                </a:solidFill>
                <a:latin typeface="Avenir Next"/>
                <a:ea typeface="Avenir Next"/>
                <a:cs typeface="Avenir Next"/>
              </a:rPr>
              <a:t>When the system causes harm, who carries the decision and the liability?</a:t>
            </a:r>
          </a:p>
        </p:txBody>
      </p:sp>
      <p:sp>
        <p:nvSpPr>
          <p:cNvPr id="8" name="">
            <a:extLst xmlns:a="http://schemas.openxmlformats.org/drawingml/2006/main">
              <a:ext uri="{FF2B5EF4-FFF2-40B4-BE49-F238E27FC236}">
                <a16:creationId xmlns:a16="http://schemas.microsoft.com/office/drawing/2014/main" id="{51DD895F-C8C0-4EC6-B509-FFD193E29848}"/>
              </a:ext>
            </a:extLst>
          </p:cNvPr>
          <p:cNvSpPr>
            <a:spLocks xmlns:a="http://schemas.openxmlformats.org/drawingml/2006/main" noGrp="1"/>
          </p:cNvSpPr>
          <p:nvPr/>
        </p:nvSpPr>
        <p:spPr>
          <a:xfrm xmlns:a="http://schemas.openxmlformats.org/drawingml/2006/main">
            <a:off x="4457700" y="1981200"/>
            <a:ext cx="819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5B8CFF"/>
                </a:solidFill>
                <a:latin typeface="Avenir Next"/>
                <a:ea typeface="Avenir Next"/>
                <a:cs typeface="Avenir Next"/>
              </a:defRPr>
            </a:defPPr>
          </a:lstStyle>
          <a:p xmlns:a="http://schemas.openxmlformats.org/drawingml/2006/main">
            <a:pPr algn="l">
              <a:lnSpc>
                <a:spcPct val="100000"/>
              </a:lnSpc>
              <a:buNone/>
              <a:defRPr sz="3450" b="1" i="0">
                <a:solidFill>
                  <a:srgbClr val="5B8CFF"/>
                </a:solidFill>
                <a:latin typeface="Avenir Next"/>
                <a:ea typeface="Avenir Next"/>
                <a:cs typeface="Avenir Next"/>
              </a:defRPr>
            </a:pPr>
            <a:r>
              <a:rPr sz="3450" b="1" i="0">
                <a:solidFill>
                  <a:srgbClr val="5B8CFF"/>
                </a:solidFill>
                <a:latin typeface="Avenir Next"/>
                <a:ea typeface="Avenir Next"/>
                <a:cs typeface="Avenir Next"/>
              </a:rPr>
              <a:t>02</a:t>
            </a:r>
          </a:p>
        </p:txBody>
      </p:sp>
      <p:sp>
        <p:nvSpPr>
          <p:cNvPr id="9" name="">
            <a:extLst xmlns:a="http://schemas.openxmlformats.org/drawingml/2006/main">
              <a:ext uri="{FF2B5EF4-FFF2-40B4-BE49-F238E27FC236}">
                <a16:creationId xmlns:a16="http://schemas.microsoft.com/office/drawing/2014/main" id="{D88634A1-BF3F-4F21-9B7E-5DAB6F4CA884}"/>
              </a:ext>
            </a:extLst>
          </p:cNvPr>
          <p:cNvSpPr>
            <a:spLocks xmlns:a="http://schemas.openxmlformats.org/drawingml/2006/main" noGrp="1"/>
          </p:cNvSpPr>
          <p:nvPr/>
        </p:nvSpPr>
        <p:spPr>
          <a:xfrm xmlns:a="http://schemas.openxmlformats.org/drawingml/2006/main">
            <a:off x="4457700" y="278130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i="0">
                <a:solidFill>
                  <a:srgbClr val="F4F1E8"/>
                </a:solidFill>
                <a:latin typeface="Avenir Next"/>
                <a:ea typeface="Avenir Next"/>
                <a:cs typeface="Avenir Next"/>
              </a:defRPr>
            </a:defPPr>
          </a:lstStyle>
          <a:p xmlns:a="http://schemas.openxmlformats.org/drawingml/2006/main">
            <a:pPr algn="l">
              <a:lnSpc>
                <a:spcPct val="100000"/>
              </a:lnSpc>
              <a:buNone/>
              <a:defRPr sz="1650" b="1" i="0">
                <a:solidFill>
                  <a:srgbClr val="F4F1E8"/>
                </a:solidFill>
                <a:latin typeface="Avenir Next"/>
                <a:ea typeface="Avenir Next"/>
                <a:cs typeface="Avenir Next"/>
              </a:defRPr>
            </a:pPr>
            <a:r>
              <a:rPr sz="1650" b="1" i="0">
                <a:solidFill>
                  <a:srgbClr val="F4F1E8"/>
                </a:solidFill>
                <a:latin typeface="Avenir Next"/>
                <a:ea typeface="Avenir Next"/>
                <a:cs typeface="Avenir Next"/>
              </a:rPr>
              <a:t>PRIVACY</a:t>
            </a:r>
          </a:p>
        </p:txBody>
      </p:sp>
      <p:sp>
        <p:nvSpPr>
          <p:cNvPr id="10" name="">
            <a:extLst xmlns:a="http://schemas.openxmlformats.org/drawingml/2006/main">
              <a:ext uri="{FF2B5EF4-FFF2-40B4-BE49-F238E27FC236}">
                <a16:creationId xmlns:a16="http://schemas.microsoft.com/office/drawing/2014/main" id="{AFBFFDF1-D950-439F-BDAD-A7D5B67AB146}"/>
              </a:ext>
            </a:extLst>
          </p:cNvPr>
          <p:cNvSpPr>
            <a:spLocks xmlns:a="http://schemas.openxmlformats.org/drawingml/2006/main" noGrp="1"/>
          </p:cNvSpPr>
          <p:nvPr/>
        </p:nvSpPr>
        <p:spPr>
          <a:xfrm xmlns:a="http://schemas.openxmlformats.org/drawingml/2006/main">
            <a:off x="4457700" y="3314700"/>
            <a:ext cx="304800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C6C8F4A-74E3-4541-8E5E-A02750AC8741}"/>
              </a:ext>
            </a:extLst>
          </p:cNvPr>
          <p:cNvSpPr>
            <a:spLocks xmlns:a="http://schemas.openxmlformats.org/drawingml/2006/main" noGrp="1"/>
          </p:cNvSpPr>
          <p:nvPr/>
        </p:nvSpPr>
        <p:spPr>
          <a:xfrm xmlns:a="http://schemas.openxmlformats.org/drawingml/2006/main">
            <a:off x="4457700" y="3638550"/>
            <a:ext cx="30480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A8BAC8"/>
                </a:solidFill>
                <a:latin typeface="Avenir Next"/>
                <a:ea typeface="Avenir Next"/>
                <a:cs typeface="Avenir Next"/>
              </a:defRPr>
            </a:defPPr>
          </a:lstStyle>
          <a:p xmlns:a="http://schemas.openxmlformats.org/drawingml/2006/main">
            <a:pPr algn="l">
              <a:lnSpc>
                <a:spcPct val="105000"/>
              </a:lnSpc>
              <a:buNone/>
              <a:defRPr sz="1725" b="0" i="0">
                <a:solidFill>
                  <a:srgbClr val="A8BAC8"/>
                </a:solidFill>
                <a:latin typeface="Avenir Next"/>
                <a:ea typeface="Avenir Next"/>
                <a:cs typeface="Avenir Next"/>
              </a:defRPr>
            </a:pPr>
            <a:r>
              <a:rPr sz="1725" b="0" i="0">
                <a:solidFill>
                  <a:srgbClr val="A8BAC8"/>
                </a:solidFill>
                <a:latin typeface="Avenir Next"/>
                <a:ea typeface="Avenir Next"/>
                <a:cs typeface="Avenir Next"/>
              </a:rPr>
              <a:t>Where do customer, patient, and student data travel, and who can inspect them?</a:t>
            </a:r>
          </a:p>
        </p:txBody>
      </p:sp>
      <p:sp>
        <p:nvSpPr>
          <p:cNvPr id="12" name="">
            <a:extLst xmlns:a="http://schemas.openxmlformats.org/drawingml/2006/main">
              <a:ext uri="{FF2B5EF4-FFF2-40B4-BE49-F238E27FC236}">
                <a16:creationId xmlns:a16="http://schemas.microsoft.com/office/drawing/2014/main" id="{99B50664-0576-4F4D-B2C0-A91A0E1529D1}"/>
              </a:ext>
            </a:extLst>
          </p:cNvPr>
          <p:cNvSpPr>
            <a:spLocks xmlns:a="http://schemas.openxmlformats.org/drawingml/2006/main" noGrp="1"/>
          </p:cNvSpPr>
          <p:nvPr/>
        </p:nvSpPr>
        <p:spPr>
          <a:xfrm xmlns:a="http://schemas.openxmlformats.org/drawingml/2006/main">
            <a:off x="8191500" y="1981200"/>
            <a:ext cx="819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FFB454"/>
                </a:solidFill>
                <a:latin typeface="Avenir Next"/>
                <a:ea typeface="Avenir Next"/>
                <a:cs typeface="Avenir Next"/>
              </a:defRPr>
            </a:defPPr>
          </a:lstStyle>
          <a:p xmlns:a="http://schemas.openxmlformats.org/drawingml/2006/main">
            <a:pPr algn="l">
              <a:lnSpc>
                <a:spcPct val="100000"/>
              </a:lnSpc>
              <a:buNone/>
              <a:defRPr sz="3450" b="1" i="0">
                <a:solidFill>
                  <a:srgbClr val="FFB454"/>
                </a:solidFill>
                <a:latin typeface="Avenir Next"/>
                <a:ea typeface="Avenir Next"/>
                <a:cs typeface="Avenir Next"/>
              </a:defRPr>
            </a:pPr>
            <a:r>
              <a:rPr sz="3450" b="1" i="0">
                <a:solidFill>
                  <a:srgbClr val="FFB454"/>
                </a:solidFill>
                <a:latin typeface="Avenir Next"/>
                <a:ea typeface="Avenir Next"/>
                <a:cs typeface="Avenir Next"/>
              </a:rPr>
              <a:t>03</a:t>
            </a:r>
          </a:p>
        </p:txBody>
      </p:sp>
      <p:sp>
        <p:nvSpPr>
          <p:cNvPr id="13" name="">
            <a:extLst xmlns:a="http://schemas.openxmlformats.org/drawingml/2006/main">
              <a:ext uri="{FF2B5EF4-FFF2-40B4-BE49-F238E27FC236}">
                <a16:creationId xmlns:a16="http://schemas.microsoft.com/office/drawing/2014/main" id="{B818DAEB-B00C-4AC5-8DBF-B51C7D487E50}"/>
              </a:ext>
            </a:extLst>
          </p:cNvPr>
          <p:cNvSpPr>
            <a:spLocks xmlns:a="http://schemas.openxmlformats.org/drawingml/2006/main" noGrp="1"/>
          </p:cNvSpPr>
          <p:nvPr/>
        </p:nvSpPr>
        <p:spPr>
          <a:xfrm xmlns:a="http://schemas.openxmlformats.org/drawingml/2006/main">
            <a:off x="8191500" y="278130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i="0">
                <a:solidFill>
                  <a:srgbClr val="F4F1E8"/>
                </a:solidFill>
                <a:latin typeface="Avenir Next"/>
                <a:ea typeface="Avenir Next"/>
                <a:cs typeface="Avenir Next"/>
              </a:defRPr>
            </a:defPPr>
          </a:lstStyle>
          <a:p xmlns:a="http://schemas.openxmlformats.org/drawingml/2006/main">
            <a:pPr algn="l">
              <a:lnSpc>
                <a:spcPct val="100000"/>
              </a:lnSpc>
              <a:buNone/>
              <a:defRPr sz="1650" b="1" i="0">
                <a:solidFill>
                  <a:srgbClr val="F4F1E8"/>
                </a:solidFill>
                <a:latin typeface="Avenir Next"/>
                <a:ea typeface="Avenir Next"/>
                <a:cs typeface="Avenir Next"/>
              </a:defRPr>
            </a:pPr>
            <a:r>
              <a:rPr sz="1650" b="1" i="0">
                <a:solidFill>
                  <a:srgbClr val="F4F1E8"/>
                </a:solidFill>
                <a:latin typeface="Avenir Next"/>
                <a:ea typeface="Avenir Next"/>
                <a:cs typeface="Avenir Next"/>
              </a:rPr>
              <a:t>ENERGY</a:t>
            </a:r>
          </a:p>
        </p:txBody>
      </p:sp>
      <p:sp>
        <p:nvSpPr>
          <p:cNvPr id="14" name="">
            <a:extLst xmlns:a="http://schemas.openxmlformats.org/drawingml/2006/main">
              <a:ext uri="{FF2B5EF4-FFF2-40B4-BE49-F238E27FC236}">
                <a16:creationId xmlns:a16="http://schemas.microsoft.com/office/drawing/2014/main" id="{D1D01267-1C1D-4C29-B159-8D909AEF639A}"/>
              </a:ext>
            </a:extLst>
          </p:cNvPr>
          <p:cNvSpPr>
            <a:spLocks xmlns:a="http://schemas.openxmlformats.org/drawingml/2006/main" noGrp="1"/>
          </p:cNvSpPr>
          <p:nvPr/>
        </p:nvSpPr>
        <p:spPr>
          <a:xfrm xmlns:a="http://schemas.openxmlformats.org/drawingml/2006/main">
            <a:off x="8191500" y="3314700"/>
            <a:ext cx="304800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FFCA310-9FE2-4CA4-BEBA-3EC76441CD90}"/>
              </a:ext>
            </a:extLst>
          </p:cNvPr>
          <p:cNvSpPr>
            <a:spLocks xmlns:a="http://schemas.openxmlformats.org/drawingml/2006/main" noGrp="1"/>
          </p:cNvSpPr>
          <p:nvPr/>
        </p:nvSpPr>
        <p:spPr>
          <a:xfrm xmlns:a="http://schemas.openxmlformats.org/drawingml/2006/main">
            <a:off x="8191500" y="3638550"/>
            <a:ext cx="30480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A8BAC8"/>
                </a:solidFill>
                <a:latin typeface="Avenir Next"/>
                <a:ea typeface="Avenir Next"/>
                <a:cs typeface="Avenir Next"/>
              </a:defRPr>
            </a:defPPr>
          </a:lstStyle>
          <a:p xmlns:a="http://schemas.openxmlformats.org/drawingml/2006/main">
            <a:pPr algn="l">
              <a:lnSpc>
                <a:spcPct val="105000"/>
              </a:lnSpc>
              <a:buNone/>
              <a:defRPr sz="1725" b="0" i="0">
                <a:solidFill>
                  <a:srgbClr val="A8BAC8"/>
                </a:solidFill>
                <a:latin typeface="Avenir Next"/>
                <a:ea typeface="Avenir Next"/>
                <a:cs typeface="Avenir Next"/>
              </a:defRPr>
            </a:pPr>
            <a:r>
              <a:rPr sz="1725" b="0" i="0">
                <a:solidFill>
                  <a:srgbClr val="A8BAC8"/>
                </a:solidFill>
                <a:latin typeface="Avenir Next"/>
                <a:ea typeface="Avenir Next"/>
                <a:cs typeface="Avenir Next"/>
              </a:rPr>
              <a:t>Data-center electricity demand could roughly double by 2030.</a:t>
            </a:r>
          </a:p>
        </p:txBody>
      </p:sp>
      <p:sp>
        <p:nvSpPr>
          <p:cNvPr id="16" name="">
            <a:extLst xmlns:a="http://schemas.openxmlformats.org/drawingml/2006/main">
              <a:ext uri="{FF2B5EF4-FFF2-40B4-BE49-F238E27FC236}">
                <a16:creationId xmlns:a16="http://schemas.microsoft.com/office/drawing/2014/main" id="{528F6DB3-3380-4556-AA65-01D076D2E71E}"/>
              </a:ext>
            </a:extLst>
          </p:cNvPr>
          <p:cNvSpPr>
            <a:spLocks xmlns:a="http://schemas.openxmlformats.org/drawingml/2006/main" noGrp="1"/>
          </p:cNvSpPr>
          <p:nvPr/>
        </p:nvSpPr>
        <p:spPr>
          <a:xfrm xmlns:a="http://schemas.openxmlformats.org/drawingml/2006/main">
            <a:off x="1581150" y="5810250"/>
            <a:ext cx="904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i="0">
                <a:solidFill>
                  <a:srgbClr val="F4F1E8"/>
                </a:solidFill>
                <a:latin typeface="Avenir Next"/>
                <a:ea typeface="Avenir Next"/>
                <a:cs typeface="Avenir Next"/>
              </a:defRPr>
            </a:defPPr>
          </a:lstStyle>
          <a:p xmlns:a="http://schemas.openxmlformats.org/drawingml/2006/main">
            <a:pPr algn="ctr">
              <a:lnSpc>
                <a:spcPct val="100000"/>
              </a:lnSpc>
              <a:buNone/>
              <a:defRPr sz="2100" b="1" i="0">
                <a:solidFill>
                  <a:srgbClr val="F4F1E8"/>
                </a:solidFill>
                <a:latin typeface="Avenir Next"/>
                <a:ea typeface="Avenir Next"/>
                <a:cs typeface="Avenir Next"/>
              </a:defRPr>
            </a:pPr>
            <a:r>
              <a:rPr sz="2100" b="1" i="0">
                <a:solidFill>
                  <a:srgbClr val="F4F1E8"/>
                </a:solidFill>
                <a:latin typeface="Avenir Next"/>
                <a:ea typeface="Avenir Next"/>
                <a:cs typeface="Avenir Next"/>
              </a:rPr>
              <a:t>These are research topics, product decisions, and public responsibilities.</a:t>
            </a:r>
          </a:p>
        </p:txBody>
      </p:sp>
    </p:spTree>
    <p:extLst>
      <p:ext uri="{BB962C8B-B14F-4D97-AF65-F5344CB8AC3E}">
        <p14:creationId xmlns:p14="http://schemas.microsoft.com/office/powerpoint/2010/main" val="142664693"/>
      </p:ext>
    </p:extLst>
  </p:cSld>
</p:sld>
</file>

<file path=ppt/slides/slide1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95D3346-965D-4CDD-81AD-583720DCAC9D}"/>
              </a:ext>
            </a:extLst>
          </p:cNvPr>
          <p:cNvSpPr>
            <a:spLocks xmlns:a="http://schemas.openxmlformats.org/drawingml/2006/main" noGrp="1"/>
          </p:cNvSpPr>
          <p:nvPr/>
        </p:nvSpPr>
        <p:spPr>
          <a:xfrm xmlns:a="http://schemas.openxmlformats.org/drawingml/2006/main">
            <a:off x="685800" y="4953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1" i="0">
                <a:solidFill>
                  <a:srgbClr val="10202C"/>
                </a:solidFill>
                <a:latin typeface="Avenir Next"/>
                <a:ea typeface="Avenir Next"/>
                <a:cs typeface="Avenir Next"/>
              </a:defRPr>
            </a:defPPr>
          </a:lstStyle>
          <a:p xmlns:a="http://schemas.openxmlformats.org/drawingml/2006/main">
            <a:pPr algn="l">
              <a:lnSpc>
                <a:spcPct val="100000"/>
              </a:lnSpc>
              <a:buNone/>
              <a:defRPr sz="3375" b="1" i="0">
                <a:solidFill>
                  <a:srgbClr val="10202C"/>
                </a:solidFill>
                <a:latin typeface="Avenir Next"/>
                <a:ea typeface="Avenir Next"/>
                <a:cs typeface="Avenir Next"/>
              </a:defRPr>
            </a:pPr>
            <a:r>
              <a:rPr sz="3375" b="1" i="0">
                <a:solidFill>
                  <a:srgbClr val="10202C"/>
                </a:solidFill>
                <a:latin typeface="Avenir Next"/>
                <a:ea typeface="Avenir Next"/>
                <a:cs typeface="Avenir Next"/>
              </a:rPr>
              <a:t>Five projects you can start next week</a:t>
            </a:r>
          </a:p>
        </p:txBody>
      </p:sp>
      <p:sp>
        <p:nvSpPr>
          <p:cNvPr id="2" name="">
            <a:extLst xmlns:a="http://schemas.openxmlformats.org/drawingml/2006/main">
              <a:ext uri="{FF2B5EF4-FFF2-40B4-BE49-F238E27FC236}">
                <a16:creationId xmlns:a16="http://schemas.microsoft.com/office/drawing/2014/main" id="{D9F2B4DE-8A92-4D96-9019-673A1A5988A5}"/>
              </a:ext>
            </a:extLst>
          </p:cNvPr>
          <p:cNvSpPr>
            <a:spLocks xmlns:a="http://schemas.openxmlformats.org/drawingml/2006/main" noGrp="1"/>
          </p:cNvSpPr>
          <p:nvPr/>
        </p:nvSpPr>
        <p:spPr>
          <a:xfrm xmlns:a="http://schemas.openxmlformats.org/drawingml/2006/main">
            <a:off x="704850" y="1257300"/>
            <a:ext cx="819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536B79"/>
                </a:solidFill>
                <a:latin typeface="Avenir Next"/>
                <a:ea typeface="Avenir Next"/>
                <a:cs typeface="Avenir Next"/>
              </a:defRPr>
            </a:defPPr>
          </a:lstStyle>
          <a:p xmlns:a="http://schemas.openxmlformats.org/drawingml/2006/main">
            <a:pPr algn="l">
              <a:lnSpc>
                <a:spcPct val="100000"/>
              </a:lnSpc>
              <a:buNone/>
              <a:defRPr sz="1725" b="0" i="0">
                <a:solidFill>
                  <a:srgbClr val="536B79"/>
                </a:solidFill>
                <a:latin typeface="Avenir Next"/>
                <a:ea typeface="Avenir Next"/>
                <a:cs typeface="Avenir Next"/>
              </a:defRPr>
            </a:pPr>
            <a:r>
              <a:rPr sz="1725" b="0" i="0">
                <a:solidFill>
                  <a:srgbClr val="536B79"/>
                </a:solidFill>
                <a:latin typeface="Avenir Next"/>
                <a:ea typeface="Avenir Next"/>
                <a:cs typeface="Avenir Next"/>
              </a:rPr>
              <a:t>Each project has a real user and a measurable outcome.</a:t>
            </a:r>
          </a:p>
        </p:txBody>
      </p:sp>
      <p:sp>
        <p:nvSpPr>
          <p:cNvPr id="3" name="">
            <a:extLst xmlns:a="http://schemas.openxmlformats.org/drawingml/2006/main">
              <a:ext uri="{FF2B5EF4-FFF2-40B4-BE49-F238E27FC236}">
                <a16:creationId xmlns:a16="http://schemas.microsoft.com/office/drawing/2014/main" id="{36BF7F1C-02DA-46FB-B73D-E2059E49D9C9}"/>
              </a:ext>
            </a:extLst>
          </p:cNvPr>
          <p:cNvSpPr>
            <a:spLocks xmlns:a="http://schemas.openxmlformats.org/drawingml/2006/main" noGrp="1"/>
          </p:cNvSpPr>
          <p:nvPr/>
        </p:nvSpPr>
        <p:spPr>
          <a:xfrm xmlns:a="http://schemas.openxmlformats.org/drawingml/2006/main">
            <a:off x="742950" y="20764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i="0">
                <a:solidFill>
                  <a:srgbClr val="5B8CFF"/>
                </a:solidFill>
                <a:latin typeface="Avenir Next"/>
                <a:ea typeface="Avenir Next"/>
                <a:cs typeface="Avenir Next"/>
              </a:defRPr>
            </a:defPPr>
          </a:lstStyle>
          <a:p xmlns:a="http://schemas.openxmlformats.org/drawingml/2006/main">
            <a:pPr algn="l">
              <a:lnSpc>
                <a:spcPct val="100000"/>
              </a:lnSpc>
              <a:buNone/>
              <a:defRPr sz="2700" b="1" i="0">
                <a:solidFill>
                  <a:srgbClr val="5B8CFF"/>
                </a:solidFill>
                <a:latin typeface="Avenir Next"/>
                <a:ea typeface="Avenir Next"/>
                <a:cs typeface="Avenir Next"/>
              </a:defRPr>
            </a:pPr>
            <a:r>
              <a:rPr sz="2700" b="1" i="0">
                <a:solidFill>
                  <a:srgbClr val="5B8CFF"/>
                </a:solidFill>
                <a:latin typeface="Avenir Next"/>
                <a:ea typeface="Avenir Next"/>
                <a:cs typeface="Avenir Next"/>
              </a:rPr>
              <a:t>01</a:t>
            </a:r>
          </a:p>
        </p:txBody>
      </p:sp>
      <p:sp>
        <p:nvSpPr>
          <p:cNvPr id="4" name="">
            <a:extLst xmlns:a="http://schemas.openxmlformats.org/drawingml/2006/main">
              <a:ext uri="{FF2B5EF4-FFF2-40B4-BE49-F238E27FC236}">
                <a16:creationId xmlns:a16="http://schemas.microsoft.com/office/drawing/2014/main" id="{76966750-909D-4954-A161-2913A57B83E8}"/>
              </a:ext>
            </a:extLst>
          </p:cNvPr>
          <p:cNvSpPr>
            <a:spLocks xmlns:a="http://schemas.openxmlformats.org/drawingml/2006/main" noGrp="1"/>
          </p:cNvSpPr>
          <p:nvPr/>
        </p:nvSpPr>
        <p:spPr>
          <a:xfrm xmlns:a="http://schemas.openxmlformats.org/drawingml/2006/main">
            <a:off x="1524000" y="2095500"/>
            <a:ext cx="419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i="0">
                <a:solidFill>
                  <a:srgbClr val="10202C"/>
                </a:solidFill>
                <a:latin typeface="Avenir Next"/>
                <a:ea typeface="Avenir Next"/>
                <a:cs typeface="Avenir Next"/>
              </a:defRPr>
            </a:defPPr>
          </a:lstStyle>
          <a:p xmlns:a="http://schemas.openxmlformats.org/drawingml/2006/main">
            <a:pPr algn="l">
              <a:lnSpc>
                <a:spcPct val="100000"/>
              </a:lnSpc>
              <a:buNone/>
              <a:defRPr sz="1800" b="1" i="0">
                <a:solidFill>
                  <a:srgbClr val="10202C"/>
                </a:solidFill>
                <a:latin typeface="Avenir Next"/>
                <a:ea typeface="Avenir Next"/>
                <a:cs typeface="Avenir Next"/>
              </a:defRPr>
            </a:pPr>
            <a:r>
              <a:rPr sz="1800" b="1" i="0">
                <a:solidFill>
                  <a:srgbClr val="10202C"/>
                </a:solidFill>
                <a:latin typeface="Avenir Next"/>
                <a:ea typeface="Avenir Next"/>
                <a:cs typeface="Avenir Next"/>
              </a:rPr>
              <a:t>University exam scheduler</a:t>
            </a:r>
          </a:p>
        </p:txBody>
      </p:sp>
      <p:sp>
        <p:nvSpPr>
          <p:cNvPr id="5" name="">
            <a:extLst xmlns:a="http://schemas.openxmlformats.org/drawingml/2006/main">
              <a:ext uri="{FF2B5EF4-FFF2-40B4-BE49-F238E27FC236}">
                <a16:creationId xmlns:a16="http://schemas.microsoft.com/office/drawing/2014/main" id="{DA743237-978B-447D-BD7C-F854A05BD190}"/>
              </a:ext>
            </a:extLst>
          </p:cNvPr>
          <p:cNvSpPr>
            <a:spLocks xmlns:a="http://schemas.openxmlformats.org/drawingml/2006/main" noGrp="1"/>
          </p:cNvSpPr>
          <p:nvPr/>
        </p:nvSpPr>
        <p:spPr>
          <a:xfrm xmlns:a="http://schemas.openxmlformats.org/drawingml/2006/main">
            <a:off x="1524000" y="255270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i="0">
                <a:solidFill>
                  <a:srgbClr val="536B79"/>
                </a:solidFill>
                <a:latin typeface="Avenir Next"/>
                <a:ea typeface="Avenir Next"/>
                <a:cs typeface="Avenir Next"/>
              </a:defRPr>
            </a:defPPr>
          </a:lstStyle>
          <a:p xmlns:a="http://schemas.openxmlformats.org/drawingml/2006/main">
            <a:pPr algn="l">
              <a:lnSpc>
                <a:spcPct val="100000"/>
              </a:lnSpc>
              <a:buNone/>
              <a:defRPr sz="1425" b="0" i="0">
                <a:solidFill>
                  <a:srgbClr val="536B79"/>
                </a:solidFill>
                <a:latin typeface="Avenir Next"/>
                <a:ea typeface="Avenir Next"/>
                <a:cs typeface="Avenir Next"/>
              </a:defRPr>
            </a:pPr>
            <a:r>
              <a:rPr sz="1425" b="0" i="0">
                <a:solidFill>
                  <a:srgbClr val="536B79"/>
                </a:solidFill>
                <a:latin typeface="Avenir Next"/>
                <a:ea typeface="Avenir Next"/>
                <a:cs typeface="Avenir Next"/>
              </a:rPr>
              <a:t>Genetic algorithms or constraint solving</a:t>
            </a:r>
          </a:p>
        </p:txBody>
      </p:sp>
      <p:sp>
        <p:nvSpPr>
          <p:cNvPr id="6" name="">
            <a:extLst xmlns:a="http://schemas.openxmlformats.org/drawingml/2006/main">
              <a:ext uri="{FF2B5EF4-FFF2-40B4-BE49-F238E27FC236}">
                <a16:creationId xmlns:a16="http://schemas.microsoft.com/office/drawing/2014/main" id="{8573E314-03CA-4C43-9323-EC7D299A0FF3}"/>
              </a:ext>
            </a:extLst>
          </p:cNvPr>
          <p:cNvSpPr>
            <a:spLocks xmlns:a="http://schemas.openxmlformats.org/drawingml/2006/main" noGrp="1"/>
          </p:cNvSpPr>
          <p:nvPr/>
        </p:nvSpPr>
        <p:spPr>
          <a:xfrm xmlns:a="http://schemas.openxmlformats.org/drawingml/2006/main">
            <a:off x="6191250" y="20764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i="0">
                <a:solidFill>
                  <a:srgbClr val="5B8CFF"/>
                </a:solidFill>
                <a:latin typeface="Avenir Next"/>
                <a:ea typeface="Avenir Next"/>
                <a:cs typeface="Avenir Next"/>
              </a:defRPr>
            </a:defPPr>
          </a:lstStyle>
          <a:p xmlns:a="http://schemas.openxmlformats.org/drawingml/2006/main">
            <a:pPr algn="l">
              <a:lnSpc>
                <a:spcPct val="100000"/>
              </a:lnSpc>
              <a:buNone/>
              <a:defRPr sz="2700" b="1" i="0">
                <a:solidFill>
                  <a:srgbClr val="5B8CFF"/>
                </a:solidFill>
                <a:latin typeface="Avenir Next"/>
                <a:ea typeface="Avenir Next"/>
                <a:cs typeface="Avenir Next"/>
              </a:defRPr>
            </a:pPr>
            <a:r>
              <a:rPr sz="2700" b="1" i="0">
                <a:solidFill>
                  <a:srgbClr val="5B8CFF"/>
                </a:solidFill>
                <a:latin typeface="Avenir Next"/>
                <a:ea typeface="Avenir Next"/>
                <a:cs typeface="Avenir Next"/>
              </a:rPr>
              <a:t>02</a:t>
            </a:r>
          </a:p>
        </p:txBody>
      </p:sp>
      <p:sp>
        <p:nvSpPr>
          <p:cNvPr id="7" name="">
            <a:extLst xmlns:a="http://schemas.openxmlformats.org/drawingml/2006/main">
              <a:ext uri="{FF2B5EF4-FFF2-40B4-BE49-F238E27FC236}">
                <a16:creationId xmlns:a16="http://schemas.microsoft.com/office/drawing/2014/main" id="{E9A42CBD-CD56-4256-9E27-2C6BEF87E72F}"/>
              </a:ext>
            </a:extLst>
          </p:cNvPr>
          <p:cNvSpPr>
            <a:spLocks xmlns:a="http://schemas.openxmlformats.org/drawingml/2006/main" noGrp="1"/>
          </p:cNvSpPr>
          <p:nvPr/>
        </p:nvSpPr>
        <p:spPr>
          <a:xfrm xmlns:a="http://schemas.openxmlformats.org/drawingml/2006/main">
            <a:off x="6972300" y="2095500"/>
            <a:ext cx="419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i="0">
                <a:solidFill>
                  <a:srgbClr val="10202C"/>
                </a:solidFill>
                <a:latin typeface="Avenir Next"/>
                <a:ea typeface="Avenir Next"/>
                <a:cs typeface="Avenir Next"/>
              </a:defRPr>
            </a:defPPr>
          </a:lstStyle>
          <a:p xmlns:a="http://schemas.openxmlformats.org/drawingml/2006/main">
            <a:pPr algn="l">
              <a:lnSpc>
                <a:spcPct val="100000"/>
              </a:lnSpc>
              <a:buNone/>
              <a:defRPr sz="1800" b="1" i="0">
                <a:solidFill>
                  <a:srgbClr val="10202C"/>
                </a:solidFill>
                <a:latin typeface="Avenir Next"/>
                <a:ea typeface="Avenir Next"/>
                <a:cs typeface="Avenir Next"/>
              </a:defRPr>
            </a:pPr>
            <a:r>
              <a:rPr sz="1800" b="1" i="0">
                <a:solidFill>
                  <a:srgbClr val="10202C"/>
                </a:solidFill>
                <a:latin typeface="Avenir Next"/>
                <a:ea typeface="Avenir Next"/>
                <a:cs typeface="Avenir Next"/>
              </a:rPr>
              <a:t>Waste or bus route optimizer</a:t>
            </a:r>
          </a:p>
        </p:txBody>
      </p:sp>
      <p:sp>
        <p:nvSpPr>
          <p:cNvPr id="8" name="">
            <a:extLst xmlns:a="http://schemas.openxmlformats.org/drawingml/2006/main">
              <a:ext uri="{FF2B5EF4-FFF2-40B4-BE49-F238E27FC236}">
                <a16:creationId xmlns:a16="http://schemas.microsoft.com/office/drawing/2014/main" id="{04C13448-C813-44ED-8694-4F3CC98A2656}"/>
              </a:ext>
            </a:extLst>
          </p:cNvPr>
          <p:cNvSpPr>
            <a:spLocks xmlns:a="http://schemas.openxmlformats.org/drawingml/2006/main" noGrp="1"/>
          </p:cNvSpPr>
          <p:nvPr/>
        </p:nvSpPr>
        <p:spPr>
          <a:xfrm xmlns:a="http://schemas.openxmlformats.org/drawingml/2006/main">
            <a:off x="6972300" y="255270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i="0">
                <a:solidFill>
                  <a:srgbClr val="536B79"/>
                </a:solidFill>
                <a:latin typeface="Avenir Next"/>
                <a:ea typeface="Avenir Next"/>
                <a:cs typeface="Avenir Next"/>
              </a:defRPr>
            </a:defPPr>
          </a:lstStyle>
          <a:p xmlns:a="http://schemas.openxmlformats.org/drawingml/2006/main">
            <a:pPr algn="l">
              <a:lnSpc>
                <a:spcPct val="100000"/>
              </a:lnSpc>
              <a:buNone/>
              <a:defRPr sz="1425" b="0" i="0">
                <a:solidFill>
                  <a:srgbClr val="536B79"/>
                </a:solidFill>
                <a:latin typeface="Avenir Next"/>
                <a:ea typeface="Avenir Next"/>
                <a:cs typeface="Avenir Next"/>
              </a:defRPr>
            </a:pPr>
            <a:r>
              <a:rPr sz="1425" b="0" i="0">
                <a:solidFill>
                  <a:srgbClr val="536B79"/>
                </a:solidFill>
                <a:latin typeface="Avenir Next"/>
                <a:ea typeface="Avenir Next"/>
                <a:cs typeface="Avenir Next"/>
              </a:rPr>
              <a:t>Ant Colony Optimization</a:t>
            </a:r>
          </a:p>
        </p:txBody>
      </p:sp>
      <p:sp>
        <p:nvSpPr>
          <p:cNvPr id="9" name="">
            <a:extLst xmlns:a="http://schemas.openxmlformats.org/drawingml/2006/main">
              <a:ext uri="{FF2B5EF4-FFF2-40B4-BE49-F238E27FC236}">
                <a16:creationId xmlns:a16="http://schemas.microsoft.com/office/drawing/2014/main" id="{065A0CA5-F8C1-472C-99B0-94C124F2382F}"/>
              </a:ext>
            </a:extLst>
          </p:cNvPr>
          <p:cNvSpPr>
            <a:spLocks xmlns:a="http://schemas.openxmlformats.org/drawingml/2006/main" noGrp="1"/>
          </p:cNvSpPr>
          <p:nvPr/>
        </p:nvSpPr>
        <p:spPr>
          <a:xfrm xmlns:a="http://schemas.openxmlformats.org/drawingml/2006/main">
            <a:off x="742950" y="34290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i="0">
                <a:solidFill>
                  <a:srgbClr val="5B8CFF"/>
                </a:solidFill>
                <a:latin typeface="Avenir Next"/>
                <a:ea typeface="Avenir Next"/>
                <a:cs typeface="Avenir Next"/>
              </a:defRPr>
            </a:defPPr>
          </a:lstStyle>
          <a:p xmlns:a="http://schemas.openxmlformats.org/drawingml/2006/main">
            <a:pPr algn="l">
              <a:lnSpc>
                <a:spcPct val="100000"/>
              </a:lnSpc>
              <a:buNone/>
              <a:defRPr sz="2700" b="1" i="0">
                <a:solidFill>
                  <a:srgbClr val="5B8CFF"/>
                </a:solidFill>
                <a:latin typeface="Avenir Next"/>
                <a:ea typeface="Avenir Next"/>
                <a:cs typeface="Avenir Next"/>
              </a:defRPr>
            </a:pPr>
            <a:r>
              <a:rPr sz="2700" b="1" i="0">
                <a:solidFill>
                  <a:srgbClr val="5B8CFF"/>
                </a:solidFill>
                <a:latin typeface="Avenir Next"/>
                <a:ea typeface="Avenir Next"/>
                <a:cs typeface="Avenir Next"/>
              </a:rPr>
              <a:t>03</a:t>
            </a:r>
          </a:p>
        </p:txBody>
      </p:sp>
      <p:sp>
        <p:nvSpPr>
          <p:cNvPr id="10" name="">
            <a:extLst xmlns:a="http://schemas.openxmlformats.org/drawingml/2006/main">
              <a:ext uri="{FF2B5EF4-FFF2-40B4-BE49-F238E27FC236}">
                <a16:creationId xmlns:a16="http://schemas.microsoft.com/office/drawing/2014/main" id="{5B6D1208-F69D-447A-B005-8AC5D76B572B}"/>
              </a:ext>
            </a:extLst>
          </p:cNvPr>
          <p:cNvSpPr>
            <a:spLocks xmlns:a="http://schemas.openxmlformats.org/drawingml/2006/main" noGrp="1"/>
          </p:cNvSpPr>
          <p:nvPr/>
        </p:nvSpPr>
        <p:spPr>
          <a:xfrm xmlns:a="http://schemas.openxmlformats.org/drawingml/2006/main">
            <a:off x="1524000" y="3448050"/>
            <a:ext cx="419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i="0">
                <a:solidFill>
                  <a:srgbClr val="10202C"/>
                </a:solidFill>
                <a:latin typeface="Avenir Next"/>
                <a:ea typeface="Avenir Next"/>
                <a:cs typeface="Avenir Next"/>
              </a:defRPr>
            </a:defPPr>
          </a:lstStyle>
          <a:p xmlns:a="http://schemas.openxmlformats.org/drawingml/2006/main">
            <a:pPr algn="l">
              <a:lnSpc>
                <a:spcPct val="100000"/>
              </a:lnSpc>
              <a:buNone/>
              <a:defRPr sz="1800" b="1" i="0">
                <a:solidFill>
                  <a:srgbClr val="10202C"/>
                </a:solidFill>
                <a:latin typeface="Avenir Next"/>
                <a:ea typeface="Avenir Next"/>
                <a:cs typeface="Avenir Next"/>
              </a:defRPr>
            </a:pPr>
            <a:r>
              <a:rPr sz="1800" b="1" i="0">
                <a:solidFill>
                  <a:srgbClr val="10202C"/>
                </a:solidFill>
                <a:latin typeface="Avenir Next"/>
                <a:ea typeface="Avenir Next"/>
                <a:cs typeface="Avenir Next"/>
              </a:rPr>
              <a:t>Smart traffic-signal simulation</a:t>
            </a:r>
          </a:p>
        </p:txBody>
      </p:sp>
      <p:sp>
        <p:nvSpPr>
          <p:cNvPr id="11" name="">
            <a:extLst xmlns:a="http://schemas.openxmlformats.org/drawingml/2006/main">
              <a:ext uri="{FF2B5EF4-FFF2-40B4-BE49-F238E27FC236}">
                <a16:creationId xmlns:a16="http://schemas.microsoft.com/office/drawing/2014/main" id="{8A73D0E1-2391-4AA6-81D8-18E067C677F9}"/>
              </a:ext>
            </a:extLst>
          </p:cNvPr>
          <p:cNvSpPr>
            <a:spLocks xmlns:a="http://schemas.openxmlformats.org/drawingml/2006/main" noGrp="1"/>
          </p:cNvSpPr>
          <p:nvPr/>
        </p:nvSpPr>
        <p:spPr>
          <a:xfrm xmlns:a="http://schemas.openxmlformats.org/drawingml/2006/main">
            <a:off x="1524000" y="390525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i="0">
                <a:solidFill>
                  <a:srgbClr val="536B79"/>
                </a:solidFill>
                <a:latin typeface="Avenir Next"/>
                <a:ea typeface="Avenir Next"/>
                <a:cs typeface="Avenir Next"/>
              </a:defRPr>
            </a:defPPr>
          </a:lstStyle>
          <a:p xmlns:a="http://schemas.openxmlformats.org/drawingml/2006/main">
            <a:pPr algn="l">
              <a:lnSpc>
                <a:spcPct val="100000"/>
              </a:lnSpc>
              <a:buNone/>
              <a:defRPr sz="1425" b="0" i="0">
                <a:solidFill>
                  <a:srgbClr val="536B79"/>
                </a:solidFill>
                <a:latin typeface="Avenir Next"/>
                <a:ea typeface="Avenir Next"/>
                <a:cs typeface="Avenir Next"/>
              </a:defRPr>
            </a:pPr>
            <a:r>
              <a:rPr sz="1425" b="0" i="0">
                <a:solidFill>
                  <a:srgbClr val="536B79"/>
                </a:solidFill>
                <a:latin typeface="Avenir Next"/>
                <a:ea typeface="Avenir Next"/>
                <a:cs typeface="Avenir Next"/>
              </a:rPr>
              <a:t>SUMO and one congested intersection</a:t>
            </a:r>
          </a:p>
        </p:txBody>
      </p:sp>
      <p:sp>
        <p:nvSpPr>
          <p:cNvPr id="12" name="">
            <a:extLst xmlns:a="http://schemas.openxmlformats.org/drawingml/2006/main">
              <a:ext uri="{FF2B5EF4-FFF2-40B4-BE49-F238E27FC236}">
                <a16:creationId xmlns:a16="http://schemas.microsoft.com/office/drawing/2014/main" id="{9D3F3A85-B4EA-4F24-A3C4-062294E0B055}"/>
              </a:ext>
            </a:extLst>
          </p:cNvPr>
          <p:cNvSpPr>
            <a:spLocks xmlns:a="http://schemas.openxmlformats.org/drawingml/2006/main" noGrp="1"/>
          </p:cNvSpPr>
          <p:nvPr/>
        </p:nvSpPr>
        <p:spPr>
          <a:xfrm xmlns:a="http://schemas.openxmlformats.org/drawingml/2006/main">
            <a:off x="6191250" y="34290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i="0">
                <a:solidFill>
                  <a:srgbClr val="5B8CFF"/>
                </a:solidFill>
                <a:latin typeface="Avenir Next"/>
                <a:ea typeface="Avenir Next"/>
                <a:cs typeface="Avenir Next"/>
              </a:defRPr>
            </a:defPPr>
          </a:lstStyle>
          <a:p xmlns:a="http://schemas.openxmlformats.org/drawingml/2006/main">
            <a:pPr algn="l">
              <a:lnSpc>
                <a:spcPct val="100000"/>
              </a:lnSpc>
              <a:buNone/>
              <a:defRPr sz="2700" b="1" i="0">
                <a:solidFill>
                  <a:srgbClr val="5B8CFF"/>
                </a:solidFill>
                <a:latin typeface="Avenir Next"/>
                <a:ea typeface="Avenir Next"/>
                <a:cs typeface="Avenir Next"/>
              </a:defRPr>
            </a:pPr>
            <a:r>
              <a:rPr sz="2700" b="1" i="0">
                <a:solidFill>
                  <a:srgbClr val="5B8CFF"/>
                </a:solidFill>
                <a:latin typeface="Avenir Next"/>
                <a:ea typeface="Avenir Next"/>
                <a:cs typeface="Avenir Next"/>
              </a:rPr>
              <a:t>04</a:t>
            </a:r>
          </a:p>
        </p:txBody>
      </p:sp>
      <p:sp>
        <p:nvSpPr>
          <p:cNvPr id="13" name="">
            <a:extLst xmlns:a="http://schemas.openxmlformats.org/drawingml/2006/main">
              <a:ext uri="{FF2B5EF4-FFF2-40B4-BE49-F238E27FC236}">
                <a16:creationId xmlns:a16="http://schemas.microsoft.com/office/drawing/2014/main" id="{F35EA746-C677-4BA1-8218-A92784A828F3}"/>
              </a:ext>
            </a:extLst>
          </p:cNvPr>
          <p:cNvSpPr>
            <a:spLocks xmlns:a="http://schemas.openxmlformats.org/drawingml/2006/main" noGrp="1"/>
          </p:cNvSpPr>
          <p:nvPr/>
        </p:nvSpPr>
        <p:spPr>
          <a:xfrm xmlns:a="http://schemas.openxmlformats.org/drawingml/2006/main">
            <a:off x="6972300" y="3448050"/>
            <a:ext cx="419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i="0">
                <a:solidFill>
                  <a:srgbClr val="10202C"/>
                </a:solidFill>
                <a:latin typeface="Avenir Next"/>
                <a:ea typeface="Avenir Next"/>
                <a:cs typeface="Avenir Next"/>
              </a:defRPr>
            </a:defPPr>
          </a:lstStyle>
          <a:p xmlns:a="http://schemas.openxmlformats.org/drawingml/2006/main">
            <a:pPr algn="l">
              <a:lnSpc>
                <a:spcPct val="100000"/>
              </a:lnSpc>
              <a:buNone/>
              <a:defRPr sz="1800" b="1" i="0">
                <a:solidFill>
                  <a:srgbClr val="10202C"/>
                </a:solidFill>
                <a:latin typeface="Avenir Next"/>
                <a:ea typeface="Avenir Next"/>
                <a:cs typeface="Avenir Next"/>
              </a:defRPr>
            </a:pPr>
            <a:r>
              <a:rPr sz="1800" b="1" i="0">
                <a:solidFill>
                  <a:srgbClr val="10202C"/>
                </a:solidFill>
                <a:latin typeface="Avenir Next"/>
                <a:ea typeface="Avenir Next"/>
                <a:cs typeface="Avenir Next"/>
              </a:rPr>
              <a:t>Leaderless robot-swarm simulation</a:t>
            </a:r>
          </a:p>
        </p:txBody>
      </p:sp>
      <p:sp>
        <p:nvSpPr>
          <p:cNvPr id="14" name="">
            <a:extLst xmlns:a="http://schemas.openxmlformats.org/drawingml/2006/main">
              <a:ext uri="{FF2B5EF4-FFF2-40B4-BE49-F238E27FC236}">
                <a16:creationId xmlns:a16="http://schemas.microsoft.com/office/drawing/2014/main" id="{BBE7BEFA-29D8-4F94-9903-BDD4876962E6}"/>
              </a:ext>
            </a:extLst>
          </p:cNvPr>
          <p:cNvSpPr>
            <a:spLocks xmlns:a="http://schemas.openxmlformats.org/drawingml/2006/main" noGrp="1"/>
          </p:cNvSpPr>
          <p:nvPr/>
        </p:nvSpPr>
        <p:spPr>
          <a:xfrm xmlns:a="http://schemas.openxmlformats.org/drawingml/2006/main">
            <a:off x="6972300" y="390525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i="0">
                <a:solidFill>
                  <a:srgbClr val="536B79"/>
                </a:solidFill>
                <a:latin typeface="Avenir Next"/>
                <a:ea typeface="Avenir Next"/>
                <a:cs typeface="Avenir Next"/>
              </a:defRPr>
            </a:defPPr>
          </a:lstStyle>
          <a:p xmlns:a="http://schemas.openxmlformats.org/drawingml/2006/main">
            <a:pPr algn="l">
              <a:lnSpc>
                <a:spcPct val="100000"/>
              </a:lnSpc>
              <a:buNone/>
              <a:defRPr sz="1425" b="0" i="0">
                <a:solidFill>
                  <a:srgbClr val="536B79"/>
                </a:solidFill>
                <a:latin typeface="Avenir Next"/>
                <a:ea typeface="Avenir Next"/>
                <a:cs typeface="Avenir Next"/>
              </a:defRPr>
            </a:pPr>
            <a:r>
              <a:rPr sz="1425" b="0" i="0">
                <a:solidFill>
                  <a:srgbClr val="536B79"/>
                </a:solidFill>
                <a:latin typeface="Avenir Next"/>
                <a:ea typeface="Avenir Next"/>
                <a:cs typeface="Avenir Next"/>
              </a:rPr>
              <a:t>Local rules and emergent behavior</a:t>
            </a:r>
          </a:p>
        </p:txBody>
      </p:sp>
      <p:sp>
        <p:nvSpPr>
          <p:cNvPr id="15" name="">
            <a:extLst xmlns:a="http://schemas.openxmlformats.org/drawingml/2006/main">
              <a:ext uri="{FF2B5EF4-FFF2-40B4-BE49-F238E27FC236}">
                <a16:creationId xmlns:a16="http://schemas.microsoft.com/office/drawing/2014/main" id="{DD832C9C-0FA7-4C6A-A79B-C154FAAC852F}"/>
              </a:ext>
            </a:extLst>
          </p:cNvPr>
          <p:cNvSpPr>
            <a:spLocks xmlns:a="http://schemas.openxmlformats.org/drawingml/2006/main" noGrp="1"/>
          </p:cNvSpPr>
          <p:nvPr/>
        </p:nvSpPr>
        <p:spPr>
          <a:xfrm xmlns:a="http://schemas.openxmlformats.org/drawingml/2006/main">
            <a:off x="742950" y="47815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i="0">
                <a:solidFill>
                  <a:srgbClr val="FF7A70"/>
                </a:solidFill>
                <a:latin typeface="Avenir Next"/>
                <a:ea typeface="Avenir Next"/>
                <a:cs typeface="Avenir Next"/>
              </a:defRPr>
            </a:defPPr>
          </a:lstStyle>
          <a:p xmlns:a="http://schemas.openxmlformats.org/drawingml/2006/main">
            <a:pPr algn="l">
              <a:lnSpc>
                <a:spcPct val="100000"/>
              </a:lnSpc>
              <a:buNone/>
              <a:defRPr sz="2700" b="1" i="0">
                <a:solidFill>
                  <a:srgbClr val="FF7A70"/>
                </a:solidFill>
                <a:latin typeface="Avenir Next"/>
                <a:ea typeface="Avenir Next"/>
                <a:cs typeface="Avenir Next"/>
              </a:defRPr>
            </a:pPr>
            <a:r>
              <a:rPr sz="2700" b="1" i="0">
                <a:solidFill>
                  <a:srgbClr val="FF7A70"/>
                </a:solidFill>
                <a:latin typeface="Avenir Next"/>
                <a:ea typeface="Avenir Next"/>
                <a:cs typeface="Avenir Next"/>
              </a:rPr>
              <a:t>05</a:t>
            </a:r>
          </a:p>
        </p:txBody>
      </p:sp>
      <p:sp>
        <p:nvSpPr>
          <p:cNvPr id="16" name="">
            <a:extLst xmlns:a="http://schemas.openxmlformats.org/drawingml/2006/main">
              <a:ext uri="{FF2B5EF4-FFF2-40B4-BE49-F238E27FC236}">
                <a16:creationId xmlns:a16="http://schemas.microsoft.com/office/drawing/2014/main" id="{FEDD3916-2527-43FB-96D3-F1207E0A99B7}"/>
              </a:ext>
            </a:extLst>
          </p:cNvPr>
          <p:cNvSpPr>
            <a:spLocks xmlns:a="http://schemas.openxmlformats.org/drawingml/2006/main" noGrp="1"/>
          </p:cNvSpPr>
          <p:nvPr/>
        </p:nvSpPr>
        <p:spPr>
          <a:xfrm xmlns:a="http://schemas.openxmlformats.org/drawingml/2006/main">
            <a:off x="1524000" y="4800600"/>
            <a:ext cx="419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i="0">
                <a:solidFill>
                  <a:srgbClr val="10202C"/>
                </a:solidFill>
                <a:latin typeface="Avenir Next"/>
                <a:ea typeface="Avenir Next"/>
                <a:cs typeface="Avenir Next"/>
              </a:defRPr>
            </a:defPPr>
          </a:lstStyle>
          <a:p xmlns:a="http://schemas.openxmlformats.org/drawingml/2006/main">
            <a:pPr algn="l">
              <a:lnSpc>
                <a:spcPct val="100000"/>
              </a:lnSpc>
              <a:buNone/>
              <a:defRPr sz="1800" b="1" i="0">
                <a:solidFill>
                  <a:srgbClr val="10202C"/>
                </a:solidFill>
                <a:latin typeface="Avenir Next"/>
                <a:ea typeface="Avenir Next"/>
                <a:cs typeface="Avenir Next"/>
              </a:defRPr>
            </a:pPr>
            <a:r>
              <a:rPr sz="1800" b="1" i="0">
                <a:solidFill>
                  <a:srgbClr val="10202C"/>
                </a:solidFill>
                <a:latin typeface="Avenir Next"/>
                <a:ea typeface="Avenir Next"/>
                <a:cs typeface="Avenir Next"/>
              </a:rPr>
              <a:t>AI question generator</a:t>
            </a:r>
          </a:p>
        </p:txBody>
      </p:sp>
      <p:sp>
        <p:nvSpPr>
          <p:cNvPr id="17" name="">
            <a:extLst xmlns:a="http://schemas.openxmlformats.org/drawingml/2006/main">
              <a:ext uri="{FF2B5EF4-FFF2-40B4-BE49-F238E27FC236}">
                <a16:creationId xmlns:a16="http://schemas.microsoft.com/office/drawing/2014/main" id="{C62D036F-3BDB-4330-9791-824A100D88BF}"/>
              </a:ext>
            </a:extLst>
          </p:cNvPr>
          <p:cNvSpPr>
            <a:spLocks xmlns:a="http://schemas.openxmlformats.org/drawingml/2006/main" noGrp="1"/>
          </p:cNvSpPr>
          <p:nvPr/>
        </p:nvSpPr>
        <p:spPr>
          <a:xfrm xmlns:a="http://schemas.openxmlformats.org/drawingml/2006/main">
            <a:off x="1524000" y="525780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i="0">
                <a:solidFill>
                  <a:srgbClr val="536B79"/>
                </a:solidFill>
                <a:latin typeface="Avenir Next"/>
                <a:ea typeface="Avenir Next"/>
                <a:cs typeface="Avenir Next"/>
              </a:defRPr>
            </a:defPPr>
          </a:lstStyle>
          <a:p xmlns:a="http://schemas.openxmlformats.org/drawingml/2006/main">
            <a:pPr algn="l">
              <a:lnSpc>
                <a:spcPct val="100000"/>
              </a:lnSpc>
              <a:buNone/>
              <a:defRPr sz="1425" b="0" i="0">
                <a:solidFill>
                  <a:srgbClr val="536B79"/>
                </a:solidFill>
                <a:latin typeface="Avenir Next"/>
                <a:ea typeface="Avenir Next"/>
                <a:cs typeface="Avenir Next"/>
              </a:defRPr>
            </a:pPr>
            <a:r>
              <a:rPr sz="1425" b="0" i="0">
                <a:solidFill>
                  <a:srgbClr val="536B79"/>
                </a:solidFill>
                <a:latin typeface="Avenir Next"/>
                <a:ea typeface="Avenir Next"/>
                <a:cs typeface="Avenir Next"/>
              </a:rPr>
              <a:t>Teacher review and feedback loop</a:t>
            </a:r>
          </a:p>
        </p:txBody>
      </p:sp>
      <p:sp>
        <p:nvSpPr>
          <p:cNvPr id="18" name="">
            <a:extLst xmlns:a="http://schemas.openxmlformats.org/drawingml/2006/main">
              <a:ext uri="{FF2B5EF4-FFF2-40B4-BE49-F238E27FC236}">
                <a16:creationId xmlns:a16="http://schemas.microsoft.com/office/drawing/2014/main" id="{1D5B2988-B432-4B8E-AE70-BD1819FE710A}"/>
              </a:ext>
            </a:extLst>
          </p:cNvPr>
          <p:cNvSpPr>
            <a:spLocks xmlns:a="http://schemas.openxmlformats.org/drawingml/2006/main" noGrp="1"/>
          </p:cNvSpPr>
          <p:nvPr/>
        </p:nvSpPr>
        <p:spPr>
          <a:xfrm xmlns:a="http://schemas.openxmlformats.org/drawingml/2006/main">
            <a:off x="6191250" y="49149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i="0">
                <a:solidFill>
                  <a:srgbClr val="FF7A70"/>
                </a:solidFill>
                <a:latin typeface="Avenir Next"/>
                <a:ea typeface="Avenir Next"/>
                <a:cs typeface="Avenir Next"/>
              </a:defRPr>
            </a:defPPr>
          </a:lstStyle>
          <a:p xmlns:a="http://schemas.openxmlformats.org/drawingml/2006/main">
            <a:pPr algn="l">
              <a:lnSpc>
                <a:spcPct val="100000"/>
              </a:lnSpc>
              <a:buNone/>
              <a:defRPr sz="1350" b="1" i="0">
                <a:solidFill>
                  <a:srgbClr val="FF7A70"/>
                </a:solidFill>
                <a:latin typeface="Avenir Next"/>
                <a:ea typeface="Avenir Next"/>
                <a:cs typeface="Avenir Next"/>
              </a:defRPr>
            </a:pPr>
            <a:r>
              <a:rPr sz="1350" b="1" i="0">
                <a:solidFill>
                  <a:srgbClr val="FF7A70"/>
                </a:solidFill>
                <a:latin typeface="Avenir Next"/>
                <a:ea typeface="Avenir Next"/>
                <a:cs typeface="Avenir Next"/>
              </a:rPr>
              <a:t>Invitation</a:t>
            </a:r>
          </a:p>
        </p:txBody>
      </p:sp>
      <p:sp>
        <p:nvSpPr>
          <p:cNvPr id="19" name="">
            <a:extLst xmlns:a="http://schemas.openxmlformats.org/drawingml/2006/main">
              <a:ext uri="{FF2B5EF4-FFF2-40B4-BE49-F238E27FC236}">
                <a16:creationId xmlns:a16="http://schemas.microsoft.com/office/drawing/2014/main" id="{76594A07-1BF8-48AD-8095-381A91E96477}"/>
              </a:ext>
            </a:extLst>
          </p:cNvPr>
          <p:cNvSpPr>
            <a:spLocks xmlns:a="http://schemas.openxmlformats.org/drawingml/2006/main" noGrp="1"/>
          </p:cNvSpPr>
          <p:nvPr/>
        </p:nvSpPr>
        <p:spPr>
          <a:xfrm xmlns:a="http://schemas.openxmlformats.org/drawingml/2006/main">
            <a:off x="6191250" y="5314950"/>
            <a:ext cx="4762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i="0">
                <a:solidFill>
                  <a:srgbClr val="10202C"/>
                </a:solidFill>
                <a:latin typeface="Avenir Next"/>
                <a:ea typeface="Avenir Next"/>
                <a:cs typeface="Avenir Next"/>
              </a:defRPr>
            </a:defPPr>
          </a:lstStyle>
          <a:p xmlns:a="http://schemas.openxmlformats.org/drawingml/2006/main">
            <a:pPr algn="l">
              <a:lnSpc>
                <a:spcPct val="100000"/>
              </a:lnSpc>
              <a:buNone/>
              <a:defRPr sz="1650" b="1" i="0">
                <a:solidFill>
                  <a:srgbClr val="10202C"/>
                </a:solidFill>
                <a:latin typeface="Avenir Next"/>
                <a:ea typeface="Avenir Next"/>
                <a:cs typeface="Avenir Next"/>
              </a:defRPr>
            </a:pPr>
            <a:r>
              <a:rPr sz="1650" b="1" i="0">
                <a:solidFill>
                  <a:srgbClr val="10202C"/>
                </a:solidFill>
                <a:latin typeface="Avenir Next"/>
                <a:ea typeface="Avenir Next"/>
                <a:cs typeface="Avenir Next"/>
              </a:rPr>
              <a:t>Universities, companies, and institutions can contribute real problems, data, and mentors.</a:t>
            </a:r>
          </a:p>
        </p:txBody>
      </p:sp>
    </p:spTree>
    <p:extLst>
      <p:ext uri="{BB962C8B-B14F-4D97-AF65-F5344CB8AC3E}">
        <p14:creationId xmlns:p14="http://schemas.microsoft.com/office/powerpoint/2010/main" val="2147080438"/>
      </p:ext>
    </p:extLst>
  </p:cSld>
</p:sld>
</file>

<file path=ppt/slides/slide20.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A8AD0F3-B1C8-45A1-B53A-E7EF98CED1A8}"/>
              </a:ext>
            </a:extLst>
          </p:cNvPr>
          <p:cNvSpPr>
            <a:spLocks xmlns:a="http://schemas.openxmlformats.org/drawingml/2006/main" noGrp="1"/>
          </p:cNvSpPr>
          <p:nvPr/>
        </p:nvSpPr>
        <p:spPr>
          <a:xfrm xmlns:a="http://schemas.openxmlformats.org/drawingml/2006/main">
            <a:off x="685800" y="5143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i="0">
                <a:solidFill>
                  <a:srgbClr val="F4F1E8"/>
                </a:solidFill>
                <a:latin typeface="Avenir Next"/>
                <a:ea typeface="Avenir Next"/>
                <a:cs typeface="Avenir Next"/>
              </a:defRPr>
            </a:defPPr>
          </a:lstStyle>
          <a:p xmlns:a="http://schemas.openxmlformats.org/drawingml/2006/main">
            <a:pPr algn="l">
              <a:lnSpc>
                <a:spcPct val="100000"/>
              </a:lnSpc>
              <a:buNone/>
              <a:defRPr sz="3300" b="1" i="0">
                <a:solidFill>
                  <a:srgbClr val="F4F1E8"/>
                </a:solidFill>
                <a:latin typeface="Avenir Next"/>
                <a:ea typeface="Avenir Next"/>
                <a:cs typeface="Avenir Next"/>
              </a:defRPr>
            </a:pPr>
            <a:r>
              <a:rPr sz="3300" b="1" i="0">
                <a:solidFill>
                  <a:srgbClr val="F4F1E8"/>
                </a:solidFill>
                <a:latin typeface="Avenir Next"/>
                <a:ea typeface="Avenir Next"/>
                <a:cs typeface="Avenir Next"/>
              </a:rPr>
              <a:t>Three lessons to carry forward</a:t>
            </a:r>
          </a:p>
        </p:txBody>
      </p:sp>
      <p:sp>
        <p:nvSpPr>
          <p:cNvPr id="2" name="">
            <a:extLst xmlns:a="http://schemas.openxmlformats.org/drawingml/2006/main">
              <a:ext uri="{FF2B5EF4-FFF2-40B4-BE49-F238E27FC236}">
                <a16:creationId xmlns:a16="http://schemas.microsoft.com/office/drawing/2014/main" id="{3AB275E2-2AFF-471E-81A6-2CD30BB45152}"/>
              </a:ext>
            </a:extLst>
          </p:cNvPr>
          <p:cNvSpPr>
            <a:spLocks xmlns:a="http://schemas.openxmlformats.org/drawingml/2006/main" noGrp="1"/>
          </p:cNvSpPr>
          <p:nvPr/>
        </p:nvSpPr>
        <p:spPr>
          <a:xfrm xmlns:a="http://schemas.openxmlformats.org/drawingml/2006/main">
            <a:off x="685800" y="1257300"/>
            <a:ext cx="857250" cy="38100"/>
          </a:xfrm>
          <a:prstGeom xmlns:a="http://schemas.openxmlformats.org/drawingml/2006/main" prst="rect">
            <a:avLst/>
          </a:prstGeom>
          <a:solidFill xmlns:a="http://schemas.openxmlformats.org/drawingml/2006/main">
            <a:srgbClr val="55D6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D67BFE2-CA2B-4EF5-93DB-2B676FF80CFB}"/>
              </a:ext>
            </a:extLst>
          </p:cNvPr>
          <p:cNvSpPr>
            <a:spLocks xmlns:a="http://schemas.openxmlformats.org/drawingml/2006/main" noGrp="1"/>
          </p:cNvSpPr>
          <p:nvPr/>
        </p:nvSpPr>
        <p:spPr>
          <a:xfrm xmlns:a="http://schemas.openxmlformats.org/drawingml/2006/main">
            <a:off x="819150" y="1866900"/>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i="0">
                <a:solidFill>
                  <a:srgbClr val="55D6D2"/>
                </a:solidFill>
                <a:latin typeface="Avenir Next"/>
                <a:ea typeface="Avenir Next"/>
                <a:cs typeface="Avenir Next"/>
              </a:defRPr>
            </a:defPPr>
          </a:lstStyle>
          <a:p xmlns:a="http://schemas.openxmlformats.org/drawingml/2006/main">
            <a:pPr algn="l">
              <a:lnSpc>
                <a:spcPct val="100000"/>
              </a:lnSpc>
              <a:buNone/>
              <a:defRPr sz="3600" b="1" i="0">
                <a:solidFill>
                  <a:srgbClr val="55D6D2"/>
                </a:solidFill>
                <a:latin typeface="Avenir Next"/>
                <a:ea typeface="Avenir Next"/>
                <a:cs typeface="Avenir Next"/>
              </a:defRPr>
            </a:pPr>
            <a:r>
              <a:rPr sz="3600" b="1" i="0">
                <a:solidFill>
                  <a:srgbClr val="55D6D2"/>
                </a:solidFill>
                <a:latin typeface="Avenir Next"/>
                <a:ea typeface="Avenir Next"/>
                <a:cs typeface="Avenir Next"/>
              </a:rPr>
              <a:t>1</a:t>
            </a:r>
          </a:p>
        </p:txBody>
      </p:sp>
      <p:sp>
        <p:nvSpPr>
          <p:cNvPr id="4" name="">
            <a:extLst xmlns:a="http://schemas.openxmlformats.org/drawingml/2006/main">
              <a:ext uri="{FF2B5EF4-FFF2-40B4-BE49-F238E27FC236}">
                <a16:creationId xmlns:a16="http://schemas.microsoft.com/office/drawing/2014/main" id="{78CA5185-5245-4E01-A75D-E041DAA06280}"/>
              </a:ext>
            </a:extLst>
          </p:cNvPr>
          <p:cNvSpPr>
            <a:spLocks xmlns:a="http://schemas.openxmlformats.org/drawingml/2006/main" noGrp="1"/>
          </p:cNvSpPr>
          <p:nvPr/>
        </p:nvSpPr>
        <p:spPr>
          <a:xfrm xmlns:a="http://schemas.openxmlformats.org/drawingml/2006/main">
            <a:off x="1714500" y="190500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i="0">
                <a:solidFill>
                  <a:srgbClr val="F4F1E8"/>
                </a:solidFill>
                <a:latin typeface="Avenir Next"/>
                <a:ea typeface="Avenir Next"/>
                <a:cs typeface="Avenir Next"/>
              </a:defRPr>
            </a:defPPr>
          </a:lstStyle>
          <a:p xmlns:a="http://schemas.openxmlformats.org/drawingml/2006/main">
            <a:pPr algn="l">
              <a:lnSpc>
                <a:spcPct val="100000"/>
              </a:lnSpc>
              <a:buNone/>
              <a:defRPr sz="2250" b="1" i="0">
                <a:solidFill>
                  <a:srgbClr val="F4F1E8"/>
                </a:solidFill>
                <a:latin typeface="Avenir Next"/>
                <a:ea typeface="Avenir Next"/>
                <a:cs typeface="Avenir Next"/>
              </a:defRPr>
            </a:pPr>
            <a:r>
              <a:rPr sz="2250" b="1" i="0">
                <a:solidFill>
                  <a:srgbClr val="F4F1E8"/>
                </a:solidFill>
                <a:latin typeface="Avenir Next"/>
                <a:ea typeface="Avenir Next"/>
                <a:cs typeface="Avenir Next"/>
              </a:rPr>
              <a:t>Understand the process</a:t>
            </a:r>
          </a:p>
        </p:txBody>
      </p:sp>
      <p:sp>
        <p:nvSpPr>
          <p:cNvPr id="5" name="">
            <a:extLst xmlns:a="http://schemas.openxmlformats.org/drawingml/2006/main">
              <a:ext uri="{FF2B5EF4-FFF2-40B4-BE49-F238E27FC236}">
                <a16:creationId xmlns:a16="http://schemas.microsoft.com/office/drawing/2014/main" id="{C0C90B53-9A44-46A4-BF52-175A376217F3}"/>
              </a:ext>
            </a:extLst>
          </p:cNvPr>
          <p:cNvSpPr>
            <a:spLocks xmlns:a="http://schemas.openxmlformats.org/drawingml/2006/main" noGrp="1"/>
          </p:cNvSpPr>
          <p:nvPr/>
        </p:nvSpPr>
        <p:spPr>
          <a:xfrm xmlns:a="http://schemas.openxmlformats.org/drawingml/2006/main">
            <a:off x="6191250" y="1933575"/>
            <a:ext cx="4857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A8BAC8"/>
                </a:solidFill>
                <a:latin typeface="Avenir Next"/>
                <a:ea typeface="Avenir Next"/>
                <a:cs typeface="Avenir Next"/>
              </a:defRPr>
            </a:defPPr>
          </a:lstStyle>
          <a:p xmlns:a="http://schemas.openxmlformats.org/drawingml/2006/main">
            <a:pPr algn="l">
              <a:lnSpc>
                <a:spcPct val="100000"/>
              </a:lnSpc>
              <a:buNone/>
              <a:defRPr sz="1725" b="0" i="0">
                <a:solidFill>
                  <a:srgbClr val="A8BAC8"/>
                </a:solidFill>
                <a:latin typeface="Avenir Next"/>
                <a:ea typeface="Avenir Next"/>
                <a:cs typeface="Avenir Next"/>
              </a:defRPr>
            </a:pPr>
            <a:r>
              <a:rPr sz="1725" b="0" i="0">
                <a:solidFill>
                  <a:srgbClr val="A8BAC8"/>
                </a:solidFill>
                <a:latin typeface="Avenir Next"/>
                <a:ea typeface="Avenir Next"/>
                <a:cs typeface="Avenir Next"/>
              </a:rPr>
              <a:t>Automation amplifies the system it receives.</a:t>
            </a:r>
          </a:p>
        </p:txBody>
      </p:sp>
      <p:sp>
        <p:nvSpPr>
          <p:cNvPr id="6" name="">
            <a:extLst xmlns:a="http://schemas.openxmlformats.org/drawingml/2006/main">
              <a:ext uri="{FF2B5EF4-FFF2-40B4-BE49-F238E27FC236}">
                <a16:creationId xmlns:a16="http://schemas.microsoft.com/office/drawing/2014/main" id="{0337E248-ED66-4956-B9C9-54EE5817B905}"/>
              </a:ext>
            </a:extLst>
          </p:cNvPr>
          <p:cNvSpPr>
            <a:spLocks xmlns:a="http://schemas.openxmlformats.org/drawingml/2006/main" noGrp="1"/>
          </p:cNvSpPr>
          <p:nvPr/>
        </p:nvSpPr>
        <p:spPr>
          <a:xfrm xmlns:a="http://schemas.openxmlformats.org/drawingml/2006/main">
            <a:off x="1714500" y="2743200"/>
            <a:ext cx="933450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5DB865C-3457-4360-A552-37837AC7CC7D}"/>
              </a:ext>
            </a:extLst>
          </p:cNvPr>
          <p:cNvSpPr>
            <a:spLocks xmlns:a="http://schemas.openxmlformats.org/drawingml/2006/main" noGrp="1"/>
          </p:cNvSpPr>
          <p:nvPr/>
        </p:nvSpPr>
        <p:spPr>
          <a:xfrm xmlns:a="http://schemas.openxmlformats.org/drawingml/2006/main">
            <a:off x="819150" y="3067050"/>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i="0">
                <a:solidFill>
                  <a:srgbClr val="FFB454"/>
                </a:solidFill>
                <a:latin typeface="Avenir Next"/>
                <a:ea typeface="Avenir Next"/>
                <a:cs typeface="Avenir Next"/>
              </a:defRPr>
            </a:defPPr>
          </a:lstStyle>
          <a:p xmlns:a="http://schemas.openxmlformats.org/drawingml/2006/main">
            <a:pPr algn="l">
              <a:lnSpc>
                <a:spcPct val="100000"/>
              </a:lnSpc>
              <a:buNone/>
              <a:defRPr sz="3600" b="1" i="0">
                <a:solidFill>
                  <a:srgbClr val="FFB454"/>
                </a:solidFill>
                <a:latin typeface="Avenir Next"/>
                <a:ea typeface="Avenir Next"/>
                <a:cs typeface="Avenir Next"/>
              </a:defRPr>
            </a:pPr>
            <a:r>
              <a:rPr sz="3600" b="1" i="0">
                <a:solidFill>
                  <a:srgbClr val="FFB454"/>
                </a:solidFill>
                <a:latin typeface="Avenir Next"/>
                <a:ea typeface="Avenir Next"/>
                <a:cs typeface="Avenir Next"/>
              </a:rPr>
              <a:t>2</a:t>
            </a:r>
          </a:p>
        </p:txBody>
      </p:sp>
      <p:sp>
        <p:nvSpPr>
          <p:cNvPr id="8" name="">
            <a:extLst xmlns:a="http://schemas.openxmlformats.org/drawingml/2006/main">
              <a:ext uri="{FF2B5EF4-FFF2-40B4-BE49-F238E27FC236}">
                <a16:creationId xmlns:a16="http://schemas.microsoft.com/office/drawing/2014/main" id="{F9553758-A82F-4A48-B268-F06509893FBF}"/>
              </a:ext>
            </a:extLst>
          </p:cNvPr>
          <p:cNvSpPr>
            <a:spLocks xmlns:a="http://schemas.openxmlformats.org/drawingml/2006/main" noGrp="1"/>
          </p:cNvSpPr>
          <p:nvPr/>
        </p:nvSpPr>
        <p:spPr>
          <a:xfrm xmlns:a="http://schemas.openxmlformats.org/drawingml/2006/main">
            <a:off x="1714500" y="31051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i="0">
                <a:solidFill>
                  <a:srgbClr val="F4F1E8"/>
                </a:solidFill>
                <a:latin typeface="Avenir Next"/>
                <a:ea typeface="Avenir Next"/>
                <a:cs typeface="Avenir Next"/>
              </a:defRPr>
            </a:defPPr>
          </a:lstStyle>
          <a:p xmlns:a="http://schemas.openxmlformats.org/drawingml/2006/main">
            <a:pPr algn="l">
              <a:lnSpc>
                <a:spcPct val="100000"/>
              </a:lnSpc>
              <a:buNone/>
              <a:defRPr sz="2250" b="1" i="0">
                <a:solidFill>
                  <a:srgbClr val="F4F1E8"/>
                </a:solidFill>
                <a:latin typeface="Avenir Next"/>
                <a:ea typeface="Avenir Next"/>
                <a:cs typeface="Avenir Next"/>
              </a:defRPr>
            </a:pPr>
            <a:r>
              <a:rPr sz="2250" b="1" i="0">
                <a:solidFill>
                  <a:srgbClr val="F4F1E8"/>
                </a:solidFill>
                <a:latin typeface="Avenir Next"/>
                <a:ea typeface="Avenir Next"/>
                <a:cs typeface="Avenir Next"/>
              </a:rPr>
              <a:t>Choose the right tool</a:t>
            </a:r>
          </a:p>
        </p:txBody>
      </p:sp>
      <p:sp>
        <p:nvSpPr>
          <p:cNvPr id="9" name="">
            <a:extLst xmlns:a="http://schemas.openxmlformats.org/drawingml/2006/main">
              <a:ext uri="{FF2B5EF4-FFF2-40B4-BE49-F238E27FC236}">
                <a16:creationId xmlns:a16="http://schemas.microsoft.com/office/drawing/2014/main" id="{67537B3C-6008-4987-8182-5CCA4D00D041}"/>
              </a:ext>
            </a:extLst>
          </p:cNvPr>
          <p:cNvSpPr>
            <a:spLocks xmlns:a="http://schemas.openxmlformats.org/drawingml/2006/main" noGrp="1"/>
          </p:cNvSpPr>
          <p:nvPr/>
        </p:nvSpPr>
        <p:spPr>
          <a:xfrm xmlns:a="http://schemas.openxmlformats.org/drawingml/2006/main">
            <a:off x="6191250" y="3133725"/>
            <a:ext cx="4857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A8BAC8"/>
                </a:solidFill>
                <a:latin typeface="Avenir Next"/>
                <a:ea typeface="Avenir Next"/>
                <a:cs typeface="Avenir Next"/>
              </a:defRPr>
            </a:defPPr>
          </a:lstStyle>
          <a:p xmlns:a="http://schemas.openxmlformats.org/drawingml/2006/main">
            <a:pPr algn="l">
              <a:lnSpc>
                <a:spcPct val="100000"/>
              </a:lnSpc>
              <a:buNone/>
              <a:defRPr sz="1725" b="0" i="0">
                <a:solidFill>
                  <a:srgbClr val="A8BAC8"/>
                </a:solidFill>
                <a:latin typeface="Avenir Next"/>
                <a:ea typeface="Avenir Next"/>
                <a:cs typeface="Avenir Next"/>
              </a:defRPr>
            </a:pPr>
            <a:r>
              <a:rPr sz="1725" b="0" i="0">
                <a:solidFill>
                  <a:srgbClr val="A8BAC8"/>
                </a:solidFill>
                <a:latin typeface="Avenir Next"/>
                <a:ea typeface="Avenir Next"/>
                <a:cs typeface="Avenir Next"/>
              </a:rPr>
              <a:t>Problem structure matters more than popularity.</a:t>
            </a:r>
          </a:p>
        </p:txBody>
      </p:sp>
      <p:sp>
        <p:nvSpPr>
          <p:cNvPr id="10" name="">
            <a:extLst xmlns:a="http://schemas.openxmlformats.org/drawingml/2006/main">
              <a:ext uri="{FF2B5EF4-FFF2-40B4-BE49-F238E27FC236}">
                <a16:creationId xmlns:a16="http://schemas.microsoft.com/office/drawing/2014/main" id="{C3FEC44A-AAF4-4961-923B-EDB8CB4B6D1F}"/>
              </a:ext>
            </a:extLst>
          </p:cNvPr>
          <p:cNvSpPr>
            <a:spLocks xmlns:a="http://schemas.openxmlformats.org/drawingml/2006/main" noGrp="1"/>
          </p:cNvSpPr>
          <p:nvPr/>
        </p:nvSpPr>
        <p:spPr>
          <a:xfrm xmlns:a="http://schemas.openxmlformats.org/drawingml/2006/main">
            <a:off x="1714500" y="3943350"/>
            <a:ext cx="933450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F58359B-7F49-448B-A7D7-89693F7F9AAE}"/>
              </a:ext>
            </a:extLst>
          </p:cNvPr>
          <p:cNvSpPr>
            <a:spLocks xmlns:a="http://schemas.openxmlformats.org/drawingml/2006/main" noGrp="1"/>
          </p:cNvSpPr>
          <p:nvPr/>
        </p:nvSpPr>
        <p:spPr>
          <a:xfrm xmlns:a="http://schemas.openxmlformats.org/drawingml/2006/main">
            <a:off x="819150" y="4267200"/>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i="0">
                <a:solidFill>
                  <a:srgbClr val="55D6D2"/>
                </a:solidFill>
                <a:latin typeface="Avenir Next"/>
                <a:ea typeface="Avenir Next"/>
                <a:cs typeface="Avenir Next"/>
              </a:defRPr>
            </a:defPPr>
          </a:lstStyle>
          <a:p xmlns:a="http://schemas.openxmlformats.org/drawingml/2006/main">
            <a:pPr algn="l">
              <a:lnSpc>
                <a:spcPct val="100000"/>
              </a:lnSpc>
              <a:buNone/>
              <a:defRPr sz="3600" b="1" i="0">
                <a:solidFill>
                  <a:srgbClr val="55D6D2"/>
                </a:solidFill>
                <a:latin typeface="Avenir Next"/>
                <a:ea typeface="Avenir Next"/>
                <a:cs typeface="Avenir Next"/>
              </a:defRPr>
            </a:pPr>
            <a:r>
              <a:rPr sz="3600" b="1" i="0">
                <a:solidFill>
                  <a:srgbClr val="55D6D2"/>
                </a:solidFill>
                <a:latin typeface="Avenir Next"/>
                <a:ea typeface="Avenir Next"/>
                <a:cs typeface="Avenir Next"/>
              </a:rPr>
              <a:t>3</a:t>
            </a:r>
          </a:p>
        </p:txBody>
      </p:sp>
      <p:sp>
        <p:nvSpPr>
          <p:cNvPr id="12" name="">
            <a:extLst xmlns:a="http://schemas.openxmlformats.org/drawingml/2006/main">
              <a:ext uri="{FF2B5EF4-FFF2-40B4-BE49-F238E27FC236}">
                <a16:creationId xmlns:a16="http://schemas.microsoft.com/office/drawing/2014/main" id="{DB4037C9-E257-408F-90BC-B3D94FEEFD5A}"/>
              </a:ext>
            </a:extLst>
          </p:cNvPr>
          <p:cNvSpPr>
            <a:spLocks xmlns:a="http://schemas.openxmlformats.org/drawingml/2006/main" noGrp="1"/>
          </p:cNvSpPr>
          <p:nvPr/>
        </p:nvSpPr>
        <p:spPr>
          <a:xfrm xmlns:a="http://schemas.openxmlformats.org/drawingml/2006/main">
            <a:off x="1714500" y="430530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i="0">
                <a:solidFill>
                  <a:srgbClr val="F4F1E8"/>
                </a:solidFill>
                <a:latin typeface="Avenir Next"/>
                <a:ea typeface="Avenir Next"/>
                <a:cs typeface="Avenir Next"/>
              </a:defRPr>
            </a:defPPr>
          </a:lstStyle>
          <a:p xmlns:a="http://schemas.openxmlformats.org/drawingml/2006/main">
            <a:pPr algn="l">
              <a:lnSpc>
                <a:spcPct val="100000"/>
              </a:lnSpc>
              <a:buNone/>
              <a:defRPr sz="2250" b="1" i="0">
                <a:solidFill>
                  <a:srgbClr val="F4F1E8"/>
                </a:solidFill>
                <a:latin typeface="Avenir Next"/>
                <a:ea typeface="Avenir Next"/>
                <a:cs typeface="Avenir Next"/>
              </a:defRPr>
            </a:pPr>
            <a:r>
              <a:rPr sz="2250" b="1" i="0">
                <a:solidFill>
                  <a:srgbClr val="F4F1E8"/>
                </a:solidFill>
                <a:latin typeface="Avenir Next"/>
                <a:ea typeface="Avenir Next"/>
                <a:cs typeface="Avenir Next"/>
              </a:rPr>
              <a:t>Keep the human in the loop</a:t>
            </a:r>
          </a:p>
        </p:txBody>
      </p:sp>
      <p:sp>
        <p:nvSpPr>
          <p:cNvPr id="13" name="">
            <a:extLst xmlns:a="http://schemas.openxmlformats.org/drawingml/2006/main">
              <a:ext uri="{FF2B5EF4-FFF2-40B4-BE49-F238E27FC236}">
                <a16:creationId xmlns:a16="http://schemas.microsoft.com/office/drawing/2014/main" id="{F11D55F2-27E7-4515-A850-CDC60202ABAC}"/>
              </a:ext>
            </a:extLst>
          </p:cNvPr>
          <p:cNvSpPr>
            <a:spLocks xmlns:a="http://schemas.openxmlformats.org/drawingml/2006/main" noGrp="1"/>
          </p:cNvSpPr>
          <p:nvPr/>
        </p:nvSpPr>
        <p:spPr>
          <a:xfrm xmlns:a="http://schemas.openxmlformats.org/drawingml/2006/main">
            <a:off x="6191250" y="4333875"/>
            <a:ext cx="4857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A8BAC8"/>
                </a:solidFill>
                <a:latin typeface="Avenir Next"/>
                <a:ea typeface="Avenir Next"/>
                <a:cs typeface="Avenir Next"/>
              </a:defRPr>
            </a:defPPr>
          </a:lstStyle>
          <a:p xmlns:a="http://schemas.openxmlformats.org/drawingml/2006/main">
            <a:pPr algn="l">
              <a:lnSpc>
                <a:spcPct val="100000"/>
              </a:lnSpc>
              <a:buNone/>
              <a:defRPr sz="1725" b="0" i="0">
                <a:solidFill>
                  <a:srgbClr val="A8BAC8"/>
                </a:solidFill>
                <a:latin typeface="Avenir Next"/>
                <a:ea typeface="Avenir Next"/>
                <a:cs typeface="Avenir Next"/>
              </a:defRPr>
            </a:pPr>
            <a:r>
              <a:rPr sz="1725" b="0" i="0">
                <a:solidFill>
                  <a:srgbClr val="A8BAC8"/>
                </a:solidFill>
                <a:latin typeface="Avenir Next"/>
                <a:ea typeface="Avenir Next"/>
                <a:cs typeface="Avenir Next"/>
              </a:rPr>
              <a:t>People judge what the metric cannot express.</a:t>
            </a:r>
          </a:p>
        </p:txBody>
      </p:sp>
      <p:sp>
        <p:nvSpPr>
          <p:cNvPr id="14" name="">
            <a:extLst xmlns:a="http://schemas.openxmlformats.org/drawingml/2006/main">
              <a:ext uri="{FF2B5EF4-FFF2-40B4-BE49-F238E27FC236}">
                <a16:creationId xmlns:a16="http://schemas.microsoft.com/office/drawing/2014/main" id="{D317EFE4-BF5C-4128-9979-54D317E9536B}"/>
              </a:ext>
            </a:extLst>
          </p:cNvPr>
          <p:cNvSpPr>
            <a:spLocks xmlns:a="http://schemas.openxmlformats.org/drawingml/2006/main" noGrp="1"/>
          </p:cNvSpPr>
          <p:nvPr/>
        </p:nvSpPr>
        <p:spPr>
          <a:xfrm xmlns:a="http://schemas.openxmlformats.org/drawingml/2006/main">
            <a:off x="819150" y="5676900"/>
            <a:ext cx="1038225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DFA01C9-6EA9-42EF-ABDD-074C7D9078AC}"/>
              </a:ext>
            </a:extLst>
          </p:cNvPr>
          <p:cNvSpPr>
            <a:spLocks xmlns:a="http://schemas.openxmlformats.org/drawingml/2006/main" noGrp="1"/>
          </p:cNvSpPr>
          <p:nvPr/>
        </p:nvSpPr>
        <p:spPr>
          <a:xfrm xmlns:a="http://schemas.openxmlformats.org/drawingml/2006/main">
            <a:off x="819150" y="59436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i="0">
                <a:solidFill>
                  <a:srgbClr val="55D6D2"/>
                </a:solidFill>
                <a:latin typeface="Avenir Next"/>
                <a:ea typeface="Avenir Next"/>
                <a:cs typeface="Avenir Next"/>
              </a:defRPr>
            </a:defPPr>
          </a:lstStyle>
          <a:p xmlns:a="http://schemas.openxmlformats.org/drawingml/2006/main">
            <a:pPr algn="l">
              <a:lnSpc>
                <a:spcPct val="100000"/>
              </a:lnSpc>
              <a:buNone/>
              <a:defRPr sz="1275" b="1" i="0">
                <a:solidFill>
                  <a:srgbClr val="55D6D2"/>
                </a:solidFill>
                <a:latin typeface="Avenir Next"/>
                <a:ea typeface="Avenir Next"/>
                <a:cs typeface="Avenir Next"/>
              </a:defRPr>
            </a:pPr>
            <a:r>
              <a:rPr sz="1275" b="1" i="0">
                <a:solidFill>
                  <a:srgbClr val="55D6D2"/>
                </a:solidFill>
                <a:latin typeface="Avenir Next"/>
                <a:ea typeface="Avenir Next"/>
                <a:cs typeface="Avenir Next"/>
              </a:rPr>
              <a:t>Further reading</a:t>
            </a:r>
          </a:p>
        </p:txBody>
      </p:sp>
      <p:sp>
        <p:nvSpPr>
          <p:cNvPr id="16" name="">
            <a:extLst xmlns:a="http://schemas.openxmlformats.org/drawingml/2006/main">
              <a:ext uri="{FF2B5EF4-FFF2-40B4-BE49-F238E27FC236}">
                <a16:creationId xmlns:a16="http://schemas.microsoft.com/office/drawing/2014/main" id="{19F16382-6604-46A5-947E-B174E391896E}"/>
              </a:ext>
            </a:extLst>
          </p:cNvPr>
          <p:cNvSpPr>
            <a:spLocks xmlns:a="http://schemas.openxmlformats.org/drawingml/2006/main" noGrp="1"/>
          </p:cNvSpPr>
          <p:nvPr/>
        </p:nvSpPr>
        <p:spPr>
          <a:xfrm xmlns:a="http://schemas.openxmlformats.org/drawingml/2006/main">
            <a:off x="2609850" y="5924550"/>
            <a:ext cx="762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i="0">
                <a:solidFill>
                  <a:srgbClr val="A8BAC8"/>
                </a:solidFill>
                <a:latin typeface="Avenir Next"/>
                <a:ea typeface="Avenir Next"/>
                <a:cs typeface="Avenir Next"/>
              </a:defRPr>
            </a:defPPr>
          </a:lstStyle>
          <a:p xmlns:a="http://schemas.openxmlformats.org/drawingml/2006/main">
            <a:pPr algn="l">
              <a:lnSpc>
                <a:spcPct val="100000"/>
              </a:lnSpc>
              <a:buNone/>
              <a:defRPr sz="1350" b="0" i="0">
                <a:solidFill>
                  <a:srgbClr val="A8BAC8"/>
                </a:solidFill>
                <a:latin typeface="Avenir Next"/>
                <a:ea typeface="Avenir Next"/>
                <a:cs typeface="Avenir Next"/>
              </a:defRPr>
            </a:pPr>
            <a:r>
              <a:rPr sz="1350" b="0" i="0">
                <a:solidFill>
                  <a:srgbClr val="A8BAC8"/>
                </a:solidFill>
                <a:latin typeface="Avenir Next"/>
                <a:ea typeface="Avenir Next"/>
                <a:cs typeface="Avenir Next"/>
              </a:rPr>
              <a:t>Eiben &amp; Smith · Mark Harman · Chris Simons</a:t>
            </a:r>
          </a:p>
        </p:txBody>
      </p:sp>
    </p:spTree>
    <p:extLst>
      <p:ext uri="{BB962C8B-B14F-4D97-AF65-F5344CB8AC3E}">
        <p14:creationId xmlns:p14="http://schemas.microsoft.com/office/powerpoint/2010/main" val="425613276"/>
      </p:ext>
    </p:extLst>
  </p:cSld>
</p:sld>
</file>

<file path=ppt/slides/slide21.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52C6FB-B695-4227-B735-0B5674DDE48D}"/>
              </a:ext>
            </a:extLst>
          </p:cNvPr>
          <p:cNvSpPr>
            <a:spLocks xmlns:a="http://schemas.openxmlformats.org/drawingml/2006/main" noGrp="1"/>
          </p:cNvSpPr>
          <p:nvPr/>
        </p:nvSpPr>
        <p:spPr>
          <a:xfrm xmlns:a="http://schemas.openxmlformats.org/drawingml/2006/main">
            <a:off x="723900" y="8953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i="0">
                <a:solidFill>
                  <a:srgbClr val="55D6D2"/>
                </a:solidFill>
                <a:latin typeface="Avenir Next"/>
                <a:ea typeface="Avenir Next"/>
                <a:cs typeface="Avenir Next"/>
              </a:defRPr>
            </a:defPPr>
          </a:lstStyle>
          <a:p xmlns:a="http://schemas.openxmlformats.org/drawingml/2006/main">
            <a:pPr algn="l">
              <a:lnSpc>
                <a:spcPct val="100000"/>
              </a:lnSpc>
              <a:buNone/>
              <a:defRPr sz="1575" b="1" i="0">
                <a:solidFill>
                  <a:srgbClr val="55D6D2"/>
                </a:solidFill>
                <a:latin typeface="Avenir Next"/>
                <a:ea typeface="Avenir Next"/>
                <a:cs typeface="Avenir Next"/>
              </a:defRPr>
            </a:pPr>
            <a:r>
              <a:rPr sz="1575" b="1" i="0">
                <a:solidFill>
                  <a:srgbClr val="55D6D2"/>
                </a:solidFill>
                <a:latin typeface="Avenir Next"/>
                <a:ea typeface="Avenir Next"/>
                <a:cs typeface="Avenir Next"/>
              </a:rPr>
              <a:t>QUESTIONS AND DISCUSSION</a:t>
            </a:r>
          </a:p>
        </p:txBody>
      </p:sp>
      <p:sp>
        <p:nvSpPr>
          <p:cNvPr id="2" name="">
            <a:extLst xmlns:a="http://schemas.openxmlformats.org/drawingml/2006/main">
              <a:ext uri="{FF2B5EF4-FFF2-40B4-BE49-F238E27FC236}">
                <a16:creationId xmlns:a16="http://schemas.microsoft.com/office/drawing/2014/main" id="{F5D01E4A-B871-4D1D-948E-2749C4A6E570}"/>
              </a:ext>
            </a:extLst>
          </p:cNvPr>
          <p:cNvSpPr>
            <a:spLocks xmlns:a="http://schemas.openxmlformats.org/drawingml/2006/main" noGrp="1"/>
          </p:cNvSpPr>
          <p:nvPr/>
        </p:nvSpPr>
        <p:spPr>
          <a:xfrm xmlns:a="http://schemas.openxmlformats.org/drawingml/2006/main">
            <a:off x="723900" y="1619250"/>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i="0">
                <a:solidFill>
                  <a:srgbClr val="F4F1E8"/>
                </a:solidFill>
                <a:latin typeface="Avenir Next"/>
                <a:ea typeface="Avenir Next"/>
                <a:cs typeface="Avenir Next"/>
              </a:defRPr>
            </a:defPPr>
          </a:lstStyle>
          <a:p xmlns:a="http://schemas.openxmlformats.org/drawingml/2006/main">
            <a:pPr algn="l">
              <a:lnSpc>
                <a:spcPct val="94000"/>
              </a:lnSpc>
              <a:buNone/>
              <a:defRPr sz="4050" b="1" i="0">
                <a:solidFill>
                  <a:srgbClr val="F4F1E8"/>
                </a:solidFill>
                <a:latin typeface="Avenir Next"/>
                <a:ea typeface="Avenir Next"/>
                <a:cs typeface="Avenir Next"/>
              </a:defRPr>
            </a:pPr>
            <a:r>
              <a:rPr sz="4050" b="1" i="0">
                <a:solidFill>
                  <a:srgbClr val="F4F1E8"/>
                </a:solidFill>
                <a:latin typeface="Avenir Next"/>
                <a:ea typeface="Avenir Next"/>
                <a:cs typeface="Avenir Next"/>
              </a:rPr>
              <a:t>Where could AI expand</a:t>
            </a:r>
          </a:p>
          <a:p xmlns:a="http://schemas.openxmlformats.org/drawingml/2006/main">
            <a:pPr algn="l">
              <a:lnSpc>
                <a:spcPct val="94000"/>
              </a:lnSpc>
              <a:buNone/>
              <a:defRPr sz="4050" b="1" i="0">
                <a:solidFill>
                  <a:srgbClr val="F4F1E8"/>
                </a:solidFill>
                <a:latin typeface="Avenir Next"/>
                <a:ea typeface="Avenir Next"/>
                <a:cs typeface="Avenir Next"/>
              </a:defRPr>
            </a:pPr>
            <a:r>
              <a:rPr sz="4050" b="1" i="0">
                <a:solidFill>
                  <a:srgbClr val="F4F1E8"/>
                </a:solidFill>
                <a:latin typeface="Avenir Next"/>
                <a:ea typeface="Avenir Next"/>
                <a:cs typeface="Avenir Next"/>
              </a:rPr>
              <a:t>human capability?</a:t>
            </a:r>
          </a:p>
        </p:txBody>
      </p:sp>
      <p:sp>
        <p:nvSpPr>
          <p:cNvPr id="3" name="">
            <a:extLst xmlns:a="http://schemas.openxmlformats.org/drawingml/2006/main">
              <a:ext uri="{FF2B5EF4-FFF2-40B4-BE49-F238E27FC236}">
                <a16:creationId xmlns:a16="http://schemas.microsoft.com/office/drawing/2014/main" id="{53C29D0D-B01C-4629-AD3B-558F7A58ECC5}"/>
              </a:ext>
            </a:extLst>
          </p:cNvPr>
          <p:cNvSpPr>
            <a:spLocks xmlns:a="http://schemas.openxmlformats.org/drawingml/2006/main" noGrp="1"/>
          </p:cNvSpPr>
          <p:nvPr/>
        </p:nvSpPr>
        <p:spPr>
          <a:xfrm xmlns:a="http://schemas.openxmlformats.org/drawingml/2006/main">
            <a:off x="723900" y="3390900"/>
            <a:ext cx="6381750" cy="19050"/>
          </a:xfrm>
          <a:prstGeom xmlns:a="http://schemas.openxmlformats.org/drawingml/2006/main" prst="rect">
            <a:avLst/>
          </a:prstGeom>
          <a:solidFill xmlns:a="http://schemas.openxmlformats.org/drawingml/2006/main">
            <a:srgbClr val="24405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3B8C064-17A3-46B3-B605-859B5CFE83CD}"/>
              </a:ext>
            </a:extLst>
          </p:cNvPr>
          <p:cNvSpPr>
            <a:spLocks xmlns:a="http://schemas.openxmlformats.org/drawingml/2006/main" noGrp="1"/>
          </p:cNvSpPr>
          <p:nvPr/>
        </p:nvSpPr>
        <p:spPr>
          <a:xfrm xmlns:a="http://schemas.openxmlformats.org/drawingml/2006/main">
            <a:off x="723900" y="3771900"/>
            <a:ext cx="6477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A8BAC8"/>
                </a:solidFill>
                <a:latin typeface="Avenir Next"/>
                <a:ea typeface="Avenir Next"/>
                <a:cs typeface="Avenir Next"/>
              </a:defRPr>
            </a:defPPr>
          </a:lstStyle>
          <a:p xmlns:a="http://schemas.openxmlformats.org/drawingml/2006/main">
            <a:pPr algn="l">
              <a:lnSpc>
                <a:spcPct val="105000"/>
              </a:lnSpc>
              <a:buNone/>
              <a:defRPr sz="2100" b="0" i="0">
                <a:solidFill>
                  <a:srgbClr val="A8BAC8"/>
                </a:solidFill>
                <a:latin typeface="Avenir Next"/>
                <a:ea typeface="Avenir Next"/>
                <a:cs typeface="Avenir Next"/>
              </a:defRPr>
            </a:pPr>
            <a:r>
              <a:rPr sz="2100" b="0" i="0">
                <a:solidFill>
                  <a:srgbClr val="A8BAC8"/>
                </a:solidFill>
                <a:latin typeface="Avenir Next"/>
                <a:ea typeface="Avenir Next"/>
                <a:cs typeface="Avenir Next"/>
              </a:rPr>
              <a:t>Think of one problem in your university, company, or community that deserves a better answer.</a:t>
            </a:r>
          </a:p>
        </p:txBody>
      </p:sp>
      <p:sp>
        <p:nvSpPr>
          <p:cNvPr id="5" name="">
            <a:extLst xmlns:a="http://schemas.openxmlformats.org/drawingml/2006/main">
              <a:ext uri="{FF2B5EF4-FFF2-40B4-BE49-F238E27FC236}">
                <a16:creationId xmlns:a16="http://schemas.microsoft.com/office/drawing/2014/main" id="{C2DE7326-C527-4651-A9DF-A055BCFABCBF}"/>
              </a:ext>
            </a:extLst>
          </p:cNvPr>
          <p:cNvSpPr>
            <a:spLocks xmlns:a="http://schemas.openxmlformats.org/drawingml/2006/main" noGrp="1"/>
          </p:cNvSpPr>
          <p:nvPr/>
        </p:nvSpPr>
        <p:spPr>
          <a:xfrm xmlns:a="http://schemas.openxmlformats.org/drawingml/2006/main">
            <a:off x="8172450" y="1085850"/>
            <a:ext cx="266700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0" b="1" i="0">
                <a:solidFill>
                  <a:srgbClr val="5B8CFF"/>
                </a:solidFill>
                <a:latin typeface="Avenir Next"/>
                <a:ea typeface="Avenir Next"/>
                <a:cs typeface="Avenir Next"/>
              </a:defRPr>
            </a:defPPr>
          </a:lstStyle>
          <a:p xmlns:a="http://schemas.openxmlformats.org/drawingml/2006/main">
            <a:pPr algn="ctr">
              <a:lnSpc>
                <a:spcPct val="100000"/>
              </a:lnSpc>
              <a:buNone/>
              <a:defRPr sz="19500" b="1" i="0">
                <a:solidFill>
                  <a:srgbClr val="5B8CFF"/>
                </a:solidFill>
                <a:latin typeface="Avenir Next"/>
                <a:ea typeface="Avenir Next"/>
                <a:cs typeface="Avenir Next"/>
              </a:defRPr>
            </a:pPr>
            <a:r>
              <a:rPr sz="19500" b="1" i="0">
                <a:solidFill>
                  <a:srgbClr val="5B8CFF"/>
                </a:solidFill>
                <a:latin typeface="Avenir Next"/>
                <a:ea typeface="Avenir Next"/>
                <a:cs typeface="Avenir Next"/>
              </a:rPr>
              <a:t>?</a:t>
            </a:r>
          </a:p>
        </p:txBody>
      </p:sp>
      <p:sp>
        <p:nvSpPr>
          <p:cNvPr id="6" name="">
            <a:extLst xmlns:a="http://schemas.openxmlformats.org/drawingml/2006/main">
              <a:ext uri="{FF2B5EF4-FFF2-40B4-BE49-F238E27FC236}">
                <a16:creationId xmlns:a16="http://schemas.microsoft.com/office/drawing/2014/main" id="{51448626-713B-4142-94A8-DF0F5DAA7865}"/>
              </a:ext>
            </a:extLst>
          </p:cNvPr>
          <p:cNvSpPr>
            <a:spLocks xmlns:a="http://schemas.openxmlformats.org/drawingml/2006/main" noGrp="1"/>
          </p:cNvSpPr>
          <p:nvPr/>
        </p:nvSpPr>
        <p:spPr>
          <a:xfrm xmlns:a="http://schemas.openxmlformats.org/drawingml/2006/main">
            <a:off x="742950" y="579120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i="0">
                <a:solidFill>
                  <a:srgbClr val="FFB454"/>
                </a:solidFill>
                <a:latin typeface="Avenir Next"/>
                <a:ea typeface="Avenir Next"/>
                <a:cs typeface="Avenir Next"/>
              </a:defRPr>
            </a:defPPr>
          </a:lstStyle>
          <a:p xmlns:a="http://schemas.openxmlformats.org/drawingml/2006/main">
            <a:pPr algn="l">
              <a:lnSpc>
                <a:spcPct val="100000"/>
              </a:lnSpc>
              <a:buNone/>
              <a:defRPr sz="1800" b="1" i="0">
                <a:solidFill>
                  <a:srgbClr val="FFB454"/>
                </a:solidFill>
                <a:latin typeface="Avenir Next"/>
                <a:ea typeface="Avenir Next"/>
                <a:cs typeface="Avenir Next"/>
              </a:defRPr>
            </a:pPr>
            <a:r>
              <a:rPr sz="1800" b="1" i="0">
                <a:solidFill>
                  <a:srgbClr val="FFB454"/>
                </a:solidFill>
                <a:latin typeface="Avenir Next"/>
                <a:ea typeface="Avenir Next"/>
                <a:cs typeface="Avenir Next"/>
              </a:rPr>
              <a:t>Thank you</a:t>
            </a:r>
          </a:p>
        </p:txBody>
      </p:sp>
      <p:sp>
        <p:nvSpPr>
          <p:cNvPr id="7" name="">
            <a:extLst xmlns:a="http://schemas.openxmlformats.org/drawingml/2006/main">
              <a:ext uri="{FF2B5EF4-FFF2-40B4-BE49-F238E27FC236}">
                <a16:creationId xmlns:a16="http://schemas.microsoft.com/office/drawing/2014/main" id="{FDAC375F-B70E-42B0-9165-D453D454283C}"/>
              </a:ext>
            </a:extLst>
          </p:cNvPr>
          <p:cNvSpPr>
            <a:spLocks xmlns:a="http://schemas.openxmlformats.org/drawingml/2006/main" noGrp="1"/>
          </p:cNvSpPr>
          <p:nvPr/>
        </p:nvSpPr>
        <p:spPr>
          <a:xfrm xmlns:a="http://schemas.openxmlformats.org/drawingml/2006/main">
            <a:off x="7239000" y="5810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i="0">
                <a:solidFill>
                  <a:srgbClr val="F4F1E8"/>
                </a:solidFill>
                <a:latin typeface="Avenir Next"/>
                <a:ea typeface="Avenir Next"/>
                <a:cs typeface="Avenir Next"/>
              </a:defRPr>
            </a:defPPr>
          </a:lstStyle>
          <a:p xmlns:a="http://schemas.openxmlformats.org/drawingml/2006/main">
            <a:pPr algn="r">
              <a:lnSpc>
                <a:spcPct val="100000"/>
              </a:lnSpc>
              <a:buNone/>
              <a:defRPr sz="1650" b="1" i="0">
                <a:solidFill>
                  <a:srgbClr val="F4F1E8"/>
                </a:solidFill>
                <a:latin typeface="Avenir Next"/>
                <a:ea typeface="Avenir Next"/>
                <a:cs typeface="Avenir Next"/>
              </a:defRPr>
            </a:pPr>
            <a:r>
              <a:rPr sz="1650" b="1" i="0">
                <a:solidFill>
                  <a:srgbClr val="F4F1E8"/>
                </a:solidFill>
                <a:latin typeface="Avenir Next"/>
                <a:ea typeface="Avenir Next"/>
                <a:cs typeface="Avenir Next"/>
              </a:rPr>
              <a:t>Dr. Hamzeh Aljawawdeh</a:t>
            </a:r>
          </a:p>
        </p:txBody>
      </p:sp>
    </p:spTree>
    <p:extLst>
      <p:ext uri="{BB962C8B-B14F-4D97-AF65-F5344CB8AC3E}">
        <p14:creationId xmlns:p14="http://schemas.microsoft.com/office/powerpoint/2010/main" val="1987055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2026-10-16T13:59:07.5680000Z</dcterms:created>
  <dcterms:modified xsi:type="dcterms:W3CDTF">2026-10-16T13:59:07.5680000Z</dcterms:modified>
</coreProperties>
</file>